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type="wide"/>
  <p:notesSz cx="6858000" cy="9144000"/>
  <p:defaultTextStyle>
    <a:defPPr>
      <a:defRPr lang="en-US"/>
    </a:defPPr>
    <a:lvl1pPr marL="0" algn="l" defTabSz="914400">
      <a:defRPr sz="1800" kern="1200">
        <a:solidFill>
          <a:schemeClr val="tx1"/>
        </a:solidFill>
        <a:latin typeface="+mn-lt"/>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0" y="0"/>
      </p:cViewPr>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ableStyles" Target="tableStyles.xml"/><Relationship Id="rId20" Type="http://schemas.openxmlformats.org/officeDocument/2006/relationships/theme" Target="theme/theme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No voiceover. Static title slide with minimal project title and ZHAW PM4 label.</a:t>
            </a:r>
            <a:endParaRPr lang="en-US" sz="1400"/>
          </a:p>
        </p:txBody>
      </p:sp>
      <p:sp>
        <p:nvSpPr>
          <p:cNvPr id="4" name="Slide Number Placeholder"/>
          <p:cNvSpPr>
            <a:spLocks noGrp="1"/>
          </p:cNvSpPr>
          <p:nvPr>
            <p:ph type="sldNum" sz="quarter" idx="5"/>
          </p:nvPr>
        </p:nvSpPr>
        <p:spPr/>
        <p:txBody>
          <a:bodyPr/>
          <a:lstStyle/>
          <a:p>
            <a:r>
              <a:rPr lang="en-US" sz="1000"/>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Heart rate tells a lot. But measuring it often still means contact: electrodes, straps, watches, or wearable sensors.</a:t>
            </a:r>
            <a:endParaRPr lang="en-US" sz="1400"/>
          </a:p>
        </p:txBody>
      </p:sp>
      <p:sp>
        <p:nvSpPr>
          <p:cNvPr id="4" name="Slide Number Placeholder"/>
          <p:cNvSpPr>
            <a:spLocks noGrp="1"/>
          </p:cNvSpPr>
          <p:nvPr>
            <p:ph type="sldNum" sz="quarter" idx="5"/>
          </p:nvPr>
        </p:nvSpPr>
        <p:spPr/>
        <p:txBody>
          <a:bodyPr/>
          <a:lstStyle/>
          <a:p>
            <a:r>
              <a:rPr lang="en-US" sz="1000"/>
              <a:t>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For sleep, long-term monitoring, or sensitive users, contact can become the limitation. The ideal measurement is comfortable, continuous, and almost invisible.</a:t>
            </a:r>
            <a:endParaRPr lang="en-US" sz="1400"/>
          </a:p>
        </p:txBody>
      </p:sp>
      <p:sp>
        <p:nvSpPr>
          <p:cNvPr id="4" name="Slide Number Placeholder"/>
          <p:cNvSpPr>
            <a:spLocks noGrp="1"/>
          </p:cNvSpPr>
          <p:nvPr>
            <p:ph type="sldNum" sz="quarter" idx="5"/>
          </p:nvPr>
        </p:nvSpPr>
        <p:spPr/>
        <p:txBody>
          <a:bodyPr/>
          <a:lstStyle/>
          <a:p>
            <a:r>
              <a:rPr lang="en-US" sz="1000"/>
              <a:t>3</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This device detects heart-rate-related chest movement without touching the body. It processes the radar signal in real time on an STM32 microcontroller and shows the result directly on an integrated display.</a:t>
            </a:r>
            <a:endParaRPr lang="en-US" sz="1400"/>
          </a:p>
        </p:txBody>
      </p:sp>
      <p:sp>
        <p:nvSpPr>
          <p:cNvPr id="4" name="Slide Number Placeholder"/>
          <p:cNvSpPr>
            <a:spLocks noGrp="1"/>
          </p:cNvSpPr>
          <p:nvPr>
            <p:ph type="sldNum" sz="quarter" idx="5"/>
          </p:nvPr>
        </p:nvSpPr>
        <p:spPr/>
        <p:txBody>
          <a:bodyPr/>
          <a:lstStyle/>
          <a:p>
            <a:r>
              <a:rPr lang="en-US" sz="1000"/>
              <a:t>4</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The principle is Doppler sensing. A microwave radar module sends a signal toward the chest. Small movements caused by cardiac activity change the phase of the reflected signal, creating a measurable heartbeat pattern.</a:t>
            </a:r>
            <a:endParaRPr lang="en-US" sz="1400"/>
          </a:p>
        </p:txBody>
      </p:sp>
      <p:sp>
        <p:nvSpPr>
          <p:cNvPr id="4" name="Slide Number Placeholder"/>
          <p:cNvSpPr>
            <a:spLocks noGrp="1"/>
          </p:cNvSpPr>
          <p:nvPr>
            <p:ph type="sldNum" sz="quarter" idx="5"/>
          </p:nvPr>
        </p:nvSpPr>
        <p:spPr/>
        <p:txBody>
          <a:bodyPr/>
          <a:lstStyle/>
          <a:p>
            <a:r>
              <a:rPr lang="en-US" sz="1000"/>
              <a:t>5</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Inside the system, the K-LC5 radar module is connected to an analog front end and an STM32 Discovery board. The microcontroller acquires the I and Q radar channels, processes them, and drives the LCD touchscreen.</a:t>
            </a:r>
            <a:endParaRPr lang="en-US" sz="1400"/>
          </a:p>
        </p:txBody>
      </p:sp>
      <p:sp>
        <p:nvSpPr>
          <p:cNvPr id="4" name="Slide Number Placeholder"/>
          <p:cNvSpPr>
            <a:spLocks noGrp="1"/>
          </p:cNvSpPr>
          <p:nvPr>
            <p:ph type="sldNum" sz="quarter" idx="5"/>
          </p:nvPr>
        </p:nvSpPr>
        <p:spPr/>
        <p:txBody>
          <a:bodyPr/>
          <a:lstStyle/>
          <a:p>
            <a:r>
              <a:rPr lang="en-US" sz="1000"/>
              <a:t>6</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The complete processing chain runs directly on the embedded platform. No external PC is required during operation, while heart-rate data can also be logged to an SD card with the integrated OpenLog module for later analysis.</a:t>
            </a:r>
            <a:endParaRPr lang="en-US" sz="1400"/>
          </a:p>
        </p:txBody>
      </p:sp>
      <p:sp>
        <p:nvSpPr>
          <p:cNvPr id="4" name="Slide Number Placeholder"/>
          <p:cNvSpPr>
            <a:spLocks noGrp="1"/>
          </p:cNvSpPr>
          <p:nvPr>
            <p:ph type="sldNum" sz="quarter" idx="5"/>
          </p:nvPr>
        </p:nvSpPr>
        <p:spPr/>
        <p:txBody>
          <a:bodyPr/>
          <a:lstStyle/>
          <a:p>
            <a:r>
              <a:rPr lang="en-US" sz="1000"/>
              <a:t>7</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The radar signals are sampled at 100 hertz. Each analysis window contains 512 samples per channel, equal to 5.12 seconds of data, with updates every 2.56 seconds using 50 percent overlap.</a:t>
            </a:r>
            <a:endParaRPr lang="en-US" sz="1400"/>
          </a:p>
        </p:txBody>
      </p:sp>
      <p:sp>
        <p:nvSpPr>
          <p:cNvPr id="4" name="Slide Number Placeholder"/>
          <p:cNvSpPr>
            <a:spLocks noGrp="1"/>
          </p:cNvSpPr>
          <p:nvPr>
            <p:ph type="sldNum" sz="quarter" idx="5"/>
          </p:nvPr>
        </p:nvSpPr>
        <p:spPr/>
        <p:txBody>
          <a:bodyPr/>
          <a:lstStyle/>
          <a:p>
            <a:r>
              <a:rPr lang="en-US" sz="1000"/>
              <a:t>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From the sampled I and Q signals, the system computes the frequency spectrum and detects the dominant heart-rate peak. The interface also provides analysis tools such as selectable filter modes for testing and development.</a:t>
            </a:r>
            <a:endParaRPr lang="en-US" sz="1400"/>
          </a:p>
        </p:txBody>
      </p:sp>
      <p:sp>
        <p:nvSpPr>
          <p:cNvPr id="4" name="Slide Number Placeholder"/>
          <p:cNvSpPr>
            <a:spLocks noGrp="1"/>
          </p:cNvSpPr>
          <p:nvPr>
            <p:ph type="sldNum" sz="quarter" idx="5"/>
          </p:nvPr>
        </p:nvSpPr>
        <p:spPr/>
        <p:txBody>
          <a:bodyPr/>
          <a:lstStyle/>
          <a:p>
            <a:r>
              <a:rPr lang="en-US" sz="1000"/>
              <a:t>9</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The interface makes the signal processing visible: time signal, FFT spectrum, peak-frequency readout, ECG monitor page for reference comparison, and logged heart-rate data for offline evaluation.</a:t>
            </a:r>
            <a:endParaRPr lang="en-US" sz="1400"/>
          </a:p>
        </p:txBody>
      </p:sp>
      <p:sp>
        <p:nvSpPr>
          <p:cNvPr id="4" name="Slide Number Placeholder"/>
          <p:cNvSpPr>
            <a:spLocks noGrp="1"/>
          </p:cNvSpPr>
          <p:nvPr>
            <p:ph type="sldNum" sz="quarter" idx="5"/>
          </p:nvPr>
        </p:nvSpPr>
        <p:spPr/>
        <p:txBody>
          <a:bodyPr/>
          <a:lstStyle/>
          <a:p>
            <a:r>
              <a:rPr lang="en-US" sz="1000"/>
              <a:t>10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This allows the user to see both the final heart-rate estimate and the intermediate signal and spectrum, supporting debugging, validation, and further development.</a:t>
            </a:r>
            <a:endParaRPr lang="en-US" sz="1400"/>
          </a:p>
        </p:txBody>
      </p:sp>
      <p:sp>
        <p:nvSpPr>
          <p:cNvPr id="4" name="Slide Number Placeholder"/>
          <p:cNvSpPr>
            <a:spLocks noGrp="1"/>
          </p:cNvSpPr>
          <p:nvPr>
            <p:ph type="sldNum" sz="quarter" idx="5"/>
          </p:nvPr>
        </p:nvSpPr>
        <p:spPr/>
        <p:txBody>
          <a:bodyPr/>
          <a:lstStyle/>
          <a:p>
            <a:r>
              <a:rPr lang="en-US" sz="1000"/>
              <a:t>11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The device targets short-range operation up to about one meter. The displayed spectrum covers approximately plus or minus four hertz, with ECG comparison used for validation.</a:t>
            </a:r>
            <a:endParaRPr lang="en-US" sz="1400"/>
          </a:p>
        </p:txBody>
      </p:sp>
      <p:sp>
        <p:nvSpPr>
          <p:cNvPr id="4" name="Slide Number Placeholder"/>
          <p:cNvSpPr>
            <a:spLocks noGrp="1"/>
          </p:cNvSpPr>
          <p:nvPr>
            <p:ph type="sldNum" sz="quarter" idx="5"/>
          </p:nvPr>
        </p:nvSpPr>
        <p:spPr/>
        <p:txBody>
          <a:bodyPr/>
          <a:lstStyle/>
          <a:p>
            <a:r>
              <a:rPr lang="en-US" sz="1000"/>
              <a:t>12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The FFT bin spacing is approximately 0.195 hertz, or 11.7 beats per minute. However, parabolic peak interpolation refines the peak position, so the BPM output is not limited to raw FFT-bin steps. Practical accuracy still depends on signal quality, leakage, motion artifacts, and temporal stability.</a:t>
            </a:r>
            <a:endParaRPr lang="en-US" sz="1400"/>
          </a:p>
        </p:txBody>
      </p:sp>
      <p:sp>
        <p:nvSpPr>
          <p:cNvPr id="4" name="Slide Number Placeholder"/>
          <p:cNvSpPr>
            <a:spLocks noGrp="1"/>
          </p:cNvSpPr>
          <p:nvPr>
            <p:ph type="sldNum" sz="quarter" idx="5"/>
          </p:nvPr>
        </p:nvSpPr>
        <p:spPr/>
        <p:txBody>
          <a:bodyPr/>
          <a:lstStyle/>
          <a:p>
            <a:r>
              <a:rPr lang="en-US" sz="1000"/>
              <a:t>13</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p:txBody>
          <a:bodyPr/>
          <a:lstStyle/>
          <a:p>
            <a:pPr algn="l"/>
            <a:r>
              <a:rPr lang="en-US" sz="1400">
                <a:solidFill>
                  <a:srgbClr val="111827"/>
                </a:solidFill>
                <a:latin typeface="Aptos"/>
              </a:rPr>
              <a:t>Contactless sensing, real-time embedded processing, touchscreen visualization, ECG-supported validation, and SD-card logging come together in one compact platform for comfortable vital-sign monitoring.</a:t>
            </a:r>
            <a:endParaRPr lang="en-US" sz="1400"/>
          </a:p>
        </p:txBody>
      </p:sp>
      <p:sp>
        <p:nvSpPr>
          <p:cNvPr id="4" name="Slide Number Placeholder"/>
          <p:cNvSpPr>
            <a:spLocks noGrp="1"/>
          </p:cNvSpPr>
          <p:nvPr>
            <p:ph type="sldNum" sz="quarter" idx="5"/>
          </p:nvPr>
        </p:nvSpPr>
        <p:spPr/>
        <p:txBody>
          <a:bodyPr/>
          <a:lstStyle/>
          <a:p>
            <a:r>
              <a:rPr lang="en-US" sz="1000"/>
              <a:t>14</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xml"/><Relationship Id="rId2"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xml"/><Relationship Id="rId2"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4.xml"/><Relationship Id="rId2"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5.xml"/><Relationship Id="rId2" Type="http://schemas.openxmlformats.org/officeDocument/2006/relationships/image" Target="../media/image4.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0B1220">
              <a:alpha val="100000"/>
            </a:srgbClr>
          </a:solidFill>
          <a:ln>
            <a:noFill/>
          </a:ln>
        </p:spPr>
      </p:sp>
      <p:sp>
        <p:nvSpPr>
          <p:cNvPr id="3" name="Rectangle"/>
          <p:cNvSpPr/>
          <p:nvPr/>
        </p:nvSpPr>
        <p:spPr>
          <a:xfrm>
            <a:off x="502920" y="411480"/>
            <a:ext cx="1325880" cy="73152"/>
          </a:xfrm>
          <a:prstGeom prst="rect">
            <a:avLst/>
          </a:prstGeom>
          <a:solidFill>
            <a:srgbClr val="00A6D6">
              <a:alpha val="100000"/>
            </a:srgbClr>
          </a:solidFill>
          <a:ln>
            <a:noFill/>
          </a:ln>
        </p:spPr>
      </p:sp>
      <p:sp>
        <p:nvSpPr>
          <p:cNvPr id="4" name="Text"/>
          <p:cNvSpPr txBox="1"/>
          <p:nvPr/>
        </p:nvSpPr>
        <p:spPr>
          <a:xfrm>
            <a:off x="502920" y="1691640"/>
            <a:ext cx="8869680" cy="1325880"/>
          </a:xfrm>
          <a:prstGeom prst="rect">
            <a:avLst/>
          </a:prstGeom>
          <a:noFill/>
          <a:ln>
            <a:noFill/>
          </a:ln>
        </p:spPr>
        <p:txBody>
          <a:bodyPr wrap="square" lIns="0" rIns="0" tIns="0" bIns="0"/>
          <a:lstStyle/>
          <a:p>
            <a:pPr algn="l">
              <a:lnSpc>
                <a:spcPct val="105000"/>
              </a:lnSpc>
            </a:pPr>
            <a:r>
              <a:rPr lang="en-US" sz="3400" b="1" dirty="0">
                <a:solidFill>
                  <a:srgbClr val="FFFFFF"/>
                </a:solidFill>
                <a:latin typeface="Aptos"/>
                <a:ea typeface="Aptos"/>
                <a:cs typeface="Aptos"/>
              </a:rPr>
              <a:t>Contactless Radar-Based</a:t>
            </a:r>
            <a:endParaRPr lang="en-US" sz="3400">
              <a:solidFill>
                <a:srgbClr val="FFFFFF"/>
              </a:solidFill>
              <a:latin typeface="Aptos"/>
            </a:endParaRPr>
          </a:p>
          <a:p>
            <a:pPr algn="l">
              <a:lnSpc>
                <a:spcPct val="105000"/>
              </a:lnSpc>
            </a:pPr>
            <a:r>
              <a:rPr lang="en-US" sz="3400" b="1" dirty="0">
                <a:solidFill>
                  <a:srgbClr val="FFFFFF"/>
                </a:solidFill>
                <a:latin typeface="Aptos"/>
                <a:ea typeface="Aptos"/>
                <a:cs typeface="Aptos"/>
              </a:rPr>
              <a:t>Heart Rate Monitoring Device</a:t>
            </a:r>
            <a:endParaRPr lang="en-US" sz="3400">
              <a:solidFill>
                <a:srgbClr val="FFFFFF"/>
              </a:solidFill>
              <a:latin typeface="Aptos"/>
            </a:endParaRPr>
          </a:p>
        </p:txBody>
      </p:sp>
      <p:sp>
        <p:nvSpPr>
          <p:cNvPr id="5" name="Text"/>
          <p:cNvSpPr txBox="1"/>
          <p:nvPr/>
        </p:nvSpPr>
        <p:spPr>
          <a:xfrm>
            <a:off x="530352" y="3246120"/>
            <a:ext cx="4846320" cy="320040"/>
          </a:xfrm>
          <a:prstGeom prst="rect">
            <a:avLst/>
          </a:prstGeom>
          <a:noFill/>
          <a:ln>
            <a:noFill/>
          </a:ln>
        </p:spPr>
        <p:txBody>
          <a:bodyPr wrap="square" lIns="0" rIns="0" tIns="0" bIns="0"/>
          <a:lstStyle/>
          <a:p>
            <a:pPr algn="l">
              <a:lnSpc>
                <a:spcPct val="105000"/>
              </a:lnSpc>
            </a:pPr>
            <a:r>
              <a:rPr lang="en-US" sz="1800" dirty="0">
                <a:solidFill>
                  <a:srgbClr val="CBD5E1"/>
                </a:solidFill>
                <a:latin typeface="Aptos"/>
                <a:ea typeface="Aptos"/>
                <a:cs typeface="Aptos"/>
              </a:rPr>
              <a:t>ZHAW PM4 Electronics Project</a:t>
            </a:r>
            <a:endParaRPr lang="en-US" sz="1800">
              <a:solidFill>
                <a:srgbClr val="CBD5E1"/>
              </a:solidFill>
              <a:latin typeface="Aptos"/>
            </a:endParaRPr>
          </a:p>
        </p:txBody>
      </p:sp>
      <p:sp>
        <p:nvSpPr>
          <p:cNvPr id="6" name="Text"/>
          <p:cNvSpPr txBox="1"/>
          <p:nvPr/>
        </p:nvSpPr>
        <p:spPr>
          <a:xfrm>
            <a:off x="530352" y="6080760"/>
            <a:ext cx="5029200" cy="228600"/>
          </a:xfrm>
          <a:prstGeom prst="rect">
            <a:avLst/>
          </a:prstGeom>
          <a:noFill/>
          <a:ln>
            <a:noFill/>
          </a:ln>
        </p:spPr>
        <p:txBody>
          <a:bodyPr wrap="square" lIns="0" rIns="0" tIns="0" bIns="0"/>
          <a:lstStyle/>
          <a:p>
            <a:pPr algn="l">
              <a:lnSpc>
                <a:spcPct val="105000"/>
              </a:lnSpc>
            </a:pPr>
            <a:r>
              <a:rPr lang="en-US" sz="1000" dirty="0">
                <a:solidFill>
                  <a:srgbClr val="94A3B8"/>
                </a:solidFill>
                <a:latin typeface="Aptos"/>
                <a:ea typeface="Aptos"/>
                <a:cs typeface="Aptos"/>
              </a:rPr>
              <a:t>Thomas Perri | Bogdans Grebnevs</a:t>
            </a:r>
            <a:endParaRPr lang="en-US" sz="1000">
              <a:solidFill>
                <a:srgbClr val="94A3B8"/>
              </a:solidFill>
              <a:latin typeface="Aptos"/>
            </a:endParaRPr>
          </a:p>
        </p:txBody>
      </p:sp>
      <p:sp>
        <p:nvSpPr>
          <p:cNvPr id="7" name="Rectangle"/>
          <p:cNvSpPr/>
          <p:nvPr/>
        </p:nvSpPr>
        <p:spPr>
          <a:xfrm>
            <a:off x="8732520" y="1005840"/>
            <a:ext cx="2468880" cy="4526280"/>
          </a:xfrm>
          <a:prstGeom prst="rect">
            <a:avLst/>
          </a:prstGeom>
          <a:solidFill>
            <a:srgbClr val="111827">
              <a:alpha val="100000"/>
            </a:srgbClr>
          </a:solidFill>
          <a:ln w="19050">
            <a:solidFill>
              <a:srgbClr val="1F9ACF"/>
            </a:solidFill>
          </a:ln>
        </p:spPr>
      </p:sp>
      <p:cxnSp>
        <p:nvCxnSpPr>
          <p:cNvPr id="8" name="Line"/>
          <p:cNvCxnSpPr/>
          <p:nvPr/>
        </p:nvCxnSpPr>
        <p:spPr>
          <a:xfrm flipV="1">
            <a:off x="9006840" y="1344168"/>
            <a:ext cx="1920240" cy="164592"/>
          </a:xfrm>
          <a:prstGeom prst="line">
            <a:avLst/>
          </a:prstGeom>
          <a:ln w="9525" cap="round">
            <a:solidFill>
              <a:srgbClr val="00A6D6"/>
            </a:solidFill>
          </a:ln>
        </p:spPr>
      </p:cxnSp>
      <p:cxnSp>
        <p:nvCxnSpPr>
          <p:cNvPr id="9" name="Line"/>
          <p:cNvCxnSpPr/>
          <p:nvPr/>
        </p:nvCxnSpPr>
        <p:spPr>
          <a:xfrm>
            <a:off x="9006840" y="1929384"/>
            <a:ext cx="1920240" cy="164592"/>
          </a:xfrm>
          <a:prstGeom prst="line">
            <a:avLst/>
          </a:prstGeom>
          <a:ln w="9525" cap="round">
            <a:solidFill>
              <a:srgbClr val="00A6D6"/>
            </a:solidFill>
          </a:ln>
        </p:spPr>
      </p:cxnSp>
      <p:cxnSp>
        <p:nvCxnSpPr>
          <p:cNvPr id="10" name="Line"/>
          <p:cNvCxnSpPr/>
          <p:nvPr/>
        </p:nvCxnSpPr>
        <p:spPr>
          <a:xfrm flipV="1">
            <a:off x="9006840" y="2185416"/>
            <a:ext cx="1920240" cy="164592"/>
          </a:xfrm>
          <a:prstGeom prst="line">
            <a:avLst/>
          </a:prstGeom>
          <a:ln w="9525" cap="round">
            <a:solidFill>
              <a:srgbClr val="00A6D6"/>
            </a:solidFill>
          </a:ln>
        </p:spPr>
      </p:cxnSp>
      <p:cxnSp>
        <p:nvCxnSpPr>
          <p:cNvPr id="11" name="Line"/>
          <p:cNvCxnSpPr/>
          <p:nvPr/>
        </p:nvCxnSpPr>
        <p:spPr>
          <a:xfrm>
            <a:off x="9006840" y="2770632"/>
            <a:ext cx="1920240" cy="164592"/>
          </a:xfrm>
          <a:prstGeom prst="line">
            <a:avLst/>
          </a:prstGeom>
          <a:ln w="9525" cap="round">
            <a:solidFill>
              <a:srgbClr val="00A6D6"/>
            </a:solidFill>
          </a:ln>
        </p:spPr>
      </p:cxnSp>
      <p:cxnSp>
        <p:nvCxnSpPr>
          <p:cNvPr id="12" name="Line"/>
          <p:cNvCxnSpPr/>
          <p:nvPr/>
        </p:nvCxnSpPr>
        <p:spPr>
          <a:xfrm flipV="1">
            <a:off x="9006840" y="3026664"/>
            <a:ext cx="1920240" cy="164592"/>
          </a:xfrm>
          <a:prstGeom prst="line">
            <a:avLst/>
          </a:prstGeom>
          <a:ln w="9525" cap="round">
            <a:solidFill>
              <a:srgbClr val="00A6D6"/>
            </a:solidFill>
          </a:ln>
        </p:spPr>
      </p:cxnSp>
      <p:cxnSp>
        <p:nvCxnSpPr>
          <p:cNvPr id="13" name="Line"/>
          <p:cNvCxnSpPr/>
          <p:nvPr/>
        </p:nvCxnSpPr>
        <p:spPr>
          <a:xfrm>
            <a:off x="9006840" y="3611880"/>
            <a:ext cx="1920240" cy="164592"/>
          </a:xfrm>
          <a:prstGeom prst="line">
            <a:avLst/>
          </a:prstGeom>
          <a:ln w="9525" cap="round">
            <a:solidFill>
              <a:srgbClr val="00A6D6"/>
            </a:solidFill>
          </a:ln>
        </p:spPr>
      </p:cxnSp>
      <p:cxnSp>
        <p:nvCxnSpPr>
          <p:cNvPr id="14" name="Line"/>
          <p:cNvCxnSpPr/>
          <p:nvPr/>
        </p:nvCxnSpPr>
        <p:spPr>
          <a:xfrm flipV="1">
            <a:off x="9006840" y="3867912"/>
            <a:ext cx="1920240" cy="164592"/>
          </a:xfrm>
          <a:prstGeom prst="line">
            <a:avLst/>
          </a:prstGeom>
          <a:ln w="9525" cap="round">
            <a:solidFill>
              <a:srgbClr val="00A6D6"/>
            </a:solidFill>
          </a:ln>
        </p:spPr>
      </p:cxnSp>
      <p:cxnSp>
        <p:nvCxnSpPr>
          <p:cNvPr id="15" name="Line"/>
          <p:cNvCxnSpPr/>
          <p:nvPr/>
        </p:nvCxnSpPr>
        <p:spPr>
          <a:xfrm>
            <a:off x="9006840" y="4453128"/>
            <a:ext cx="1920240" cy="164592"/>
          </a:xfrm>
          <a:prstGeom prst="line">
            <a:avLst/>
          </a:prstGeom>
          <a:ln w="9525" cap="round">
            <a:solidFill>
              <a:srgbClr val="00A6D6"/>
            </a:solidFill>
          </a:ln>
        </p:spPr>
      </p:cxnSp>
      <p:cxnSp>
        <p:nvCxnSpPr>
          <p:cNvPr id="16" name="Line"/>
          <p:cNvCxnSpPr/>
          <p:nvPr/>
        </p:nvCxnSpPr>
        <p:spPr>
          <a:xfrm flipV="1">
            <a:off x="9006840" y="4709160"/>
            <a:ext cx="1920240" cy="164592"/>
          </a:xfrm>
          <a:prstGeom prst="line">
            <a:avLst/>
          </a:prstGeom>
          <a:ln w="9525" cap="round">
            <a:solidFill>
              <a:srgbClr val="00A6D6"/>
            </a:solidFill>
          </a:ln>
        </p:spPr>
      </p:cxnSp>
      <p:sp>
        <p:nvSpPr>
          <p:cNvPr id="17"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CBD5E1"/>
                </a:solidFill>
                <a:latin typeface="Aptos"/>
                <a:ea typeface="Aptos"/>
                <a:cs typeface="Aptos"/>
              </a:rPr>
              <a:t>01/14</a:t>
            </a:r>
            <a:endParaRPr lang="en-US" sz="800">
              <a:solidFill>
                <a:srgbClr val="CBD5E1"/>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2" name="Picture"/>
          <p:cNvPicPr>
            <a:picLocks noChangeAspect="1"/>
          </p:cNvPicPr>
          <p:nvPr/>
        </p:nvPicPr>
        <p:blipFill>
          <a:blip r:embed="rId2"/>
          <a:srcRect t="9521" b="9521"/>
          <a:stretch>
            <a:fillRect/>
          </a:stretch>
        </p:blipFill>
        <p:spPr>
          <a:xfrm>
            <a:off x="0" y="0"/>
            <a:ext cx="12192000" cy="6858000"/>
          </a:xfrm>
          <a:prstGeom prst="rect">
            <a:avLst/>
          </a:prstGeom>
          <a:ln>
            <a:noFill/>
          </a:ln>
        </p:spPr>
      </p:pic>
      <p:sp>
        <p:nvSpPr>
          <p:cNvPr id="3" name="Rectangle"/>
          <p:cNvSpPr/>
          <p:nvPr/>
        </p:nvSpPr>
        <p:spPr>
          <a:xfrm>
            <a:off x="0" y="0"/>
            <a:ext cx="12192000" cy="6858000"/>
          </a:xfrm>
          <a:prstGeom prst="rect">
            <a:avLst/>
          </a:prstGeom>
          <a:solidFill>
            <a:srgbClr val="000000">
              <a:alpha val="47000"/>
            </a:srgbClr>
          </a:solidFill>
          <a:ln>
            <a:noFill/>
          </a:ln>
        </p:spPr>
      </p:sp>
      <p:sp>
        <p:nvSpPr>
          <p:cNvPr id="4"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FFFFFF"/>
                </a:solidFill>
                <a:latin typeface="Aptos"/>
                <a:ea typeface="Aptos"/>
                <a:cs typeface="Aptos"/>
              </a:rPr>
              <a:t>Problem</a:t>
            </a:r>
            <a:endParaRPr lang="en-US" sz="1900">
              <a:solidFill>
                <a:srgbClr val="FFFFFF"/>
              </a:solidFill>
              <a:latin typeface="Aptos"/>
            </a:endParaRPr>
          </a:p>
        </p:txBody>
      </p:sp>
      <p:sp>
        <p:nvSpPr>
          <p:cNvPr id="5"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D1D5DB"/>
                </a:solidFill>
                <a:latin typeface="Aptos"/>
                <a:ea typeface="Aptos"/>
                <a:cs typeface="Aptos"/>
              </a:rPr>
              <a:t>0:07-0:18</a:t>
            </a:r>
            <a:endParaRPr lang="en-US" sz="1100">
              <a:solidFill>
                <a:srgbClr val="D1D5DB"/>
              </a:solidFill>
              <a:latin typeface="Aptos"/>
            </a:endParaRPr>
          </a:p>
        </p:txBody>
      </p:sp>
      <p:sp>
        <p:nvSpPr>
          <p:cNvPr id="6" name="Rectangle"/>
          <p:cNvSpPr/>
          <p:nvPr/>
        </p:nvSpPr>
        <p:spPr>
          <a:xfrm>
            <a:off x="502920" y="786384"/>
            <a:ext cx="11201400" cy="13716"/>
          </a:xfrm>
          <a:prstGeom prst="rect">
            <a:avLst/>
          </a:prstGeom>
          <a:solidFill>
            <a:srgbClr val="00A6D6">
              <a:alpha val="100000"/>
            </a:srgbClr>
          </a:solidFill>
          <a:ln>
            <a:noFill/>
          </a:ln>
        </p:spPr>
      </p:sp>
      <p:sp>
        <p:nvSpPr>
          <p:cNvPr id="7" name="Text"/>
          <p:cNvSpPr txBox="1"/>
          <p:nvPr/>
        </p:nvSpPr>
        <p:spPr>
          <a:xfrm>
            <a:off x="685800" y="1508760"/>
            <a:ext cx="5577840" cy="914400"/>
          </a:xfrm>
          <a:prstGeom prst="rect">
            <a:avLst/>
          </a:prstGeom>
          <a:noFill/>
          <a:ln>
            <a:noFill/>
          </a:ln>
        </p:spPr>
        <p:txBody>
          <a:bodyPr wrap="square" lIns="0" rIns="0" tIns="0" bIns="0"/>
          <a:lstStyle/>
          <a:p>
            <a:pPr algn="l">
              <a:lnSpc>
                <a:spcPct val="105000"/>
              </a:lnSpc>
            </a:pPr>
            <a:r>
              <a:rPr lang="en-US" sz="3600" b="1" dirty="0">
                <a:solidFill>
                  <a:srgbClr val="FFFFFF"/>
                </a:solidFill>
                <a:latin typeface="Aptos"/>
                <a:ea typeface="Aptos"/>
                <a:cs typeface="Aptos"/>
              </a:rPr>
              <a:t>Heart rate.</a:t>
            </a:r>
            <a:endParaRPr lang="en-US" sz="3600">
              <a:solidFill>
                <a:srgbClr val="FFFFFF"/>
              </a:solidFill>
              <a:latin typeface="Aptos"/>
            </a:endParaRPr>
          </a:p>
          <a:p>
            <a:pPr algn="l">
              <a:lnSpc>
                <a:spcPct val="105000"/>
              </a:lnSpc>
            </a:pPr>
            <a:r>
              <a:rPr lang="en-US" sz="3600" b="1" dirty="0">
                <a:solidFill>
                  <a:srgbClr val="FFFFFF"/>
                </a:solidFill>
                <a:latin typeface="Aptos"/>
                <a:ea typeface="Aptos"/>
                <a:cs typeface="Aptos"/>
              </a:rPr>
              <a:t>Still contact-based.</a:t>
            </a:r>
            <a:endParaRPr lang="en-US" sz="3600">
              <a:solidFill>
                <a:srgbClr val="FFFFFF"/>
              </a:solidFill>
              <a:latin typeface="Aptos"/>
            </a:endParaRPr>
          </a:p>
        </p:txBody>
      </p:sp>
      <p:sp>
        <p:nvSpPr>
          <p:cNvPr id="8" name="Rectangle"/>
          <p:cNvSpPr/>
          <p:nvPr/>
        </p:nvSpPr>
        <p:spPr>
          <a:xfrm>
            <a:off x="713232" y="4069080"/>
            <a:ext cx="1965960" cy="438912"/>
          </a:xfrm>
          <a:prstGeom prst="rect">
            <a:avLst/>
          </a:prstGeom>
          <a:solidFill>
            <a:srgbClr val="005EB8">
              <a:alpha val="100000"/>
            </a:srgbClr>
          </a:solidFill>
          <a:ln>
            <a:noFill/>
          </a:ln>
        </p:spPr>
      </p:sp>
      <p:sp>
        <p:nvSpPr>
          <p:cNvPr id="9" name="Text"/>
          <p:cNvSpPr txBox="1"/>
          <p:nvPr/>
        </p:nvSpPr>
        <p:spPr>
          <a:xfrm>
            <a:off x="822960" y="4187952"/>
            <a:ext cx="1746504" cy="182880"/>
          </a:xfrm>
          <a:prstGeom prst="rect">
            <a:avLst/>
          </a:prstGeom>
          <a:noFill/>
          <a:ln>
            <a:noFill/>
          </a:ln>
        </p:spPr>
        <p:txBody>
          <a:bodyPr wrap="square" lIns="0" rIns="0" tIns="0" bIns="0"/>
          <a:lstStyle/>
          <a:p>
            <a:pPr algn="c">
              <a:lnSpc>
                <a:spcPct val="105000"/>
              </a:lnSpc>
            </a:pPr>
            <a:r>
              <a:rPr lang="en-US" sz="1200" b="1" dirty="0">
                <a:solidFill>
                  <a:srgbClr val="FFFFFF"/>
                </a:solidFill>
                <a:latin typeface="Aptos"/>
                <a:ea typeface="Aptos"/>
                <a:cs typeface="Aptos"/>
              </a:rPr>
              <a:t>Electrodes</a:t>
            </a:r>
            <a:endParaRPr lang="en-US" sz="1200">
              <a:solidFill>
                <a:srgbClr val="FFFFFF"/>
              </a:solidFill>
              <a:latin typeface="Aptos"/>
            </a:endParaRPr>
          </a:p>
        </p:txBody>
      </p:sp>
      <p:sp>
        <p:nvSpPr>
          <p:cNvPr id="10" name="Rectangle"/>
          <p:cNvSpPr/>
          <p:nvPr/>
        </p:nvSpPr>
        <p:spPr>
          <a:xfrm>
            <a:off x="2926080" y="4069080"/>
            <a:ext cx="1965960" cy="438912"/>
          </a:xfrm>
          <a:prstGeom prst="rect">
            <a:avLst/>
          </a:prstGeom>
          <a:solidFill>
            <a:srgbClr val="00A6D6">
              <a:alpha val="100000"/>
            </a:srgbClr>
          </a:solidFill>
          <a:ln>
            <a:noFill/>
          </a:ln>
        </p:spPr>
      </p:sp>
      <p:sp>
        <p:nvSpPr>
          <p:cNvPr id="11" name="Text"/>
          <p:cNvSpPr txBox="1"/>
          <p:nvPr/>
        </p:nvSpPr>
        <p:spPr>
          <a:xfrm>
            <a:off x="3035808" y="4187952"/>
            <a:ext cx="1746504" cy="182880"/>
          </a:xfrm>
          <a:prstGeom prst="rect">
            <a:avLst/>
          </a:prstGeom>
          <a:noFill/>
          <a:ln>
            <a:noFill/>
          </a:ln>
        </p:spPr>
        <p:txBody>
          <a:bodyPr wrap="square" lIns="0" rIns="0" tIns="0" bIns="0"/>
          <a:lstStyle/>
          <a:p>
            <a:pPr algn="c">
              <a:lnSpc>
                <a:spcPct val="105000"/>
              </a:lnSpc>
            </a:pPr>
            <a:r>
              <a:rPr lang="en-US" sz="1200" b="1" dirty="0">
                <a:solidFill>
                  <a:srgbClr val="FFFFFF"/>
                </a:solidFill>
                <a:latin typeface="Aptos"/>
                <a:ea typeface="Aptos"/>
                <a:cs typeface="Aptos"/>
              </a:rPr>
              <a:t>Straps</a:t>
            </a:r>
            <a:endParaRPr lang="en-US" sz="1200">
              <a:solidFill>
                <a:srgbClr val="FFFFFF"/>
              </a:solidFill>
              <a:latin typeface="Aptos"/>
            </a:endParaRPr>
          </a:p>
        </p:txBody>
      </p:sp>
      <p:sp>
        <p:nvSpPr>
          <p:cNvPr id="12" name="Rectangle"/>
          <p:cNvSpPr/>
          <p:nvPr/>
        </p:nvSpPr>
        <p:spPr>
          <a:xfrm>
            <a:off x="5138928" y="4069080"/>
            <a:ext cx="1965960" cy="438912"/>
          </a:xfrm>
          <a:prstGeom prst="rect">
            <a:avLst/>
          </a:prstGeom>
          <a:solidFill>
            <a:srgbClr val="F59E0B">
              <a:alpha val="100000"/>
            </a:srgbClr>
          </a:solidFill>
          <a:ln>
            <a:noFill/>
          </a:ln>
        </p:spPr>
      </p:sp>
      <p:sp>
        <p:nvSpPr>
          <p:cNvPr id="13" name="Text"/>
          <p:cNvSpPr txBox="1"/>
          <p:nvPr/>
        </p:nvSpPr>
        <p:spPr>
          <a:xfrm>
            <a:off x="5248656" y="4187952"/>
            <a:ext cx="1746504" cy="182880"/>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Wearables</a:t>
            </a:r>
            <a:endParaRPr lang="en-US" sz="1200">
              <a:solidFill>
                <a:srgbClr val="111827"/>
              </a:solidFill>
              <a:latin typeface="Aptos"/>
            </a:endParaRPr>
          </a:p>
        </p:txBody>
      </p:sp>
      <p:sp>
        <p:nvSpPr>
          <p:cNvPr id="14"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CBD5E1"/>
                </a:solidFill>
                <a:latin typeface="Aptos"/>
                <a:ea typeface="Aptos"/>
                <a:cs typeface="Aptos"/>
              </a:rPr>
              <a:t>02/14</a:t>
            </a:r>
            <a:endParaRPr lang="en-US" sz="800">
              <a:solidFill>
                <a:srgbClr val="CBD5E1"/>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pic>
        <p:nvPicPr>
          <p:cNvPr id="2" name="Picture"/>
          <p:cNvPicPr>
            <a:picLocks noChangeAspect="1"/>
          </p:cNvPicPr>
          <p:nvPr/>
        </p:nvPicPr>
        <p:blipFill>
          <a:blip r:embed="rId2"/>
          <a:srcRect t="18072" b="18072"/>
          <a:stretch>
            <a:fillRect/>
          </a:stretch>
        </p:blipFill>
        <p:spPr>
          <a:xfrm>
            <a:off x="0" y="0"/>
            <a:ext cx="12192000" cy="6858000"/>
          </a:xfrm>
          <a:prstGeom prst="rect">
            <a:avLst/>
          </a:prstGeom>
          <a:ln>
            <a:noFill/>
          </a:ln>
        </p:spPr>
      </p:pic>
      <p:sp>
        <p:nvSpPr>
          <p:cNvPr id="3" name="Rectangle"/>
          <p:cNvSpPr/>
          <p:nvPr/>
        </p:nvSpPr>
        <p:spPr>
          <a:xfrm>
            <a:off x="0" y="0"/>
            <a:ext cx="12192000" cy="6858000"/>
          </a:xfrm>
          <a:prstGeom prst="rect">
            <a:avLst/>
          </a:prstGeom>
          <a:solidFill>
            <a:srgbClr val="000000">
              <a:alpha val="42000"/>
            </a:srgbClr>
          </a:solidFill>
          <a:ln>
            <a:noFill/>
          </a:ln>
        </p:spPr>
      </p:sp>
      <p:sp>
        <p:nvSpPr>
          <p:cNvPr id="4"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FFFFFF"/>
                </a:solidFill>
                <a:latin typeface="Aptos"/>
                <a:ea typeface="Aptos"/>
                <a:cs typeface="Aptos"/>
              </a:rPr>
              <a:t>Need</a:t>
            </a:r>
            <a:endParaRPr lang="en-US" sz="1900">
              <a:solidFill>
                <a:srgbClr val="FFFFFF"/>
              </a:solidFill>
              <a:latin typeface="Aptos"/>
            </a:endParaRPr>
          </a:p>
        </p:txBody>
      </p:sp>
      <p:sp>
        <p:nvSpPr>
          <p:cNvPr id="5"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D1D5DB"/>
                </a:solidFill>
                <a:latin typeface="Aptos"/>
                <a:ea typeface="Aptos"/>
                <a:cs typeface="Aptos"/>
              </a:rPr>
              <a:t>0:19-0:32</a:t>
            </a:r>
            <a:endParaRPr lang="en-US" sz="1100">
              <a:solidFill>
                <a:srgbClr val="D1D5DB"/>
              </a:solidFill>
              <a:latin typeface="Aptos"/>
            </a:endParaRPr>
          </a:p>
        </p:txBody>
      </p:sp>
      <p:sp>
        <p:nvSpPr>
          <p:cNvPr id="6" name="Rectangle"/>
          <p:cNvSpPr/>
          <p:nvPr/>
        </p:nvSpPr>
        <p:spPr>
          <a:xfrm>
            <a:off x="502920" y="786384"/>
            <a:ext cx="11201400" cy="13716"/>
          </a:xfrm>
          <a:prstGeom prst="rect">
            <a:avLst/>
          </a:prstGeom>
          <a:solidFill>
            <a:srgbClr val="00A6D6">
              <a:alpha val="100000"/>
            </a:srgbClr>
          </a:solidFill>
          <a:ln>
            <a:noFill/>
          </a:ln>
        </p:spPr>
      </p:sp>
      <p:sp>
        <p:nvSpPr>
          <p:cNvPr id="7" name="Text"/>
          <p:cNvSpPr txBox="1"/>
          <p:nvPr/>
        </p:nvSpPr>
        <p:spPr>
          <a:xfrm>
            <a:off x="685800" y="1417320"/>
            <a:ext cx="6217920" cy="777240"/>
          </a:xfrm>
          <a:prstGeom prst="rect">
            <a:avLst/>
          </a:prstGeom>
          <a:noFill/>
          <a:ln>
            <a:noFill/>
          </a:ln>
        </p:spPr>
        <p:txBody>
          <a:bodyPr wrap="square" lIns="0" rIns="0" tIns="0" bIns="0"/>
          <a:lstStyle/>
          <a:p>
            <a:pPr algn="l">
              <a:lnSpc>
                <a:spcPct val="105000"/>
              </a:lnSpc>
            </a:pPr>
            <a:r>
              <a:rPr lang="en-US" sz="3000" b="1" dirty="0">
                <a:solidFill>
                  <a:srgbClr val="FFFFFF"/>
                </a:solidFill>
                <a:latin typeface="Aptos"/>
                <a:ea typeface="Aptos"/>
                <a:cs typeface="Aptos"/>
              </a:rPr>
              <a:t>The ideal measurement is...</a:t>
            </a:r>
            <a:endParaRPr lang="en-US" sz="3000">
              <a:solidFill>
                <a:srgbClr val="FFFFFF"/>
              </a:solidFill>
              <a:latin typeface="Aptos"/>
            </a:endParaRPr>
          </a:p>
        </p:txBody>
      </p:sp>
      <p:sp>
        <p:nvSpPr>
          <p:cNvPr id="8" name="Rectangle"/>
          <p:cNvSpPr/>
          <p:nvPr/>
        </p:nvSpPr>
        <p:spPr>
          <a:xfrm>
            <a:off x="713232" y="4434840"/>
            <a:ext cx="2103120" cy="548640"/>
          </a:xfrm>
          <a:prstGeom prst="rect">
            <a:avLst/>
          </a:prstGeom>
          <a:solidFill>
            <a:srgbClr val="00A6D6">
              <a:alpha val="90000"/>
            </a:srgbClr>
          </a:solidFill>
          <a:ln>
            <a:noFill/>
          </a:ln>
        </p:spPr>
      </p:sp>
      <p:sp>
        <p:nvSpPr>
          <p:cNvPr id="9" name="Text"/>
          <p:cNvSpPr txBox="1"/>
          <p:nvPr/>
        </p:nvSpPr>
        <p:spPr>
          <a:xfrm>
            <a:off x="786384" y="4608576"/>
            <a:ext cx="1956816" cy="201168"/>
          </a:xfrm>
          <a:prstGeom prst="rect">
            <a:avLst/>
          </a:prstGeom>
          <a:noFill/>
          <a:ln>
            <a:noFill/>
          </a:ln>
        </p:spPr>
        <p:txBody>
          <a:bodyPr wrap="square" lIns="0" rIns="0" tIns="0" bIns="0"/>
          <a:lstStyle/>
          <a:p>
            <a:pPr algn="c">
              <a:lnSpc>
                <a:spcPct val="105000"/>
              </a:lnSpc>
            </a:pPr>
            <a:r>
              <a:rPr lang="en-US" sz="1300" b="1" dirty="0">
                <a:solidFill>
                  <a:srgbClr val="111827"/>
                </a:solidFill>
                <a:latin typeface="Aptos"/>
                <a:ea typeface="Aptos"/>
                <a:cs typeface="Aptos"/>
              </a:rPr>
              <a:t>comfortable</a:t>
            </a:r>
            <a:endParaRPr lang="en-US" sz="1300">
              <a:solidFill>
                <a:srgbClr val="111827"/>
              </a:solidFill>
              <a:latin typeface="Aptos"/>
            </a:endParaRPr>
          </a:p>
        </p:txBody>
      </p:sp>
      <p:sp>
        <p:nvSpPr>
          <p:cNvPr id="10" name="Rectangle"/>
          <p:cNvSpPr/>
          <p:nvPr/>
        </p:nvSpPr>
        <p:spPr>
          <a:xfrm>
            <a:off x="3182112" y="4434840"/>
            <a:ext cx="2103120" cy="548640"/>
          </a:xfrm>
          <a:prstGeom prst="rect">
            <a:avLst/>
          </a:prstGeom>
          <a:solidFill>
            <a:srgbClr val="FFFFFF">
              <a:alpha val="90000"/>
            </a:srgbClr>
          </a:solidFill>
          <a:ln>
            <a:noFill/>
          </a:ln>
        </p:spPr>
      </p:sp>
      <p:sp>
        <p:nvSpPr>
          <p:cNvPr id="11" name="Text"/>
          <p:cNvSpPr txBox="1"/>
          <p:nvPr/>
        </p:nvSpPr>
        <p:spPr>
          <a:xfrm>
            <a:off x="3255264" y="4608576"/>
            <a:ext cx="1956816" cy="201168"/>
          </a:xfrm>
          <a:prstGeom prst="rect">
            <a:avLst/>
          </a:prstGeom>
          <a:noFill/>
          <a:ln>
            <a:noFill/>
          </a:ln>
        </p:spPr>
        <p:txBody>
          <a:bodyPr wrap="square" lIns="0" rIns="0" tIns="0" bIns="0"/>
          <a:lstStyle/>
          <a:p>
            <a:pPr algn="c">
              <a:lnSpc>
                <a:spcPct val="105000"/>
              </a:lnSpc>
            </a:pPr>
            <a:r>
              <a:rPr lang="en-US" sz="1300" b="1" dirty="0">
                <a:solidFill>
                  <a:srgbClr val="111827"/>
                </a:solidFill>
                <a:latin typeface="Aptos"/>
                <a:ea typeface="Aptos"/>
                <a:cs typeface="Aptos"/>
              </a:rPr>
              <a:t>continuous</a:t>
            </a:r>
            <a:endParaRPr lang="en-US" sz="1300">
              <a:solidFill>
                <a:srgbClr val="111827"/>
              </a:solidFill>
              <a:latin typeface="Aptos"/>
            </a:endParaRPr>
          </a:p>
        </p:txBody>
      </p:sp>
      <p:sp>
        <p:nvSpPr>
          <p:cNvPr id="12" name="Rectangle"/>
          <p:cNvSpPr/>
          <p:nvPr/>
        </p:nvSpPr>
        <p:spPr>
          <a:xfrm>
            <a:off x="5650992" y="4434840"/>
            <a:ext cx="2103120" cy="548640"/>
          </a:xfrm>
          <a:prstGeom prst="rect">
            <a:avLst/>
          </a:prstGeom>
          <a:solidFill>
            <a:srgbClr val="F59E0B">
              <a:alpha val="90000"/>
            </a:srgbClr>
          </a:solidFill>
          <a:ln>
            <a:noFill/>
          </a:ln>
        </p:spPr>
      </p:sp>
      <p:sp>
        <p:nvSpPr>
          <p:cNvPr id="13" name="Text"/>
          <p:cNvSpPr txBox="1"/>
          <p:nvPr/>
        </p:nvSpPr>
        <p:spPr>
          <a:xfrm>
            <a:off x="5724144" y="4608576"/>
            <a:ext cx="1956816" cy="201168"/>
          </a:xfrm>
          <a:prstGeom prst="rect">
            <a:avLst/>
          </a:prstGeom>
          <a:noFill/>
          <a:ln>
            <a:noFill/>
          </a:ln>
        </p:spPr>
        <p:txBody>
          <a:bodyPr wrap="square" lIns="0" rIns="0" tIns="0" bIns="0"/>
          <a:lstStyle/>
          <a:p>
            <a:pPr algn="c">
              <a:lnSpc>
                <a:spcPct val="105000"/>
              </a:lnSpc>
            </a:pPr>
            <a:r>
              <a:rPr lang="en-US" sz="1300" b="1" dirty="0">
                <a:solidFill>
                  <a:srgbClr val="111827"/>
                </a:solidFill>
                <a:latin typeface="Aptos"/>
                <a:ea typeface="Aptos"/>
                <a:cs typeface="Aptos"/>
              </a:rPr>
              <a:t>contact-free</a:t>
            </a:r>
            <a:endParaRPr lang="en-US" sz="1300">
              <a:solidFill>
                <a:srgbClr val="111827"/>
              </a:solidFill>
              <a:latin typeface="Aptos"/>
            </a:endParaRPr>
          </a:p>
        </p:txBody>
      </p:sp>
      <p:sp>
        <p:nvSpPr>
          <p:cNvPr id="14"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CBD5E1"/>
                </a:solidFill>
                <a:latin typeface="Aptos"/>
                <a:ea typeface="Aptos"/>
                <a:cs typeface="Aptos"/>
              </a:rPr>
              <a:t>03/14</a:t>
            </a:r>
            <a:endParaRPr lang="en-US" sz="800">
              <a:solidFill>
                <a:srgbClr val="CBD5E1"/>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8FAFC">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Device Concept</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0:33-0:48</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pic>
        <p:nvPicPr>
          <p:cNvPr id="6" name="Picture"/>
          <p:cNvPicPr>
            <a:picLocks noChangeAspect="1"/>
          </p:cNvPicPr>
          <p:nvPr/>
        </p:nvPicPr>
        <p:blipFill>
          <a:blip r:embed="rId2"/>
          <a:srcRect l="6191" r="6191"/>
          <a:stretch>
            <a:fillRect/>
          </a:stretch>
        </p:blipFill>
        <p:spPr>
          <a:xfrm>
            <a:off x="5989320" y="1051560"/>
            <a:ext cx="5715000" cy="4892040"/>
          </a:xfrm>
          <a:prstGeom prst="rect">
            <a:avLst/>
          </a:prstGeom>
          <a:ln>
            <a:noFill/>
          </a:ln>
        </p:spPr>
      </p:pic>
      <p:sp>
        <p:nvSpPr>
          <p:cNvPr id="7" name="Rectangle"/>
          <p:cNvSpPr/>
          <p:nvPr/>
        </p:nvSpPr>
        <p:spPr>
          <a:xfrm>
            <a:off x="5989320" y="1051560"/>
            <a:ext cx="5715000" cy="4892040"/>
          </a:xfrm>
          <a:prstGeom prst="rect">
            <a:avLst/>
          </a:prstGeom>
          <a:solidFill>
            <a:srgbClr val="000000">
              <a:alpha val="8000"/>
            </a:srgbClr>
          </a:solidFill>
          <a:ln>
            <a:noFill/>
          </a:ln>
        </p:spPr>
      </p:sp>
      <p:sp>
        <p:nvSpPr>
          <p:cNvPr id="8" name="Text"/>
          <p:cNvSpPr txBox="1"/>
          <p:nvPr/>
        </p:nvSpPr>
        <p:spPr>
          <a:xfrm>
            <a:off x="685800" y="1417320"/>
            <a:ext cx="4754880" cy="960120"/>
          </a:xfrm>
          <a:prstGeom prst="rect">
            <a:avLst/>
          </a:prstGeom>
          <a:noFill/>
          <a:ln>
            <a:noFill/>
          </a:ln>
        </p:spPr>
        <p:txBody>
          <a:bodyPr wrap="square" lIns="0" rIns="0" tIns="0" bIns="0"/>
          <a:lstStyle/>
          <a:p>
            <a:pPr algn="l">
              <a:lnSpc>
                <a:spcPct val="105000"/>
              </a:lnSpc>
            </a:pPr>
            <a:r>
              <a:rPr lang="en-US" sz="2900" b="1" dirty="0">
                <a:solidFill>
                  <a:srgbClr val="111827"/>
                </a:solidFill>
                <a:latin typeface="Aptos"/>
                <a:ea typeface="Aptos"/>
                <a:cs typeface="Aptos"/>
              </a:rPr>
              <a:t>Detects chest movement</a:t>
            </a:r>
            <a:endParaRPr lang="en-US" sz="2900">
              <a:solidFill>
                <a:srgbClr val="111827"/>
              </a:solidFill>
              <a:latin typeface="Aptos"/>
            </a:endParaRPr>
          </a:p>
          <a:p>
            <a:pPr algn="l">
              <a:lnSpc>
                <a:spcPct val="105000"/>
              </a:lnSpc>
            </a:pPr>
            <a:r>
              <a:rPr lang="en-US" sz="2900" b="1" dirty="0">
                <a:solidFill>
                  <a:srgbClr val="111827"/>
                </a:solidFill>
                <a:latin typeface="Aptos"/>
                <a:ea typeface="Aptos"/>
                <a:cs typeface="Aptos"/>
              </a:rPr>
              <a:t>without touching the body.</a:t>
            </a:r>
            <a:endParaRPr lang="en-US" sz="2900">
              <a:solidFill>
                <a:srgbClr val="111827"/>
              </a:solidFill>
              <a:latin typeface="Aptos"/>
            </a:endParaRPr>
          </a:p>
        </p:txBody>
      </p:sp>
      <p:sp>
        <p:nvSpPr>
          <p:cNvPr id="9" name="Rectangle"/>
          <p:cNvSpPr/>
          <p:nvPr/>
        </p:nvSpPr>
        <p:spPr>
          <a:xfrm>
            <a:off x="731520" y="3063240"/>
            <a:ext cx="146304" cy="146304"/>
          </a:xfrm>
          <a:prstGeom prst="rect">
            <a:avLst/>
          </a:prstGeom>
          <a:solidFill>
            <a:srgbClr val="005EB8">
              <a:alpha val="100000"/>
            </a:srgbClr>
          </a:solidFill>
          <a:ln>
            <a:noFill/>
          </a:ln>
        </p:spPr>
      </p:sp>
      <p:sp>
        <p:nvSpPr>
          <p:cNvPr id="10" name="Text"/>
          <p:cNvSpPr txBox="1"/>
          <p:nvPr/>
        </p:nvSpPr>
        <p:spPr>
          <a:xfrm>
            <a:off x="987552" y="3008376"/>
            <a:ext cx="3291840" cy="256032"/>
          </a:xfrm>
          <a:prstGeom prst="rect">
            <a:avLst/>
          </a:prstGeom>
          <a:noFill/>
          <a:ln>
            <a:noFill/>
          </a:ln>
        </p:spPr>
        <p:txBody>
          <a:bodyPr wrap="square" lIns="0" rIns="0" tIns="0" bIns="0"/>
          <a:lstStyle/>
          <a:p>
            <a:pPr algn="l">
              <a:lnSpc>
                <a:spcPct val="105000"/>
              </a:lnSpc>
            </a:pPr>
            <a:r>
              <a:rPr lang="en-US" sz="1800" b="1" dirty="0">
                <a:solidFill>
                  <a:srgbClr val="111827"/>
                </a:solidFill>
                <a:latin typeface="Aptos"/>
                <a:ea typeface="Aptos"/>
                <a:cs typeface="Aptos"/>
              </a:rPr>
              <a:t>Contactless</a:t>
            </a:r>
            <a:endParaRPr lang="en-US" sz="1800">
              <a:solidFill>
                <a:srgbClr val="111827"/>
              </a:solidFill>
              <a:latin typeface="Aptos"/>
            </a:endParaRPr>
          </a:p>
        </p:txBody>
      </p:sp>
      <p:sp>
        <p:nvSpPr>
          <p:cNvPr id="11" name="Rectangle"/>
          <p:cNvSpPr/>
          <p:nvPr/>
        </p:nvSpPr>
        <p:spPr>
          <a:xfrm>
            <a:off x="731520" y="3703320"/>
            <a:ext cx="146304" cy="146304"/>
          </a:xfrm>
          <a:prstGeom prst="rect">
            <a:avLst/>
          </a:prstGeom>
          <a:solidFill>
            <a:srgbClr val="00A6D6">
              <a:alpha val="100000"/>
            </a:srgbClr>
          </a:solidFill>
          <a:ln>
            <a:noFill/>
          </a:ln>
        </p:spPr>
      </p:sp>
      <p:sp>
        <p:nvSpPr>
          <p:cNvPr id="12" name="Text"/>
          <p:cNvSpPr txBox="1"/>
          <p:nvPr/>
        </p:nvSpPr>
        <p:spPr>
          <a:xfrm>
            <a:off x="987552" y="3648456"/>
            <a:ext cx="3291840" cy="256032"/>
          </a:xfrm>
          <a:prstGeom prst="rect">
            <a:avLst/>
          </a:prstGeom>
          <a:noFill/>
          <a:ln>
            <a:noFill/>
          </a:ln>
        </p:spPr>
        <p:txBody>
          <a:bodyPr wrap="square" lIns="0" rIns="0" tIns="0" bIns="0"/>
          <a:lstStyle/>
          <a:p>
            <a:pPr algn="l">
              <a:lnSpc>
                <a:spcPct val="105000"/>
              </a:lnSpc>
            </a:pPr>
            <a:r>
              <a:rPr lang="en-US" sz="1800" b="1" dirty="0">
                <a:solidFill>
                  <a:srgbClr val="111827"/>
                </a:solidFill>
                <a:latin typeface="Aptos"/>
                <a:ea typeface="Aptos"/>
                <a:cs typeface="Aptos"/>
              </a:rPr>
              <a:t>Real-time</a:t>
            </a:r>
            <a:endParaRPr lang="en-US" sz="1800">
              <a:solidFill>
                <a:srgbClr val="111827"/>
              </a:solidFill>
              <a:latin typeface="Aptos"/>
            </a:endParaRPr>
          </a:p>
        </p:txBody>
      </p:sp>
      <p:sp>
        <p:nvSpPr>
          <p:cNvPr id="13" name="Rectangle"/>
          <p:cNvSpPr/>
          <p:nvPr/>
        </p:nvSpPr>
        <p:spPr>
          <a:xfrm>
            <a:off x="731520" y="4343400"/>
            <a:ext cx="146304" cy="146304"/>
          </a:xfrm>
          <a:prstGeom prst="rect">
            <a:avLst/>
          </a:prstGeom>
          <a:solidFill>
            <a:srgbClr val="F59E0B">
              <a:alpha val="100000"/>
            </a:srgbClr>
          </a:solidFill>
          <a:ln>
            <a:noFill/>
          </a:ln>
        </p:spPr>
      </p:sp>
      <p:sp>
        <p:nvSpPr>
          <p:cNvPr id="14" name="Text"/>
          <p:cNvSpPr txBox="1"/>
          <p:nvPr/>
        </p:nvSpPr>
        <p:spPr>
          <a:xfrm>
            <a:off x="987552" y="4288536"/>
            <a:ext cx="3291840" cy="256032"/>
          </a:xfrm>
          <a:prstGeom prst="rect">
            <a:avLst/>
          </a:prstGeom>
          <a:noFill/>
          <a:ln>
            <a:noFill/>
          </a:ln>
        </p:spPr>
        <p:txBody>
          <a:bodyPr wrap="square" lIns="0" rIns="0" tIns="0" bIns="0"/>
          <a:lstStyle/>
          <a:p>
            <a:pPr algn="l">
              <a:lnSpc>
                <a:spcPct val="105000"/>
              </a:lnSpc>
            </a:pPr>
            <a:r>
              <a:rPr lang="en-US" sz="1800" b="1" dirty="0">
                <a:solidFill>
                  <a:srgbClr val="111827"/>
                </a:solidFill>
                <a:latin typeface="Aptos"/>
                <a:ea typeface="Aptos"/>
                <a:cs typeface="Aptos"/>
              </a:rPr>
              <a:t>LCD Display</a:t>
            </a:r>
            <a:endParaRPr lang="en-US" sz="1800">
              <a:solidFill>
                <a:srgbClr val="111827"/>
              </a:solidFill>
              <a:latin typeface="Aptos"/>
            </a:endParaRPr>
          </a:p>
        </p:txBody>
      </p:sp>
      <p:sp>
        <p:nvSpPr>
          <p:cNvPr id="15"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04/14</a:t>
            </a:r>
            <a:endParaRPr lang="en-US" sz="800">
              <a:solidFill>
                <a:srgbClr val="9CA3AF"/>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0B1220">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FFFFFF"/>
                </a:solidFill>
                <a:latin typeface="Aptos"/>
                <a:ea typeface="Aptos"/>
                <a:cs typeface="Aptos"/>
              </a:rPr>
              <a:t>Doppler Principle</a:t>
            </a:r>
            <a:endParaRPr lang="en-US" sz="1900">
              <a:solidFill>
                <a:srgbClr val="FFFFFF"/>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D1D5DB"/>
                </a:solidFill>
                <a:latin typeface="Aptos"/>
                <a:ea typeface="Aptos"/>
                <a:cs typeface="Aptos"/>
              </a:rPr>
              <a:t>0:49-1:05</a:t>
            </a:r>
            <a:endParaRPr lang="en-US" sz="1100">
              <a:solidFill>
                <a:srgbClr val="D1D5DB"/>
              </a:solidFill>
              <a:latin typeface="Aptos"/>
            </a:endParaRPr>
          </a:p>
        </p:txBody>
      </p:sp>
      <p:sp>
        <p:nvSpPr>
          <p:cNvPr id="5" name="Rectangle"/>
          <p:cNvSpPr/>
          <p:nvPr/>
        </p:nvSpPr>
        <p:spPr>
          <a:xfrm>
            <a:off x="502920" y="786384"/>
            <a:ext cx="11201400" cy="13716"/>
          </a:xfrm>
          <a:prstGeom prst="rect">
            <a:avLst/>
          </a:prstGeom>
          <a:solidFill>
            <a:srgbClr val="00A6D6">
              <a:alpha val="100000"/>
            </a:srgbClr>
          </a:solidFill>
          <a:ln>
            <a:noFill/>
          </a:ln>
        </p:spPr>
      </p:sp>
      <p:pic>
        <p:nvPicPr>
          <p:cNvPr id="6" name="Picture"/>
          <p:cNvPicPr>
            <a:picLocks noChangeAspect="1"/>
          </p:cNvPicPr>
          <p:nvPr/>
        </p:nvPicPr>
        <p:blipFill>
          <a:blip r:embed="rId2"/>
          <a:stretch>
            <a:fillRect/>
          </a:stretch>
        </p:blipFill>
        <p:spPr>
          <a:xfrm>
            <a:off x="594360" y="1888168"/>
            <a:ext cx="5166360" cy="2853064"/>
          </a:xfrm>
          <a:prstGeom prst="rect">
            <a:avLst/>
          </a:prstGeom>
          <a:ln>
            <a:noFill/>
          </a:ln>
        </p:spPr>
      </p:pic>
      <p:sp>
        <p:nvSpPr>
          <p:cNvPr id="7" name="Rectangle"/>
          <p:cNvSpPr/>
          <p:nvPr/>
        </p:nvSpPr>
        <p:spPr>
          <a:xfrm>
            <a:off x="6172200" y="1371600"/>
            <a:ext cx="640080" cy="2926080"/>
          </a:xfrm>
          <a:prstGeom prst="rect">
            <a:avLst/>
          </a:prstGeom>
          <a:solidFill>
            <a:srgbClr val="94A3B8">
              <a:alpha val="70000"/>
            </a:srgbClr>
          </a:solidFill>
          <a:ln>
            <a:noFill/>
          </a:ln>
        </p:spPr>
      </p:sp>
      <p:sp>
        <p:nvSpPr>
          <p:cNvPr id="8" name="Text"/>
          <p:cNvSpPr txBox="1"/>
          <p:nvPr/>
        </p:nvSpPr>
        <p:spPr>
          <a:xfrm>
            <a:off x="5925312" y="4526280"/>
            <a:ext cx="1143000" cy="228600"/>
          </a:xfrm>
          <a:prstGeom prst="rect">
            <a:avLst/>
          </a:prstGeom>
          <a:noFill/>
          <a:ln>
            <a:noFill/>
          </a:ln>
        </p:spPr>
        <p:txBody>
          <a:bodyPr wrap="square" lIns="0" rIns="0" tIns="0" bIns="0"/>
          <a:lstStyle/>
          <a:p>
            <a:pPr algn="c">
              <a:lnSpc>
                <a:spcPct val="105000"/>
              </a:lnSpc>
            </a:pPr>
            <a:r>
              <a:rPr lang="en-US" sz="1200" b="1" dirty="0">
                <a:solidFill>
                  <a:srgbClr val="CBD5E1"/>
                </a:solidFill>
                <a:latin typeface="Aptos"/>
                <a:ea typeface="Aptos"/>
                <a:cs typeface="Aptos"/>
              </a:rPr>
              <a:t>Chest</a:t>
            </a:r>
            <a:endParaRPr lang="en-US" sz="1200">
              <a:solidFill>
                <a:srgbClr val="CBD5E1"/>
              </a:solidFill>
              <a:latin typeface="Aptos"/>
            </a:endParaRPr>
          </a:p>
        </p:txBody>
      </p:sp>
      <p:cxnSp>
        <p:nvCxnSpPr>
          <p:cNvPr id="9" name="Line"/>
          <p:cNvCxnSpPr/>
          <p:nvPr/>
        </p:nvCxnSpPr>
        <p:spPr>
          <a:xfrm>
            <a:off x="3200400" y="1965960"/>
            <a:ext cx="2880360" cy="457200"/>
          </a:xfrm>
          <a:prstGeom prst="line">
            <a:avLst/>
          </a:prstGeom>
          <a:ln w="25400" cap="round">
            <a:solidFill>
              <a:srgbClr val="00A6D6"/>
            </a:solidFill>
            <a:tailEnd type="triangle"/>
          </a:ln>
        </p:spPr>
      </p:cxnSp>
      <p:cxnSp>
        <p:nvCxnSpPr>
          <p:cNvPr id="10" name="Line"/>
          <p:cNvCxnSpPr/>
          <p:nvPr/>
        </p:nvCxnSpPr>
        <p:spPr>
          <a:xfrm flipH="1">
            <a:off x="3337560" y="2788920"/>
            <a:ext cx="2743200" cy="594360"/>
          </a:xfrm>
          <a:prstGeom prst="line">
            <a:avLst/>
          </a:prstGeom>
          <a:ln w="19050" cap="round">
            <a:solidFill>
              <a:srgbClr val="F59E0B"/>
            </a:solidFill>
            <a:tailEnd type="triangle"/>
          </a:ln>
        </p:spPr>
      </p:cxnSp>
      <p:cxnSp>
        <p:nvCxnSpPr>
          <p:cNvPr id="11" name="Line"/>
          <p:cNvCxnSpPr/>
          <p:nvPr/>
        </p:nvCxnSpPr>
        <p:spPr>
          <a:xfrm>
            <a:off x="3429000" y="2167128"/>
            <a:ext cx="2651760" cy="256032"/>
          </a:xfrm>
          <a:prstGeom prst="line">
            <a:avLst/>
          </a:prstGeom>
          <a:ln w="25400" cap="round">
            <a:solidFill>
              <a:srgbClr val="00A6D6"/>
            </a:solidFill>
            <a:tailEnd type="triangle"/>
          </a:ln>
        </p:spPr>
      </p:cxnSp>
      <p:cxnSp>
        <p:nvCxnSpPr>
          <p:cNvPr id="12" name="Line"/>
          <p:cNvCxnSpPr/>
          <p:nvPr/>
        </p:nvCxnSpPr>
        <p:spPr>
          <a:xfrm flipH="1">
            <a:off x="3566160" y="2788920"/>
            <a:ext cx="2514600" cy="758952"/>
          </a:xfrm>
          <a:prstGeom prst="line">
            <a:avLst/>
          </a:prstGeom>
          <a:ln w="19050" cap="round">
            <a:solidFill>
              <a:srgbClr val="F59E0B"/>
            </a:solidFill>
            <a:tailEnd type="triangle"/>
          </a:ln>
        </p:spPr>
      </p:cxnSp>
      <p:cxnSp>
        <p:nvCxnSpPr>
          <p:cNvPr id="13" name="Line"/>
          <p:cNvCxnSpPr/>
          <p:nvPr/>
        </p:nvCxnSpPr>
        <p:spPr>
          <a:xfrm>
            <a:off x="3657600" y="2368296"/>
            <a:ext cx="2423160" cy="54864"/>
          </a:xfrm>
          <a:prstGeom prst="line">
            <a:avLst/>
          </a:prstGeom>
          <a:ln w="25400" cap="round">
            <a:solidFill>
              <a:srgbClr val="00A6D6"/>
            </a:solidFill>
            <a:tailEnd type="triangle"/>
          </a:ln>
        </p:spPr>
      </p:cxnSp>
      <p:cxnSp>
        <p:nvCxnSpPr>
          <p:cNvPr id="14" name="Line"/>
          <p:cNvCxnSpPr/>
          <p:nvPr/>
        </p:nvCxnSpPr>
        <p:spPr>
          <a:xfrm flipH="1">
            <a:off x="3794760" y="2788920"/>
            <a:ext cx="2286000" cy="923544"/>
          </a:xfrm>
          <a:prstGeom prst="line">
            <a:avLst/>
          </a:prstGeom>
          <a:ln w="19050" cap="round">
            <a:solidFill>
              <a:srgbClr val="F59E0B"/>
            </a:solidFill>
            <a:tailEnd type="triangle"/>
          </a:ln>
        </p:spPr>
      </p:cxnSp>
      <p:cxnSp>
        <p:nvCxnSpPr>
          <p:cNvPr id="15" name="Line"/>
          <p:cNvCxnSpPr/>
          <p:nvPr/>
        </p:nvCxnSpPr>
        <p:spPr>
          <a:xfrm flipV="1">
            <a:off x="3886200" y="2423160"/>
            <a:ext cx="2194560" cy="146304"/>
          </a:xfrm>
          <a:prstGeom prst="line">
            <a:avLst/>
          </a:prstGeom>
          <a:ln w="25400" cap="round">
            <a:solidFill>
              <a:srgbClr val="00A6D6"/>
            </a:solidFill>
            <a:tailEnd type="triangle"/>
          </a:ln>
        </p:spPr>
      </p:cxnSp>
      <p:cxnSp>
        <p:nvCxnSpPr>
          <p:cNvPr id="16" name="Line"/>
          <p:cNvCxnSpPr/>
          <p:nvPr/>
        </p:nvCxnSpPr>
        <p:spPr>
          <a:xfrm flipH="1">
            <a:off x="4023360" y="2788920"/>
            <a:ext cx="2057400" cy="1088136"/>
          </a:xfrm>
          <a:prstGeom prst="line">
            <a:avLst/>
          </a:prstGeom>
          <a:ln w="19050" cap="round">
            <a:solidFill>
              <a:srgbClr val="F59E0B"/>
            </a:solidFill>
            <a:tailEnd type="triangle"/>
          </a:ln>
        </p:spPr>
      </p:cxnSp>
      <p:sp>
        <p:nvSpPr>
          <p:cNvPr id="17" name="Text"/>
          <p:cNvSpPr txBox="1"/>
          <p:nvPr/>
        </p:nvSpPr>
        <p:spPr>
          <a:xfrm>
            <a:off x="7315200" y="1417320"/>
            <a:ext cx="3931920" cy="594360"/>
          </a:xfrm>
          <a:prstGeom prst="rect">
            <a:avLst/>
          </a:prstGeom>
          <a:noFill/>
          <a:ln>
            <a:noFill/>
          </a:ln>
        </p:spPr>
        <p:txBody>
          <a:bodyPr wrap="square" lIns="0" rIns="0" tIns="0" bIns="0"/>
          <a:lstStyle/>
          <a:p>
            <a:pPr algn="l">
              <a:lnSpc>
                <a:spcPct val="105000"/>
              </a:lnSpc>
            </a:pPr>
            <a:r>
              <a:rPr lang="en-US" sz="2400" b="1" dirty="0">
                <a:solidFill>
                  <a:srgbClr val="FFFFFF"/>
                </a:solidFill>
                <a:latin typeface="Aptos"/>
                <a:ea typeface="Aptos"/>
                <a:cs typeface="Aptos"/>
              </a:rPr>
              <a:t>Small cardiac movements</a:t>
            </a:r>
            <a:endParaRPr lang="en-US" sz="2400">
              <a:solidFill>
                <a:srgbClr val="FFFFFF"/>
              </a:solidFill>
              <a:latin typeface="Aptos"/>
            </a:endParaRPr>
          </a:p>
          <a:p>
            <a:pPr algn="l">
              <a:lnSpc>
                <a:spcPct val="105000"/>
              </a:lnSpc>
            </a:pPr>
            <a:r>
              <a:rPr lang="en-US" sz="2400" b="1" dirty="0">
                <a:solidFill>
                  <a:srgbClr val="FFFFFF"/>
                </a:solidFill>
                <a:latin typeface="Aptos"/>
                <a:ea typeface="Aptos"/>
                <a:cs typeface="Aptos"/>
              </a:rPr>
              <a:t>shift the reflected phase.</a:t>
            </a:r>
            <a:endParaRPr lang="en-US" sz="2400">
              <a:solidFill>
                <a:srgbClr val="FFFFFF"/>
              </a:solidFill>
              <a:latin typeface="Aptos"/>
            </a:endParaRPr>
          </a:p>
        </p:txBody>
      </p:sp>
      <p:sp>
        <p:nvSpPr>
          <p:cNvPr id="18" name="Rectangle"/>
          <p:cNvSpPr/>
          <p:nvPr/>
        </p:nvSpPr>
        <p:spPr>
          <a:xfrm>
            <a:off x="7406640" y="3246120"/>
            <a:ext cx="3154680" cy="13716"/>
          </a:xfrm>
          <a:prstGeom prst="rect">
            <a:avLst/>
          </a:prstGeom>
          <a:solidFill>
            <a:srgbClr val="CBD5E1">
              <a:alpha val="65000"/>
            </a:srgbClr>
          </a:solidFill>
          <a:ln>
            <a:noFill/>
          </a:ln>
        </p:spPr>
      </p:sp>
      <p:cxnSp>
        <p:nvCxnSpPr>
          <p:cNvPr id="19" name="Line"/>
          <p:cNvCxnSpPr/>
          <p:nvPr/>
        </p:nvCxnSpPr>
        <p:spPr>
          <a:xfrm flipV="1">
            <a:off x="7406640" y="2971800"/>
            <a:ext cx="320040" cy="274320"/>
          </a:xfrm>
          <a:prstGeom prst="line">
            <a:avLst/>
          </a:prstGeom>
          <a:ln w="19050" cap="round">
            <a:solidFill>
              <a:srgbClr val="00A6D6"/>
            </a:solidFill>
          </a:ln>
        </p:spPr>
      </p:cxnSp>
      <p:cxnSp>
        <p:nvCxnSpPr>
          <p:cNvPr id="20" name="Line"/>
          <p:cNvCxnSpPr/>
          <p:nvPr/>
        </p:nvCxnSpPr>
        <p:spPr>
          <a:xfrm>
            <a:off x="7726680" y="2971800"/>
            <a:ext cx="320040" cy="548640"/>
          </a:xfrm>
          <a:prstGeom prst="line">
            <a:avLst/>
          </a:prstGeom>
          <a:ln w="19050" cap="round">
            <a:solidFill>
              <a:srgbClr val="00A6D6"/>
            </a:solidFill>
          </a:ln>
        </p:spPr>
      </p:cxnSp>
      <p:cxnSp>
        <p:nvCxnSpPr>
          <p:cNvPr id="21" name="Line"/>
          <p:cNvCxnSpPr/>
          <p:nvPr/>
        </p:nvCxnSpPr>
        <p:spPr>
          <a:xfrm flipV="1">
            <a:off x="8046720" y="2971800"/>
            <a:ext cx="320040" cy="548640"/>
          </a:xfrm>
          <a:prstGeom prst="line">
            <a:avLst/>
          </a:prstGeom>
          <a:ln w="19050" cap="round">
            <a:solidFill>
              <a:srgbClr val="00A6D6"/>
            </a:solidFill>
          </a:ln>
        </p:spPr>
      </p:cxnSp>
      <p:cxnSp>
        <p:nvCxnSpPr>
          <p:cNvPr id="22" name="Line"/>
          <p:cNvCxnSpPr/>
          <p:nvPr/>
        </p:nvCxnSpPr>
        <p:spPr>
          <a:xfrm>
            <a:off x="8366760" y="2971800"/>
            <a:ext cx="320040" cy="521208"/>
          </a:xfrm>
          <a:prstGeom prst="line">
            <a:avLst/>
          </a:prstGeom>
          <a:ln w="19050" cap="round">
            <a:solidFill>
              <a:srgbClr val="00A6D6"/>
            </a:solidFill>
          </a:ln>
        </p:spPr>
      </p:cxnSp>
      <p:cxnSp>
        <p:nvCxnSpPr>
          <p:cNvPr id="23" name="Line"/>
          <p:cNvCxnSpPr/>
          <p:nvPr/>
        </p:nvCxnSpPr>
        <p:spPr>
          <a:xfrm flipV="1">
            <a:off x="8686800" y="3054096"/>
            <a:ext cx="320040" cy="438912"/>
          </a:xfrm>
          <a:prstGeom prst="line">
            <a:avLst/>
          </a:prstGeom>
          <a:ln w="19050" cap="round">
            <a:solidFill>
              <a:srgbClr val="00A6D6"/>
            </a:solidFill>
          </a:ln>
        </p:spPr>
      </p:cxnSp>
      <p:cxnSp>
        <p:nvCxnSpPr>
          <p:cNvPr id="24" name="Line"/>
          <p:cNvCxnSpPr/>
          <p:nvPr/>
        </p:nvCxnSpPr>
        <p:spPr>
          <a:xfrm>
            <a:off x="9006840" y="3054096"/>
            <a:ext cx="320040" cy="256032"/>
          </a:xfrm>
          <a:prstGeom prst="line">
            <a:avLst/>
          </a:prstGeom>
          <a:ln w="19050" cap="round">
            <a:solidFill>
              <a:srgbClr val="00A6D6"/>
            </a:solidFill>
          </a:ln>
        </p:spPr>
      </p:cxnSp>
      <p:cxnSp>
        <p:nvCxnSpPr>
          <p:cNvPr id="25" name="Line"/>
          <p:cNvCxnSpPr/>
          <p:nvPr/>
        </p:nvCxnSpPr>
        <p:spPr>
          <a:xfrm flipV="1">
            <a:off x="9326880" y="3172968"/>
            <a:ext cx="320040" cy="137160"/>
          </a:xfrm>
          <a:prstGeom prst="line">
            <a:avLst/>
          </a:prstGeom>
          <a:ln w="19050" cap="round">
            <a:solidFill>
              <a:srgbClr val="00A6D6"/>
            </a:solidFill>
          </a:ln>
        </p:spPr>
      </p:cxnSp>
      <p:cxnSp>
        <p:nvCxnSpPr>
          <p:cNvPr id="26" name="Line"/>
          <p:cNvCxnSpPr/>
          <p:nvPr/>
        </p:nvCxnSpPr>
        <p:spPr>
          <a:xfrm>
            <a:off x="9646920" y="3172968"/>
            <a:ext cx="320040" cy="45720"/>
          </a:xfrm>
          <a:prstGeom prst="line">
            <a:avLst/>
          </a:prstGeom>
          <a:ln w="19050" cap="round">
            <a:solidFill>
              <a:srgbClr val="00A6D6"/>
            </a:solidFill>
          </a:ln>
        </p:spPr>
      </p:cxnSp>
      <p:cxnSp>
        <p:nvCxnSpPr>
          <p:cNvPr id="27" name="Line"/>
          <p:cNvCxnSpPr/>
          <p:nvPr/>
        </p:nvCxnSpPr>
        <p:spPr>
          <a:xfrm flipV="1">
            <a:off x="9966960" y="3136392"/>
            <a:ext cx="320040" cy="82296"/>
          </a:xfrm>
          <a:prstGeom prst="line">
            <a:avLst/>
          </a:prstGeom>
          <a:ln w="19050" cap="round">
            <a:solidFill>
              <a:srgbClr val="00A6D6"/>
            </a:solidFill>
          </a:ln>
        </p:spPr>
      </p:cxnSp>
      <p:sp>
        <p:nvSpPr>
          <p:cNvPr id="28" name="Text"/>
          <p:cNvSpPr txBox="1"/>
          <p:nvPr/>
        </p:nvSpPr>
        <p:spPr>
          <a:xfrm>
            <a:off x="7406640" y="3794760"/>
            <a:ext cx="3474720" cy="256032"/>
          </a:xfrm>
          <a:prstGeom prst="rect">
            <a:avLst/>
          </a:prstGeom>
          <a:noFill/>
          <a:ln>
            <a:noFill/>
          </a:ln>
        </p:spPr>
        <p:txBody>
          <a:bodyPr wrap="square" lIns="0" rIns="0" tIns="0" bIns="0"/>
          <a:lstStyle/>
          <a:p>
            <a:pPr algn="l">
              <a:lnSpc>
                <a:spcPct val="105000"/>
              </a:lnSpc>
            </a:pPr>
            <a:r>
              <a:rPr lang="en-US" sz="1300" dirty="0">
                <a:solidFill>
                  <a:srgbClr val="CBD5E1"/>
                </a:solidFill>
                <a:latin typeface="Aptos"/>
                <a:ea typeface="Aptos"/>
                <a:cs typeface="Aptos"/>
              </a:rPr>
              <a:t>Measurable heartbeat pattern</a:t>
            </a:r>
            <a:endParaRPr lang="en-US" sz="1300">
              <a:solidFill>
                <a:srgbClr val="CBD5E1"/>
              </a:solidFill>
              <a:latin typeface="Aptos"/>
            </a:endParaRPr>
          </a:p>
        </p:txBody>
      </p:sp>
      <p:sp>
        <p:nvSpPr>
          <p:cNvPr id="29"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CBD5E1"/>
                </a:solidFill>
                <a:latin typeface="Aptos"/>
                <a:ea typeface="Aptos"/>
                <a:cs typeface="Aptos"/>
              </a:rPr>
              <a:t>05/14</a:t>
            </a:r>
            <a:endParaRPr lang="en-US" sz="800">
              <a:solidFill>
                <a:srgbClr val="CBD5E1"/>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FFFFF">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System Architecture</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1:06-1:22</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sp>
        <p:nvSpPr>
          <p:cNvPr id="6" name="Text"/>
          <p:cNvSpPr txBox="1"/>
          <p:nvPr/>
        </p:nvSpPr>
        <p:spPr>
          <a:xfrm>
            <a:off x="685800" y="1143000"/>
            <a:ext cx="7680960" cy="384048"/>
          </a:xfrm>
          <a:prstGeom prst="rect">
            <a:avLst/>
          </a:prstGeom>
          <a:noFill/>
          <a:ln>
            <a:noFill/>
          </a:ln>
        </p:spPr>
        <p:txBody>
          <a:bodyPr wrap="square" lIns="0" rIns="0" tIns="0" bIns="0"/>
          <a:lstStyle/>
          <a:p>
            <a:pPr algn="l">
              <a:lnSpc>
                <a:spcPct val="105000"/>
              </a:lnSpc>
            </a:pPr>
            <a:r>
              <a:rPr lang="en-US" sz="2300" b="1" dirty="0">
                <a:solidFill>
                  <a:srgbClr val="111827"/>
                </a:solidFill>
                <a:latin typeface="Aptos"/>
                <a:ea typeface="Aptos"/>
                <a:cs typeface="Aptos"/>
              </a:rPr>
              <a:t>Radar front end to embedded visualization</a:t>
            </a:r>
            <a:endParaRPr lang="en-US" sz="2300">
              <a:solidFill>
                <a:srgbClr val="111827"/>
              </a:solidFill>
              <a:latin typeface="Aptos"/>
            </a:endParaRPr>
          </a:p>
        </p:txBody>
      </p:sp>
      <p:sp>
        <p:nvSpPr>
          <p:cNvPr id="7" name="Rectangle"/>
          <p:cNvSpPr/>
          <p:nvPr/>
        </p:nvSpPr>
        <p:spPr>
          <a:xfrm>
            <a:off x="777240" y="2240280"/>
            <a:ext cx="1508760" cy="960120"/>
          </a:xfrm>
          <a:prstGeom prst="rect">
            <a:avLst/>
          </a:prstGeom>
          <a:solidFill>
            <a:srgbClr val="EFF6FF">
              <a:alpha val="100000"/>
            </a:srgbClr>
          </a:solidFill>
          <a:ln w="19050">
            <a:solidFill>
              <a:srgbClr val="005EB8"/>
            </a:solidFill>
          </a:ln>
        </p:spPr>
      </p:sp>
      <p:sp>
        <p:nvSpPr>
          <p:cNvPr id="8" name="Text"/>
          <p:cNvSpPr txBox="1"/>
          <p:nvPr/>
        </p:nvSpPr>
        <p:spPr>
          <a:xfrm>
            <a:off x="886968" y="2496312"/>
            <a:ext cx="1289304" cy="365760"/>
          </a:xfrm>
          <a:prstGeom prst="rect">
            <a:avLst/>
          </a:prstGeom>
          <a:noFill/>
          <a:ln>
            <a:noFill/>
          </a:ln>
        </p:spPr>
        <p:txBody>
          <a:bodyPr wrap="square" lIns="0" rIns="0" tIns="0" bIns="0"/>
          <a:lstStyle/>
          <a:p>
            <a:pPr algn="c">
              <a:lnSpc>
                <a:spcPct val="105000"/>
              </a:lnSpc>
            </a:pPr>
            <a:r>
              <a:rPr lang="en-US" sz="1400" b="1" dirty="0">
                <a:solidFill>
                  <a:srgbClr val="111827"/>
                </a:solidFill>
                <a:latin typeface="Aptos"/>
                <a:ea typeface="Aptos"/>
                <a:cs typeface="Aptos"/>
              </a:rPr>
              <a:t>K-LC5</a:t>
            </a:r>
            <a:endParaRPr lang="en-US" sz="1400">
              <a:solidFill>
                <a:srgbClr val="111827"/>
              </a:solidFill>
              <a:latin typeface="Aptos"/>
            </a:endParaRPr>
          </a:p>
          <a:p>
            <a:pPr algn="c">
              <a:lnSpc>
                <a:spcPct val="105000"/>
              </a:lnSpc>
            </a:pPr>
            <a:r>
              <a:rPr lang="en-US" sz="1400" b="1" dirty="0">
                <a:solidFill>
                  <a:srgbClr val="111827"/>
                </a:solidFill>
                <a:latin typeface="Aptos"/>
                <a:ea typeface="Aptos"/>
                <a:cs typeface="Aptos"/>
              </a:rPr>
              <a:t>Radar</a:t>
            </a:r>
            <a:endParaRPr lang="en-US" sz="1400">
              <a:solidFill>
                <a:srgbClr val="111827"/>
              </a:solidFill>
              <a:latin typeface="Aptos"/>
            </a:endParaRPr>
          </a:p>
        </p:txBody>
      </p:sp>
      <p:sp>
        <p:nvSpPr>
          <p:cNvPr id="9" name="Rectangle"/>
          <p:cNvSpPr/>
          <p:nvPr/>
        </p:nvSpPr>
        <p:spPr>
          <a:xfrm>
            <a:off x="3154680" y="2240280"/>
            <a:ext cx="1508760" cy="960120"/>
          </a:xfrm>
          <a:prstGeom prst="rect">
            <a:avLst/>
          </a:prstGeom>
          <a:solidFill>
            <a:srgbClr val="EFF6FF">
              <a:alpha val="100000"/>
            </a:srgbClr>
          </a:solidFill>
          <a:ln w="19050">
            <a:solidFill>
              <a:srgbClr val="005EB8"/>
            </a:solidFill>
          </a:ln>
        </p:spPr>
      </p:sp>
      <p:sp>
        <p:nvSpPr>
          <p:cNvPr id="10" name="Text"/>
          <p:cNvSpPr txBox="1"/>
          <p:nvPr/>
        </p:nvSpPr>
        <p:spPr>
          <a:xfrm>
            <a:off x="3264408" y="2496312"/>
            <a:ext cx="1289304" cy="365760"/>
          </a:xfrm>
          <a:prstGeom prst="rect">
            <a:avLst/>
          </a:prstGeom>
          <a:noFill/>
          <a:ln>
            <a:noFill/>
          </a:ln>
        </p:spPr>
        <p:txBody>
          <a:bodyPr wrap="square" lIns="0" rIns="0" tIns="0" bIns="0"/>
          <a:lstStyle/>
          <a:p>
            <a:pPr algn="c">
              <a:lnSpc>
                <a:spcPct val="105000"/>
              </a:lnSpc>
            </a:pPr>
            <a:r>
              <a:rPr lang="en-US" sz="1400" b="1" dirty="0">
                <a:solidFill>
                  <a:srgbClr val="111827"/>
                </a:solidFill>
                <a:latin typeface="Aptos"/>
                <a:ea typeface="Aptos"/>
                <a:cs typeface="Aptos"/>
              </a:rPr>
              <a:t>Analog</a:t>
            </a:r>
            <a:endParaRPr lang="en-US" sz="1400">
              <a:solidFill>
                <a:srgbClr val="111827"/>
              </a:solidFill>
              <a:latin typeface="Aptos"/>
            </a:endParaRPr>
          </a:p>
          <a:p>
            <a:pPr algn="c">
              <a:lnSpc>
                <a:spcPct val="105000"/>
              </a:lnSpc>
            </a:pPr>
            <a:r>
              <a:rPr lang="en-US" sz="1400" b="1" dirty="0">
                <a:solidFill>
                  <a:srgbClr val="111827"/>
                </a:solidFill>
                <a:latin typeface="Aptos"/>
                <a:ea typeface="Aptos"/>
                <a:cs typeface="Aptos"/>
              </a:rPr>
              <a:t>Front End</a:t>
            </a:r>
            <a:endParaRPr lang="en-US" sz="1400">
              <a:solidFill>
                <a:srgbClr val="111827"/>
              </a:solidFill>
              <a:latin typeface="Aptos"/>
            </a:endParaRPr>
          </a:p>
        </p:txBody>
      </p:sp>
      <p:sp>
        <p:nvSpPr>
          <p:cNvPr id="11" name="Rectangle"/>
          <p:cNvSpPr/>
          <p:nvPr/>
        </p:nvSpPr>
        <p:spPr>
          <a:xfrm>
            <a:off x="5532120" y="2240280"/>
            <a:ext cx="1508760" cy="960120"/>
          </a:xfrm>
          <a:prstGeom prst="rect">
            <a:avLst/>
          </a:prstGeom>
          <a:solidFill>
            <a:srgbClr val="EFF6FF">
              <a:alpha val="100000"/>
            </a:srgbClr>
          </a:solidFill>
          <a:ln w="19050">
            <a:solidFill>
              <a:srgbClr val="005EB8"/>
            </a:solidFill>
          </a:ln>
        </p:spPr>
      </p:sp>
      <p:sp>
        <p:nvSpPr>
          <p:cNvPr id="12" name="Text"/>
          <p:cNvSpPr txBox="1"/>
          <p:nvPr/>
        </p:nvSpPr>
        <p:spPr>
          <a:xfrm>
            <a:off x="5641848" y="2496312"/>
            <a:ext cx="1289304" cy="365760"/>
          </a:xfrm>
          <a:prstGeom prst="rect">
            <a:avLst/>
          </a:prstGeom>
          <a:noFill/>
          <a:ln>
            <a:noFill/>
          </a:ln>
        </p:spPr>
        <p:txBody>
          <a:bodyPr wrap="square" lIns="0" rIns="0" tIns="0" bIns="0"/>
          <a:lstStyle/>
          <a:p>
            <a:pPr algn="c">
              <a:lnSpc>
                <a:spcPct val="105000"/>
              </a:lnSpc>
            </a:pPr>
            <a:r>
              <a:rPr lang="en-US" sz="1400" b="1" dirty="0">
                <a:solidFill>
                  <a:srgbClr val="111827"/>
                </a:solidFill>
                <a:latin typeface="Aptos"/>
                <a:ea typeface="Aptos"/>
                <a:cs typeface="Aptos"/>
              </a:rPr>
              <a:t>STM32F429</a:t>
            </a:r>
            <a:endParaRPr lang="en-US" sz="1400">
              <a:solidFill>
                <a:srgbClr val="111827"/>
              </a:solidFill>
              <a:latin typeface="Aptos"/>
            </a:endParaRPr>
          </a:p>
          <a:p>
            <a:pPr algn="c">
              <a:lnSpc>
                <a:spcPct val="105000"/>
              </a:lnSpc>
            </a:pPr>
            <a:r>
              <a:rPr lang="en-US" sz="1400" b="1" dirty="0">
                <a:solidFill>
                  <a:srgbClr val="111827"/>
                </a:solidFill>
                <a:latin typeface="Aptos"/>
                <a:ea typeface="Aptos"/>
                <a:cs typeface="Aptos"/>
              </a:rPr>
              <a:t>Discovery</a:t>
            </a:r>
            <a:endParaRPr lang="en-US" sz="1400">
              <a:solidFill>
                <a:srgbClr val="111827"/>
              </a:solidFill>
              <a:latin typeface="Aptos"/>
            </a:endParaRPr>
          </a:p>
        </p:txBody>
      </p:sp>
      <p:sp>
        <p:nvSpPr>
          <p:cNvPr id="13" name="Rectangle"/>
          <p:cNvSpPr/>
          <p:nvPr/>
        </p:nvSpPr>
        <p:spPr>
          <a:xfrm>
            <a:off x="7909560" y="2240280"/>
            <a:ext cx="1508760" cy="960120"/>
          </a:xfrm>
          <a:prstGeom prst="rect">
            <a:avLst/>
          </a:prstGeom>
          <a:solidFill>
            <a:srgbClr val="EFF6FF">
              <a:alpha val="100000"/>
            </a:srgbClr>
          </a:solidFill>
          <a:ln w="19050">
            <a:solidFill>
              <a:srgbClr val="005EB8"/>
            </a:solidFill>
          </a:ln>
        </p:spPr>
      </p:sp>
      <p:sp>
        <p:nvSpPr>
          <p:cNvPr id="14" name="Text"/>
          <p:cNvSpPr txBox="1"/>
          <p:nvPr/>
        </p:nvSpPr>
        <p:spPr>
          <a:xfrm>
            <a:off x="8019288" y="2496312"/>
            <a:ext cx="1289304" cy="365760"/>
          </a:xfrm>
          <a:prstGeom prst="rect">
            <a:avLst/>
          </a:prstGeom>
          <a:noFill/>
          <a:ln>
            <a:noFill/>
          </a:ln>
        </p:spPr>
        <p:txBody>
          <a:bodyPr wrap="square" lIns="0" rIns="0" tIns="0" bIns="0"/>
          <a:lstStyle/>
          <a:p>
            <a:pPr algn="c">
              <a:lnSpc>
                <a:spcPct val="105000"/>
              </a:lnSpc>
            </a:pPr>
            <a:r>
              <a:rPr lang="en-US" sz="1400" b="1" dirty="0">
                <a:solidFill>
                  <a:srgbClr val="111827"/>
                </a:solidFill>
                <a:latin typeface="Aptos"/>
                <a:ea typeface="Aptos"/>
                <a:cs typeface="Aptos"/>
              </a:rPr>
              <a:t>LCD</a:t>
            </a:r>
            <a:endParaRPr lang="en-US" sz="1400">
              <a:solidFill>
                <a:srgbClr val="111827"/>
              </a:solidFill>
              <a:latin typeface="Aptos"/>
            </a:endParaRPr>
          </a:p>
          <a:p>
            <a:pPr algn="c">
              <a:lnSpc>
                <a:spcPct val="105000"/>
              </a:lnSpc>
            </a:pPr>
            <a:r>
              <a:rPr lang="en-US" sz="1400" b="1" dirty="0">
                <a:solidFill>
                  <a:srgbClr val="111827"/>
                </a:solidFill>
                <a:latin typeface="Aptos"/>
                <a:ea typeface="Aptos"/>
                <a:cs typeface="Aptos"/>
              </a:rPr>
              <a:t>Touchscreen</a:t>
            </a:r>
            <a:endParaRPr lang="en-US" sz="1400">
              <a:solidFill>
                <a:srgbClr val="111827"/>
              </a:solidFill>
              <a:latin typeface="Aptos"/>
            </a:endParaRPr>
          </a:p>
        </p:txBody>
      </p:sp>
      <p:sp>
        <p:nvSpPr>
          <p:cNvPr id="15" name="Rectangle"/>
          <p:cNvSpPr/>
          <p:nvPr/>
        </p:nvSpPr>
        <p:spPr>
          <a:xfrm>
            <a:off x="10058400" y="2240280"/>
            <a:ext cx="1508760" cy="960120"/>
          </a:xfrm>
          <a:prstGeom prst="rect">
            <a:avLst/>
          </a:prstGeom>
          <a:solidFill>
            <a:srgbClr val="FEF3C7">
              <a:alpha val="100000"/>
            </a:srgbClr>
          </a:solidFill>
          <a:ln w="19050">
            <a:solidFill>
              <a:srgbClr val="F59E0B"/>
            </a:solidFill>
          </a:ln>
        </p:spPr>
      </p:sp>
      <p:sp>
        <p:nvSpPr>
          <p:cNvPr id="16" name="Text"/>
          <p:cNvSpPr txBox="1"/>
          <p:nvPr/>
        </p:nvSpPr>
        <p:spPr>
          <a:xfrm>
            <a:off x="10168128" y="2496312"/>
            <a:ext cx="1289304" cy="365760"/>
          </a:xfrm>
          <a:prstGeom prst="rect">
            <a:avLst/>
          </a:prstGeom>
          <a:noFill/>
          <a:ln>
            <a:noFill/>
          </a:ln>
        </p:spPr>
        <p:txBody>
          <a:bodyPr wrap="square" lIns="0" rIns="0" tIns="0" bIns="0"/>
          <a:lstStyle/>
          <a:p>
            <a:pPr algn="c">
              <a:lnSpc>
                <a:spcPct val="105000"/>
              </a:lnSpc>
            </a:pPr>
            <a:r>
              <a:rPr lang="en-US" sz="1400" b="1" dirty="0">
                <a:solidFill>
                  <a:srgbClr val="111827"/>
                </a:solidFill>
                <a:latin typeface="Aptos"/>
                <a:ea typeface="Aptos"/>
                <a:cs typeface="Aptos"/>
              </a:rPr>
              <a:t>OpenLog</a:t>
            </a:r>
            <a:endParaRPr lang="en-US" sz="1400">
              <a:solidFill>
                <a:srgbClr val="111827"/>
              </a:solidFill>
              <a:latin typeface="Aptos"/>
            </a:endParaRPr>
          </a:p>
          <a:p>
            <a:pPr algn="c">
              <a:lnSpc>
                <a:spcPct val="105000"/>
              </a:lnSpc>
            </a:pPr>
            <a:r>
              <a:rPr lang="en-US" sz="1400" b="1" dirty="0">
                <a:solidFill>
                  <a:srgbClr val="111827"/>
                </a:solidFill>
                <a:latin typeface="Aptos"/>
                <a:ea typeface="Aptos"/>
                <a:cs typeface="Aptos"/>
              </a:rPr>
              <a:t>SD Card</a:t>
            </a:r>
            <a:endParaRPr lang="en-US" sz="1400">
              <a:solidFill>
                <a:srgbClr val="111827"/>
              </a:solidFill>
              <a:latin typeface="Aptos"/>
            </a:endParaRPr>
          </a:p>
        </p:txBody>
      </p:sp>
      <p:cxnSp>
        <p:nvCxnSpPr>
          <p:cNvPr id="17" name="Line"/>
          <p:cNvCxnSpPr/>
          <p:nvPr/>
        </p:nvCxnSpPr>
        <p:spPr>
          <a:xfrm>
            <a:off x="2304288" y="2715768"/>
            <a:ext cx="658368" cy="0"/>
          </a:xfrm>
          <a:prstGeom prst="line">
            <a:avLst/>
          </a:prstGeom>
          <a:ln w="25400" cap="round">
            <a:solidFill>
              <a:srgbClr val="005EB8"/>
            </a:solidFill>
            <a:tailEnd type="triangle"/>
          </a:ln>
        </p:spPr>
      </p:cxnSp>
      <p:cxnSp>
        <p:nvCxnSpPr>
          <p:cNvPr id="18" name="Line"/>
          <p:cNvCxnSpPr/>
          <p:nvPr/>
        </p:nvCxnSpPr>
        <p:spPr>
          <a:xfrm>
            <a:off x="4681728" y="2715768"/>
            <a:ext cx="658368" cy="0"/>
          </a:xfrm>
          <a:prstGeom prst="line">
            <a:avLst/>
          </a:prstGeom>
          <a:ln w="25400" cap="round">
            <a:solidFill>
              <a:srgbClr val="005EB8"/>
            </a:solidFill>
            <a:tailEnd type="triangle"/>
          </a:ln>
        </p:spPr>
      </p:cxnSp>
      <p:cxnSp>
        <p:nvCxnSpPr>
          <p:cNvPr id="19" name="Line"/>
          <p:cNvCxnSpPr/>
          <p:nvPr/>
        </p:nvCxnSpPr>
        <p:spPr>
          <a:xfrm>
            <a:off x="7059168" y="2715768"/>
            <a:ext cx="658368" cy="0"/>
          </a:xfrm>
          <a:prstGeom prst="line">
            <a:avLst/>
          </a:prstGeom>
          <a:ln w="25400" cap="round">
            <a:solidFill>
              <a:srgbClr val="005EB8"/>
            </a:solidFill>
            <a:tailEnd type="triangle"/>
          </a:ln>
        </p:spPr>
      </p:cxnSp>
      <p:cxnSp>
        <p:nvCxnSpPr>
          <p:cNvPr id="20" name="Line"/>
          <p:cNvCxnSpPr/>
          <p:nvPr/>
        </p:nvCxnSpPr>
        <p:spPr>
          <a:xfrm>
            <a:off x="9400032" y="2715768"/>
            <a:ext cx="658368" cy="0"/>
          </a:xfrm>
          <a:prstGeom prst="line">
            <a:avLst/>
          </a:prstGeom>
          <a:ln w="25400" cap="round">
            <a:solidFill>
              <a:srgbClr val="005EB8"/>
            </a:solidFill>
            <a:tailEnd type="triangle"/>
          </a:ln>
        </p:spPr>
      </p:cxnSp>
      <p:sp>
        <p:nvSpPr>
          <p:cNvPr id="21" name="Text"/>
          <p:cNvSpPr txBox="1"/>
          <p:nvPr/>
        </p:nvSpPr>
        <p:spPr>
          <a:xfrm>
            <a:off x="777240" y="4160520"/>
            <a:ext cx="3931920" cy="310896"/>
          </a:xfrm>
          <a:prstGeom prst="rect">
            <a:avLst/>
          </a:prstGeom>
          <a:noFill/>
          <a:ln>
            <a:noFill/>
          </a:ln>
        </p:spPr>
        <p:txBody>
          <a:bodyPr wrap="square" lIns="0" rIns="0" tIns="0" bIns="0"/>
          <a:lstStyle/>
          <a:p>
            <a:pPr algn="l">
              <a:lnSpc>
                <a:spcPct val="105000"/>
              </a:lnSpc>
            </a:pPr>
            <a:r>
              <a:rPr lang="en-US" sz="1600" b="1" dirty="0">
                <a:solidFill>
                  <a:srgbClr val="005EB8"/>
                </a:solidFill>
                <a:latin typeface="Aptos"/>
                <a:ea typeface="Aptos"/>
                <a:cs typeface="Aptos"/>
              </a:rPr>
              <a:t>I/Q acquisition</a:t>
            </a:r>
            <a:endParaRPr lang="en-US" sz="1600">
              <a:solidFill>
                <a:srgbClr val="005EB8"/>
              </a:solidFill>
              <a:latin typeface="Aptos"/>
            </a:endParaRPr>
          </a:p>
        </p:txBody>
      </p:sp>
      <p:sp>
        <p:nvSpPr>
          <p:cNvPr id="22" name="Text"/>
          <p:cNvSpPr txBox="1"/>
          <p:nvPr/>
        </p:nvSpPr>
        <p:spPr>
          <a:xfrm>
            <a:off x="3886200" y="4160520"/>
            <a:ext cx="3840480" cy="310896"/>
          </a:xfrm>
          <a:prstGeom prst="rect">
            <a:avLst/>
          </a:prstGeom>
          <a:noFill/>
          <a:ln>
            <a:noFill/>
          </a:ln>
        </p:spPr>
        <p:txBody>
          <a:bodyPr wrap="square" lIns="0" rIns="0" tIns="0" bIns="0"/>
          <a:lstStyle/>
          <a:p>
            <a:pPr algn="l">
              <a:lnSpc>
                <a:spcPct val="105000"/>
              </a:lnSpc>
            </a:pPr>
            <a:r>
              <a:rPr lang="en-US" sz="1600" b="1" dirty="0">
                <a:solidFill>
                  <a:srgbClr val="00A6D6"/>
                </a:solidFill>
                <a:latin typeface="Aptos"/>
                <a:ea typeface="Aptos"/>
                <a:cs typeface="Aptos"/>
              </a:rPr>
              <a:t>Real-time processing</a:t>
            </a:r>
            <a:endParaRPr lang="en-US" sz="1600">
              <a:solidFill>
                <a:srgbClr val="00A6D6"/>
              </a:solidFill>
              <a:latin typeface="Aptos"/>
            </a:endParaRPr>
          </a:p>
        </p:txBody>
      </p:sp>
      <p:sp>
        <p:nvSpPr>
          <p:cNvPr id="23" name="Text"/>
          <p:cNvSpPr txBox="1"/>
          <p:nvPr/>
        </p:nvSpPr>
        <p:spPr>
          <a:xfrm>
            <a:off x="7132320" y="4160520"/>
            <a:ext cx="3931920" cy="310896"/>
          </a:xfrm>
          <a:prstGeom prst="rect">
            <a:avLst/>
          </a:prstGeom>
          <a:noFill/>
          <a:ln>
            <a:noFill/>
          </a:ln>
        </p:spPr>
        <p:txBody>
          <a:bodyPr wrap="square" lIns="0" rIns="0" tIns="0" bIns="0"/>
          <a:lstStyle/>
          <a:p>
            <a:pPr algn="l">
              <a:lnSpc>
                <a:spcPct val="105000"/>
              </a:lnSpc>
            </a:pPr>
            <a:r>
              <a:rPr lang="en-US" sz="1600" b="1" dirty="0">
                <a:solidFill>
                  <a:srgbClr val="F59E0B"/>
                </a:solidFill>
                <a:latin typeface="Aptos"/>
                <a:ea typeface="Aptos"/>
                <a:cs typeface="Aptos"/>
              </a:rPr>
              <a:t>Touch UI + logging</a:t>
            </a:r>
            <a:endParaRPr lang="en-US" sz="1600">
              <a:solidFill>
                <a:srgbClr val="F59E0B"/>
              </a:solidFill>
              <a:latin typeface="Aptos"/>
            </a:endParaRPr>
          </a:p>
        </p:txBody>
      </p:sp>
      <p:sp>
        <p:nvSpPr>
          <p:cNvPr id="24"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06/14</a:t>
            </a:r>
            <a:endParaRPr lang="en-US" sz="800">
              <a:solidFill>
                <a:srgbClr val="9CA3AF"/>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8FAFC">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Standalone Demonstration</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1:23-1:39</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sp>
        <p:nvSpPr>
          <p:cNvPr id="6" name="Rectangle"/>
          <p:cNvSpPr/>
          <p:nvPr/>
        </p:nvSpPr>
        <p:spPr>
          <a:xfrm>
            <a:off x="685800" y="1234440"/>
            <a:ext cx="7543800" cy="4434840"/>
          </a:xfrm>
          <a:prstGeom prst="rect">
            <a:avLst/>
          </a:prstGeom>
          <a:solidFill>
            <a:srgbClr val="111827">
              <a:alpha val="100000"/>
            </a:srgbClr>
          </a:solidFill>
          <a:ln w="25400">
            <a:solidFill>
              <a:srgbClr val="00A6D6"/>
            </a:solidFill>
          </a:ln>
        </p:spPr>
      </p:sp>
      <p:sp>
        <p:nvSpPr>
          <p:cNvPr id="7" name="Rectangle"/>
          <p:cNvSpPr/>
          <p:nvPr/>
        </p:nvSpPr>
        <p:spPr>
          <a:xfrm>
            <a:off x="813816" y="1362456"/>
            <a:ext cx="7287768" cy="4178808"/>
          </a:xfrm>
          <a:prstGeom prst="rect">
            <a:avLst/>
          </a:prstGeom>
          <a:solidFill>
            <a:srgbClr val="1F2937">
              <a:alpha val="100000"/>
            </a:srgbClr>
          </a:solidFill>
          <a:ln>
            <a:noFill/>
          </a:ln>
        </p:spPr>
      </p:sp>
      <p:sp>
        <p:nvSpPr>
          <p:cNvPr id="8" name="Triangle"/>
          <p:cNvSpPr/>
          <p:nvPr/>
        </p:nvSpPr>
        <p:spPr>
          <a:xfrm rot="5400000">
            <a:off x="4256532" y="3177540"/>
            <a:ext cx="457200" cy="548640"/>
          </a:xfrm>
          <a:prstGeom prst="triangle">
            <a:avLst/>
          </a:prstGeom>
          <a:solidFill>
            <a:srgbClr val="FFFFFF">
              <a:alpha val="90000"/>
            </a:srgbClr>
          </a:solidFill>
          <a:ln>
            <a:noFill/>
          </a:ln>
        </p:spPr>
      </p:sp>
      <p:sp>
        <p:nvSpPr>
          <p:cNvPr id="9" name="Text"/>
          <p:cNvSpPr txBox="1"/>
          <p:nvPr/>
        </p:nvSpPr>
        <p:spPr>
          <a:xfrm>
            <a:off x="1005840" y="1490472"/>
            <a:ext cx="6903720" cy="256032"/>
          </a:xfrm>
          <a:prstGeom prst="rect">
            <a:avLst/>
          </a:prstGeom>
          <a:noFill/>
          <a:ln>
            <a:noFill/>
          </a:ln>
        </p:spPr>
        <p:txBody>
          <a:bodyPr wrap="square" lIns="0" rIns="0" tIns="0" bIns="0"/>
          <a:lstStyle/>
          <a:p>
            <a:pPr algn="c">
              <a:lnSpc>
                <a:spcPct val="105000"/>
              </a:lnSpc>
            </a:pPr>
            <a:r>
              <a:rPr lang="en-US" sz="1100" b="1" dirty="0">
                <a:solidFill>
                  <a:srgbClr val="93C5FD"/>
                </a:solidFill>
                <a:latin typeface="Aptos"/>
                <a:ea typeface="Aptos"/>
                <a:cs typeface="Aptos"/>
              </a:rPr>
              <a:t>VIDEO PLACEHOLDER</a:t>
            </a:r>
            <a:endParaRPr lang="en-US" sz="1100">
              <a:solidFill>
                <a:srgbClr val="93C5FD"/>
              </a:solidFill>
              <a:latin typeface="Aptos"/>
            </a:endParaRPr>
          </a:p>
        </p:txBody>
      </p:sp>
      <p:sp>
        <p:nvSpPr>
          <p:cNvPr id="10" name="Text"/>
          <p:cNvSpPr txBox="1"/>
          <p:nvPr/>
        </p:nvSpPr>
        <p:spPr>
          <a:xfrm>
            <a:off x="1097280" y="4846320"/>
            <a:ext cx="6720840" cy="292608"/>
          </a:xfrm>
          <a:prstGeom prst="rect">
            <a:avLst/>
          </a:prstGeom>
          <a:noFill/>
          <a:ln>
            <a:noFill/>
          </a:ln>
        </p:spPr>
        <p:txBody>
          <a:bodyPr wrap="square" lIns="0" rIns="0" tIns="0" bIns="0"/>
          <a:lstStyle/>
          <a:p>
            <a:pPr algn="c">
              <a:lnSpc>
                <a:spcPct val="105000"/>
              </a:lnSpc>
            </a:pPr>
            <a:r>
              <a:rPr lang="en-US" sz="1600" b="1" dirty="0">
                <a:solidFill>
                  <a:srgbClr val="FFFFFF"/>
                </a:solidFill>
                <a:latin typeface="Aptos"/>
                <a:ea typeface="Aptos"/>
                <a:cs typeface="Aptos"/>
              </a:rPr>
              <a:t>Live board operation</a:t>
            </a:r>
            <a:endParaRPr lang="en-US" sz="1600">
              <a:solidFill>
                <a:srgbClr val="FFFFFF"/>
              </a:solidFill>
              <a:latin typeface="Aptos"/>
            </a:endParaRPr>
          </a:p>
        </p:txBody>
      </p:sp>
      <p:sp>
        <p:nvSpPr>
          <p:cNvPr id="11" name="Text"/>
          <p:cNvSpPr txBox="1"/>
          <p:nvPr/>
        </p:nvSpPr>
        <p:spPr>
          <a:xfrm>
            <a:off x="1097280" y="5184648"/>
            <a:ext cx="6720840" cy="219456"/>
          </a:xfrm>
          <a:prstGeom prst="rect">
            <a:avLst/>
          </a:prstGeom>
          <a:noFill/>
          <a:ln>
            <a:noFill/>
          </a:ln>
        </p:spPr>
        <p:txBody>
          <a:bodyPr wrap="square" lIns="0" rIns="0" tIns="0" bIns="0"/>
          <a:lstStyle/>
          <a:p>
            <a:pPr algn="c">
              <a:lnSpc>
                <a:spcPct val="105000"/>
              </a:lnSpc>
            </a:pPr>
            <a:r>
              <a:rPr lang="en-US" sz="900" dirty="0">
                <a:solidFill>
                  <a:srgbClr val="CBD5E1"/>
                </a:solidFill>
                <a:latin typeface="Aptos"/>
                <a:ea typeface="Aptos"/>
                <a:cs typeface="Aptos"/>
              </a:rPr>
              <a:t>Insert clip: STM32 + LCD running without external PC</a:t>
            </a:r>
            <a:endParaRPr lang="en-US" sz="900">
              <a:solidFill>
                <a:srgbClr val="CBD5E1"/>
              </a:solidFill>
              <a:latin typeface="Aptos"/>
            </a:endParaRPr>
          </a:p>
        </p:txBody>
      </p:sp>
      <p:sp>
        <p:nvSpPr>
          <p:cNvPr id="12" name="Text"/>
          <p:cNvSpPr txBox="1"/>
          <p:nvPr/>
        </p:nvSpPr>
        <p:spPr>
          <a:xfrm>
            <a:off x="8641080" y="1417320"/>
            <a:ext cx="2651760" cy="475488"/>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Show in this clip</a:t>
            </a:r>
            <a:endParaRPr lang="en-US" sz="1900">
              <a:solidFill>
                <a:srgbClr val="111827"/>
              </a:solidFill>
              <a:latin typeface="Aptos"/>
            </a:endParaRPr>
          </a:p>
        </p:txBody>
      </p:sp>
      <p:sp>
        <p:nvSpPr>
          <p:cNvPr id="13" name="Rectangle"/>
          <p:cNvSpPr/>
          <p:nvPr/>
        </p:nvSpPr>
        <p:spPr>
          <a:xfrm>
            <a:off x="8705088" y="2148840"/>
            <a:ext cx="164592" cy="164592"/>
          </a:xfrm>
          <a:prstGeom prst="rect">
            <a:avLst/>
          </a:prstGeom>
          <a:solidFill>
            <a:srgbClr val="00A6D6">
              <a:alpha val="100000"/>
            </a:srgbClr>
          </a:solidFill>
          <a:ln>
            <a:noFill/>
          </a:ln>
        </p:spPr>
      </p:sp>
      <p:sp>
        <p:nvSpPr>
          <p:cNvPr id="14" name="Text"/>
          <p:cNvSpPr txBox="1"/>
          <p:nvPr/>
        </p:nvSpPr>
        <p:spPr>
          <a:xfrm>
            <a:off x="9006840" y="2084832"/>
            <a:ext cx="2331720" cy="237744"/>
          </a:xfrm>
          <a:prstGeom prst="rect">
            <a:avLst/>
          </a:prstGeom>
          <a:noFill/>
          <a:ln>
            <a:noFill/>
          </a:ln>
        </p:spPr>
        <p:txBody>
          <a:bodyPr wrap="square" lIns="0" rIns="0" tIns="0" bIns="0"/>
          <a:lstStyle/>
          <a:p>
            <a:pPr algn="l">
              <a:lnSpc>
                <a:spcPct val="105000"/>
              </a:lnSpc>
            </a:pPr>
            <a:r>
              <a:rPr lang="en-US" sz="1300" b="1" dirty="0">
                <a:solidFill>
                  <a:srgbClr val="111827"/>
                </a:solidFill>
                <a:latin typeface="Aptos"/>
                <a:ea typeface="Aptos"/>
                <a:cs typeface="Aptos"/>
              </a:rPr>
              <a:t>Standalone operation</a:t>
            </a:r>
            <a:endParaRPr lang="en-US" sz="1300">
              <a:solidFill>
                <a:srgbClr val="111827"/>
              </a:solidFill>
              <a:latin typeface="Aptos"/>
            </a:endParaRPr>
          </a:p>
        </p:txBody>
      </p:sp>
      <p:sp>
        <p:nvSpPr>
          <p:cNvPr id="15" name="Rectangle"/>
          <p:cNvSpPr/>
          <p:nvPr/>
        </p:nvSpPr>
        <p:spPr>
          <a:xfrm>
            <a:off x="8705088" y="2715768"/>
            <a:ext cx="164592" cy="164592"/>
          </a:xfrm>
          <a:prstGeom prst="rect">
            <a:avLst/>
          </a:prstGeom>
          <a:solidFill>
            <a:srgbClr val="00A6D6">
              <a:alpha val="100000"/>
            </a:srgbClr>
          </a:solidFill>
          <a:ln>
            <a:noFill/>
          </a:ln>
        </p:spPr>
      </p:sp>
      <p:sp>
        <p:nvSpPr>
          <p:cNvPr id="16" name="Text"/>
          <p:cNvSpPr txBox="1"/>
          <p:nvPr/>
        </p:nvSpPr>
        <p:spPr>
          <a:xfrm>
            <a:off x="9006840" y="2651760"/>
            <a:ext cx="2331720" cy="237744"/>
          </a:xfrm>
          <a:prstGeom prst="rect">
            <a:avLst/>
          </a:prstGeom>
          <a:noFill/>
          <a:ln>
            <a:noFill/>
          </a:ln>
        </p:spPr>
        <p:txBody>
          <a:bodyPr wrap="square" lIns="0" rIns="0" tIns="0" bIns="0"/>
          <a:lstStyle/>
          <a:p>
            <a:pPr algn="l">
              <a:lnSpc>
                <a:spcPct val="105000"/>
              </a:lnSpc>
            </a:pPr>
            <a:r>
              <a:rPr lang="en-US" sz="1300" b="1" dirty="0">
                <a:solidFill>
                  <a:srgbClr val="111827"/>
                </a:solidFill>
                <a:latin typeface="Aptos"/>
                <a:ea typeface="Aptos"/>
                <a:cs typeface="Aptos"/>
              </a:rPr>
              <a:t>Heart-rate display</a:t>
            </a:r>
            <a:endParaRPr lang="en-US" sz="1300">
              <a:solidFill>
                <a:srgbClr val="111827"/>
              </a:solidFill>
              <a:latin typeface="Aptos"/>
            </a:endParaRPr>
          </a:p>
        </p:txBody>
      </p:sp>
      <p:sp>
        <p:nvSpPr>
          <p:cNvPr id="17" name="Rectangle"/>
          <p:cNvSpPr/>
          <p:nvPr/>
        </p:nvSpPr>
        <p:spPr>
          <a:xfrm>
            <a:off x="8705088" y="3282696"/>
            <a:ext cx="164592" cy="164592"/>
          </a:xfrm>
          <a:prstGeom prst="rect">
            <a:avLst/>
          </a:prstGeom>
          <a:solidFill>
            <a:srgbClr val="F59E0B">
              <a:alpha val="100000"/>
            </a:srgbClr>
          </a:solidFill>
          <a:ln>
            <a:noFill/>
          </a:ln>
        </p:spPr>
      </p:sp>
      <p:sp>
        <p:nvSpPr>
          <p:cNvPr id="18" name="Text"/>
          <p:cNvSpPr txBox="1"/>
          <p:nvPr/>
        </p:nvSpPr>
        <p:spPr>
          <a:xfrm>
            <a:off x="9006840" y="3218688"/>
            <a:ext cx="2331720" cy="237744"/>
          </a:xfrm>
          <a:prstGeom prst="rect">
            <a:avLst/>
          </a:prstGeom>
          <a:noFill/>
          <a:ln>
            <a:noFill/>
          </a:ln>
        </p:spPr>
        <p:txBody>
          <a:bodyPr wrap="square" lIns="0" rIns="0" tIns="0" bIns="0"/>
          <a:lstStyle/>
          <a:p>
            <a:pPr algn="l">
              <a:lnSpc>
                <a:spcPct val="105000"/>
              </a:lnSpc>
            </a:pPr>
            <a:r>
              <a:rPr lang="en-US" sz="1300" b="1" dirty="0">
                <a:solidFill>
                  <a:srgbClr val="111827"/>
                </a:solidFill>
                <a:latin typeface="Aptos"/>
                <a:ea typeface="Aptos"/>
                <a:cs typeface="Aptos"/>
              </a:rPr>
              <a:t>OpenLog close-up</a:t>
            </a:r>
            <a:endParaRPr lang="en-US" sz="1300">
              <a:solidFill>
                <a:srgbClr val="111827"/>
              </a:solidFill>
              <a:latin typeface="Aptos"/>
            </a:endParaRPr>
          </a:p>
        </p:txBody>
      </p:sp>
      <p:sp>
        <p:nvSpPr>
          <p:cNvPr id="19" name="Rectangle"/>
          <p:cNvSpPr/>
          <p:nvPr/>
        </p:nvSpPr>
        <p:spPr>
          <a:xfrm>
            <a:off x="8705088" y="3849624"/>
            <a:ext cx="164592" cy="164592"/>
          </a:xfrm>
          <a:prstGeom prst="rect">
            <a:avLst/>
          </a:prstGeom>
          <a:solidFill>
            <a:srgbClr val="F59E0B">
              <a:alpha val="100000"/>
            </a:srgbClr>
          </a:solidFill>
          <a:ln>
            <a:noFill/>
          </a:ln>
        </p:spPr>
      </p:sp>
      <p:sp>
        <p:nvSpPr>
          <p:cNvPr id="20" name="Text"/>
          <p:cNvSpPr txBox="1"/>
          <p:nvPr/>
        </p:nvSpPr>
        <p:spPr>
          <a:xfrm>
            <a:off x="9006840" y="3785616"/>
            <a:ext cx="2331720" cy="237744"/>
          </a:xfrm>
          <a:prstGeom prst="rect">
            <a:avLst/>
          </a:prstGeom>
          <a:noFill/>
          <a:ln>
            <a:noFill/>
          </a:ln>
        </p:spPr>
        <p:txBody>
          <a:bodyPr wrap="square" lIns="0" rIns="0" tIns="0" bIns="0"/>
          <a:lstStyle/>
          <a:p>
            <a:pPr algn="l">
              <a:lnSpc>
                <a:spcPct val="105000"/>
              </a:lnSpc>
            </a:pPr>
            <a:r>
              <a:rPr lang="en-US" sz="1300" b="1" dirty="0">
                <a:solidFill>
                  <a:srgbClr val="111827"/>
                </a:solidFill>
                <a:latin typeface="Aptos"/>
                <a:ea typeface="Aptos"/>
                <a:cs typeface="Aptos"/>
              </a:rPr>
              <a:t>SD card logging</a:t>
            </a:r>
            <a:endParaRPr lang="en-US" sz="1300">
              <a:solidFill>
                <a:srgbClr val="111827"/>
              </a:solidFill>
              <a:latin typeface="Aptos"/>
            </a:endParaRPr>
          </a:p>
        </p:txBody>
      </p:sp>
      <p:sp>
        <p:nvSpPr>
          <p:cNvPr id="21"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07/14</a:t>
            </a:r>
            <a:endParaRPr lang="en-US" sz="800">
              <a:solidFill>
                <a:srgbClr val="9CA3AF"/>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FFFFF">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Processing Window</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1:40-1:55</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sp>
        <p:nvSpPr>
          <p:cNvPr id="6" name="Text"/>
          <p:cNvSpPr txBox="1"/>
          <p:nvPr/>
        </p:nvSpPr>
        <p:spPr>
          <a:xfrm>
            <a:off x="685800" y="1188720"/>
            <a:ext cx="6217920" cy="411480"/>
          </a:xfrm>
          <a:prstGeom prst="rect">
            <a:avLst/>
          </a:prstGeom>
          <a:noFill/>
          <a:ln>
            <a:noFill/>
          </a:ln>
        </p:spPr>
        <p:txBody>
          <a:bodyPr wrap="square" lIns="0" rIns="0" tIns="0" bIns="0"/>
          <a:lstStyle/>
          <a:p>
            <a:pPr algn="l">
              <a:lnSpc>
                <a:spcPct val="105000"/>
              </a:lnSpc>
            </a:pPr>
            <a:r>
              <a:rPr lang="en-US" sz="2400" b="1" dirty="0">
                <a:solidFill>
                  <a:srgbClr val="111827"/>
                </a:solidFill>
                <a:latin typeface="Aptos"/>
                <a:ea typeface="Aptos"/>
                <a:cs typeface="Aptos"/>
              </a:rPr>
              <a:t>Sampling and analysis timing</a:t>
            </a:r>
            <a:endParaRPr lang="en-US" sz="2400">
              <a:solidFill>
                <a:srgbClr val="111827"/>
              </a:solidFill>
              <a:latin typeface="Aptos"/>
            </a:endParaRPr>
          </a:p>
        </p:txBody>
      </p:sp>
      <p:sp>
        <p:nvSpPr>
          <p:cNvPr id="7" name="Rectangle"/>
          <p:cNvSpPr/>
          <p:nvPr/>
        </p:nvSpPr>
        <p:spPr>
          <a:xfrm>
            <a:off x="731520" y="1874520"/>
            <a:ext cx="2148840" cy="1143000"/>
          </a:xfrm>
          <a:prstGeom prst="rect">
            <a:avLst/>
          </a:prstGeom>
          <a:solidFill>
            <a:srgbClr val="EFF6FF">
              <a:alpha val="100000"/>
            </a:srgbClr>
          </a:solidFill>
          <a:ln w="19050">
            <a:solidFill>
              <a:srgbClr val="005EB8"/>
            </a:solidFill>
          </a:ln>
        </p:spPr>
      </p:sp>
      <p:sp>
        <p:nvSpPr>
          <p:cNvPr id="8" name="Text"/>
          <p:cNvSpPr txBox="1"/>
          <p:nvPr/>
        </p:nvSpPr>
        <p:spPr>
          <a:xfrm>
            <a:off x="841248" y="2130552"/>
            <a:ext cx="1920240" cy="347472"/>
          </a:xfrm>
          <a:prstGeom prst="rect">
            <a:avLst/>
          </a:prstGeom>
          <a:noFill/>
          <a:ln>
            <a:noFill/>
          </a:ln>
        </p:spPr>
        <p:txBody>
          <a:bodyPr wrap="square" lIns="0" rIns="0" tIns="0" bIns="0"/>
          <a:lstStyle/>
          <a:p>
            <a:pPr algn="c">
              <a:lnSpc>
                <a:spcPct val="105000"/>
              </a:lnSpc>
            </a:pPr>
            <a:r>
              <a:rPr lang="en-US" sz="2500" b="1" dirty="0">
                <a:solidFill>
                  <a:srgbClr val="005EB8"/>
                </a:solidFill>
                <a:latin typeface="Aptos"/>
                <a:ea typeface="Aptos"/>
                <a:cs typeface="Aptos"/>
              </a:rPr>
              <a:t>100 Hz</a:t>
            </a:r>
            <a:endParaRPr lang="en-US" sz="2500">
              <a:solidFill>
                <a:srgbClr val="005EB8"/>
              </a:solidFill>
              <a:latin typeface="Aptos"/>
            </a:endParaRPr>
          </a:p>
        </p:txBody>
      </p:sp>
      <p:sp>
        <p:nvSpPr>
          <p:cNvPr id="9" name="Text"/>
          <p:cNvSpPr txBox="1"/>
          <p:nvPr/>
        </p:nvSpPr>
        <p:spPr>
          <a:xfrm>
            <a:off x="841248" y="2615184"/>
            <a:ext cx="1920240" cy="210312"/>
          </a:xfrm>
          <a:prstGeom prst="rect">
            <a:avLst/>
          </a:prstGeom>
          <a:noFill/>
          <a:ln>
            <a:noFill/>
          </a:ln>
        </p:spPr>
        <p:txBody>
          <a:bodyPr wrap="square" lIns="0" rIns="0" tIns="0" bIns="0"/>
          <a:lstStyle/>
          <a:p>
            <a:pPr algn="c">
              <a:lnSpc>
                <a:spcPct val="105000"/>
              </a:lnSpc>
            </a:pPr>
            <a:r>
              <a:rPr lang="en-US" sz="1100" dirty="0">
                <a:solidFill>
                  <a:srgbClr val="111827"/>
                </a:solidFill>
                <a:latin typeface="Aptos"/>
                <a:ea typeface="Aptos"/>
                <a:cs typeface="Aptos"/>
              </a:rPr>
              <a:t>sampling</a:t>
            </a:r>
            <a:endParaRPr lang="en-US" sz="1100">
              <a:solidFill>
                <a:srgbClr val="111827"/>
              </a:solidFill>
              <a:latin typeface="Aptos"/>
            </a:endParaRPr>
          </a:p>
        </p:txBody>
      </p:sp>
      <p:sp>
        <p:nvSpPr>
          <p:cNvPr id="10" name="Rectangle"/>
          <p:cNvSpPr/>
          <p:nvPr/>
        </p:nvSpPr>
        <p:spPr>
          <a:xfrm>
            <a:off x="3520440" y="1874520"/>
            <a:ext cx="2148840" cy="1143000"/>
          </a:xfrm>
          <a:prstGeom prst="rect">
            <a:avLst/>
          </a:prstGeom>
          <a:solidFill>
            <a:srgbClr val="EFF6FF">
              <a:alpha val="100000"/>
            </a:srgbClr>
          </a:solidFill>
          <a:ln w="19050">
            <a:solidFill>
              <a:srgbClr val="005EB8"/>
            </a:solidFill>
          </a:ln>
        </p:spPr>
      </p:sp>
      <p:sp>
        <p:nvSpPr>
          <p:cNvPr id="11" name="Text"/>
          <p:cNvSpPr txBox="1"/>
          <p:nvPr/>
        </p:nvSpPr>
        <p:spPr>
          <a:xfrm>
            <a:off x="3630168" y="2130552"/>
            <a:ext cx="1920240" cy="347472"/>
          </a:xfrm>
          <a:prstGeom prst="rect">
            <a:avLst/>
          </a:prstGeom>
          <a:noFill/>
          <a:ln>
            <a:noFill/>
          </a:ln>
        </p:spPr>
        <p:txBody>
          <a:bodyPr wrap="square" lIns="0" rIns="0" tIns="0" bIns="0"/>
          <a:lstStyle/>
          <a:p>
            <a:pPr algn="c">
              <a:lnSpc>
                <a:spcPct val="105000"/>
              </a:lnSpc>
            </a:pPr>
            <a:r>
              <a:rPr lang="en-US" sz="2500" b="1" dirty="0">
                <a:solidFill>
                  <a:srgbClr val="005EB8"/>
                </a:solidFill>
                <a:latin typeface="Aptos"/>
                <a:ea typeface="Aptos"/>
                <a:cs typeface="Aptos"/>
              </a:rPr>
              <a:t>512</a:t>
            </a:r>
            <a:endParaRPr lang="en-US" sz="2500">
              <a:solidFill>
                <a:srgbClr val="005EB8"/>
              </a:solidFill>
              <a:latin typeface="Aptos"/>
            </a:endParaRPr>
          </a:p>
        </p:txBody>
      </p:sp>
      <p:sp>
        <p:nvSpPr>
          <p:cNvPr id="12" name="Text"/>
          <p:cNvSpPr txBox="1"/>
          <p:nvPr/>
        </p:nvSpPr>
        <p:spPr>
          <a:xfrm>
            <a:off x="3630168" y="2615184"/>
            <a:ext cx="1920240" cy="210312"/>
          </a:xfrm>
          <a:prstGeom prst="rect">
            <a:avLst/>
          </a:prstGeom>
          <a:noFill/>
          <a:ln>
            <a:noFill/>
          </a:ln>
        </p:spPr>
        <p:txBody>
          <a:bodyPr wrap="square" lIns="0" rIns="0" tIns="0" bIns="0"/>
          <a:lstStyle/>
          <a:p>
            <a:pPr algn="c">
              <a:lnSpc>
                <a:spcPct val="105000"/>
              </a:lnSpc>
            </a:pPr>
            <a:r>
              <a:rPr lang="en-US" sz="1100" dirty="0">
                <a:solidFill>
                  <a:srgbClr val="111827"/>
                </a:solidFill>
                <a:latin typeface="Aptos"/>
                <a:ea typeface="Aptos"/>
                <a:cs typeface="Aptos"/>
              </a:rPr>
              <a:t>samples/channel</a:t>
            </a:r>
            <a:endParaRPr lang="en-US" sz="1100">
              <a:solidFill>
                <a:srgbClr val="111827"/>
              </a:solidFill>
              <a:latin typeface="Aptos"/>
            </a:endParaRPr>
          </a:p>
        </p:txBody>
      </p:sp>
      <p:sp>
        <p:nvSpPr>
          <p:cNvPr id="13" name="Rectangle"/>
          <p:cNvSpPr/>
          <p:nvPr/>
        </p:nvSpPr>
        <p:spPr>
          <a:xfrm>
            <a:off x="6309360" y="1874520"/>
            <a:ext cx="2148840" cy="1143000"/>
          </a:xfrm>
          <a:prstGeom prst="rect">
            <a:avLst/>
          </a:prstGeom>
          <a:solidFill>
            <a:srgbClr val="EFF6FF">
              <a:alpha val="100000"/>
            </a:srgbClr>
          </a:solidFill>
          <a:ln w="19050">
            <a:solidFill>
              <a:srgbClr val="005EB8"/>
            </a:solidFill>
          </a:ln>
        </p:spPr>
      </p:sp>
      <p:sp>
        <p:nvSpPr>
          <p:cNvPr id="14" name="Text"/>
          <p:cNvSpPr txBox="1"/>
          <p:nvPr/>
        </p:nvSpPr>
        <p:spPr>
          <a:xfrm>
            <a:off x="6419088" y="2130552"/>
            <a:ext cx="1920240" cy="347472"/>
          </a:xfrm>
          <a:prstGeom prst="rect">
            <a:avLst/>
          </a:prstGeom>
          <a:noFill/>
          <a:ln>
            <a:noFill/>
          </a:ln>
        </p:spPr>
        <p:txBody>
          <a:bodyPr wrap="square" lIns="0" rIns="0" tIns="0" bIns="0"/>
          <a:lstStyle/>
          <a:p>
            <a:pPr algn="c">
              <a:lnSpc>
                <a:spcPct val="105000"/>
              </a:lnSpc>
            </a:pPr>
            <a:r>
              <a:rPr lang="en-US" sz="2500" b="1" dirty="0">
                <a:solidFill>
                  <a:srgbClr val="005EB8"/>
                </a:solidFill>
                <a:latin typeface="Aptos"/>
                <a:ea typeface="Aptos"/>
                <a:cs typeface="Aptos"/>
              </a:rPr>
              <a:t>5.12 s</a:t>
            </a:r>
            <a:endParaRPr lang="en-US" sz="2500">
              <a:solidFill>
                <a:srgbClr val="005EB8"/>
              </a:solidFill>
              <a:latin typeface="Aptos"/>
            </a:endParaRPr>
          </a:p>
        </p:txBody>
      </p:sp>
      <p:sp>
        <p:nvSpPr>
          <p:cNvPr id="15" name="Text"/>
          <p:cNvSpPr txBox="1"/>
          <p:nvPr/>
        </p:nvSpPr>
        <p:spPr>
          <a:xfrm>
            <a:off x="6419088" y="2615184"/>
            <a:ext cx="1920240" cy="210312"/>
          </a:xfrm>
          <a:prstGeom prst="rect">
            <a:avLst/>
          </a:prstGeom>
          <a:noFill/>
          <a:ln>
            <a:noFill/>
          </a:ln>
        </p:spPr>
        <p:txBody>
          <a:bodyPr wrap="square" lIns="0" rIns="0" tIns="0" bIns="0"/>
          <a:lstStyle/>
          <a:p>
            <a:pPr algn="c">
              <a:lnSpc>
                <a:spcPct val="105000"/>
              </a:lnSpc>
            </a:pPr>
            <a:r>
              <a:rPr lang="en-US" sz="1100" dirty="0">
                <a:solidFill>
                  <a:srgbClr val="111827"/>
                </a:solidFill>
                <a:latin typeface="Aptos"/>
                <a:ea typeface="Aptos"/>
                <a:cs typeface="Aptos"/>
              </a:rPr>
              <a:t>window length</a:t>
            </a:r>
            <a:endParaRPr lang="en-US" sz="1100">
              <a:solidFill>
                <a:srgbClr val="111827"/>
              </a:solidFill>
              <a:latin typeface="Aptos"/>
            </a:endParaRPr>
          </a:p>
        </p:txBody>
      </p:sp>
      <p:sp>
        <p:nvSpPr>
          <p:cNvPr id="16" name="Rectangle"/>
          <p:cNvSpPr/>
          <p:nvPr/>
        </p:nvSpPr>
        <p:spPr>
          <a:xfrm>
            <a:off x="9098280" y="1874520"/>
            <a:ext cx="2148840" cy="1143000"/>
          </a:xfrm>
          <a:prstGeom prst="rect">
            <a:avLst/>
          </a:prstGeom>
          <a:solidFill>
            <a:srgbClr val="EFF6FF">
              <a:alpha val="100000"/>
            </a:srgbClr>
          </a:solidFill>
          <a:ln w="19050">
            <a:solidFill>
              <a:srgbClr val="005EB8"/>
            </a:solidFill>
          </a:ln>
        </p:spPr>
      </p:sp>
      <p:sp>
        <p:nvSpPr>
          <p:cNvPr id="17" name="Text"/>
          <p:cNvSpPr txBox="1"/>
          <p:nvPr/>
        </p:nvSpPr>
        <p:spPr>
          <a:xfrm>
            <a:off x="9208008" y="2130552"/>
            <a:ext cx="1920240" cy="347472"/>
          </a:xfrm>
          <a:prstGeom prst="rect">
            <a:avLst/>
          </a:prstGeom>
          <a:noFill/>
          <a:ln>
            <a:noFill/>
          </a:ln>
        </p:spPr>
        <p:txBody>
          <a:bodyPr wrap="square" lIns="0" rIns="0" tIns="0" bIns="0"/>
          <a:lstStyle/>
          <a:p>
            <a:pPr algn="c">
              <a:lnSpc>
                <a:spcPct val="105000"/>
              </a:lnSpc>
            </a:pPr>
            <a:r>
              <a:rPr lang="en-US" sz="2500" b="1" dirty="0">
                <a:solidFill>
                  <a:srgbClr val="005EB8"/>
                </a:solidFill>
                <a:latin typeface="Aptos"/>
                <a:ea typeface="Aptos"/>
                <a:cs typeface="Aptos"/>
              </a:rPr>
              <a:t>2.56 s</a:t>
            </a:r>
            <a:endParaRPr lang="en-US" sz="2500">
              <a:solidFill>
                <a:srgbClr val="005EB8"/>
              </a:solidFill>
              <a:latin typeface="Aptos"/>
            </a:endParaRPr>
          </a:p>
        </p:txBody>
      </p:sp>
      <p:sp>
        <p:nvSpPr>
          <p:cNvPr id="18" name="Text"/>
          <p:cNvSpPr txBox="1"/>
          <p:nvPr/>
        </p:nvSpPr>
        <p:spPr>
          <a:xfrm>
            <a:off x="9208008" y="2615184"/>
            <a:ext cx="1920240" cy="210312"/>
          </a:xfrm>
          <a:prstGeom prst="rect">
            <a:avLst/>
          </a:prstGeom>
          <a:noFill/>
          <a:ln>
            <a:noFill/>
          </a:ln>
        </p:spPr>
        <p:txBody>
          <a:bodyPr wrap="square" lIns="0" rIns="0" tIns="0" bIns="0"/>
          <a:lstStyle/>
          <a:p>
            <a:pPr algn="c">
              <a:lnSpc>
                <a:spcPct val="105000"/>
              </a:lnSpc>
            </a:pPr>
            <a:r>
              <a:rPr lang="en-US" sz="1100" dirty="0">
                <a:solidFill>
                  <a:srgbClr val="111827"/>
                </a:solidFill>
                <a:latin typeface="Aptos"/>
                <a:ea typeface="Aptos"/>
                <a:cs typeface="Aptos"/>
              </a:rPr>
              <a:t>update interval</a:t>
            </a:r>
            <a:endParaRPr lang="en-US" sz="1100">
              <a:solidFill>
                <a:srgbClr val="111827"/>
              </a:solidFill>
              <a:latin typeface="Aptos"/>
            </a:endParaRPr>
          </a:p>
        </p:txBody>
      </p:sp>
      <p:sp>
        <p:nvSpPr>
          <p:cNvPr id="19" name="Rectangle"/>
          <p:cNvSpPr/>
          <p:nvPr/>
        </p:nvSpPr>
        <p:spPr>
          <a:xfrm>
            <a:off x="960120" y="4160520"/>
            <a:ext cx="4800600" cy="384048"/>
          </a:xfrm>
          <a:prstGeom prst="rect">
            <a:avLst/>
          </a:prstGeom>
          <a:solidFill>
            <a:srgbClr val="E0F2FE">
              <a:alpha val="100000"/>
            </a:srgbClr>
          </a:solidFill>
          <a:ln w="12700">
            <a:solidFill>
              <a:srgbClr val="00A6D6"/>
            </a:solidFill>
          </a:ln>
        </p:spPr>
      </p:sp>
      <p:sp>
        <p:nvSpPr>
          <p:cNvPr id="20" name="Rectangle"/>
          <p:cNvSpPr/>
          <p:nvPr/>
        </p:nvSpPr>
        <p:spPr>
          <a:xfrm>
            <a:off x="3383280" y="4709160"/>
            <a:ext cx="4800600" cy="384048"/>
          </a:xfrm>
          <a:prstGeom prst="rect">
            <a:avLst/>
          </a:prstGeom>
          <a:solidFill>
            <a:srgbClr val="E0F2FE">
              <a:alpha val="100000"/>
            </a:srgbClr>
          </a:solidFill>
          <a:ln w="12700">
            <a:solidFill>
              <a:srgbClr val="00A6D6"/>
            </a:solidFill>
          </a:ln>
        </p:spPr>
      </p:sp>
      <p:cxnSp>
        <p:nvCxnSpPr>
          <p:cNvPr id="21" name="Line"/>
          <p:cNvCxnSpPr/>
          <p:nvPr/>
        </p:nvCxnSpPr>
        <p:spPr>
          <a:xfrm>
            <a:off x="960120" y="5394960"/>
            <a:ext cx="7589520" cy="0"/>
          </a:xfrm>
          <a:prstGeom prst="line">
            <a:avLst/>
          </a:prstGeom>
          <a:ln w="12700" cap="round">
            <a:solidFill>
              <a:srgbClr val="64748B"/>
            </a:solidFill>
            <a:tailEnd type="triangle"/>
          </a:ln>
        </p:spPr>
      </p:cxnSp>
      <p:sp>
        <p:nvSpPr>
          <p:cNvPr id="22" name="Text"/>
          <p:cNvSpPr txBox="1"/>
          <p:nvPr/>
        </p:nvSpPr>
        <p:spPr>
          <a:xfrm>
            <a:off x="960120" y="3822192"/>
            <a:ext cx="2926080" cy="219456"/>
          </a:xfrm>
          <a:prstGeom prst="rect">
            <a:avLst/>
          </a:prstGeom>
          <a:noFill/>
          <a:ln>
            <a:noFill/>
          </a:ln>
        </p:spPr>
        <p:txBody>
          <a:bodyPr wrap="square" lIns="0" rIns="0" tIns="0" bIns="0"/>
          <a:lstStyle/>
          <a:p>
            <a:pPr algn="l">
              <a:lnSpc>
                <a:spcPct val="105000"/>
              </a:lnSpc>
            </a:pPr>
            <a:r>
              <a:rPr lang="en-US" sz="1200" b="1" dirty="0">
                <a:solidFill>
                  <a:srgbClr val="005EB8"/>
                </a:solidFill>
                <a:latin typeface="Aptos"/>
                <a:ea typeface="Aptos"/>
                <a:cs typeface="Aptos"/>
              </a:rPr>
              <a:t>50% overlap</a:t>
            </a:r>
            <a:endParaRPr lang="en-US" sz="1200">
              <a:solidFill>
                <a:srgbClr val="005EB8"/>
              </a:solidFill>
              <a:latin typeface="Aptos"/>
            </a:endParaRPr>
          </a:p>
        </p:txBody>
      </p:sp>
      <p:sp>
        <p:nvSpPr>
          <p:cNvPr id="23" name="Text"/>
          <p:cNvSpPr txBox="1"/>
          <p:nvPr/>
        </p:nvSpPr>
        <p:spPr>
          <a:xfrm>
            <a:off x="868680" y="5577840"/>
            <a:ext cx="7863840" cy="228600"/>
          </a:xfrm>
          <a:prstGeom prst="rect">
            <a:avLst/>
          </a:prstGeom>
          <a:noFill/>
          <a:ln>
            <a:noFill/>
          </a:ln>
        </p:spPr>
        <p:txBody>
          <a:bodyPr wrap="square" lIns="0" rIns="0" tIns="0" bIns="0"/>
          <a:lstStyle/>
          <a:p>
            <a:pPr algn="l">
              <a:lnSpc>
                <a:spcPct val="105000"/>
              </a:lnSpc>
            </a:pPr>
            <a:r>
              <a:rPr lang="en-US" sz="1200" dirty="0">
                <a:solidFill>
                  <a:srgbClr val="475569"/>
                </a:solidFill>
                <a:latin typeface="Aptos"/>
                <a:ea typeface="Aptos"/>
                <a:cs typeface="Aptos"/>
              </a:rPr>
              <a:t>New result every 2.56 seconds while using 5.12 seconds of signal data</a:t>
            </a:r>
            <a:endParaRPr lang="en-US" sz="1200">
              <a:solidFill>
                <a:srgbClr val="475569"/>
              </a:solidFill>
              <a:latin typeface="Aptos"/>
            </a:endParaRPr>
          </a:p>
        </p:txBody>
      </p:sp>
      <p:sp>
        <p:nvSpPr>
          <p:cNvPr id="24"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08/14</a:t>
            </a:r>
            <a:endParaRPr lang="en-US" sz="800">
              <a:solidFill>
                <a:srgbClr val="9CA3AF"/>
              </a:solidFill>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8FAFC">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Signal Analysis UI</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1:56-2:12</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sp>
        <p:nvSpPr>
          <p:cNvPr id="6" name="Rectangle"/>
          <p:cNvSpPr/>
          <p:nvPr/>
        </p:nvSpPr>
        <p:spPr>
          <a:xfrm>
            <a:off x="685800" y="1143000"/>
            <a:ext cx="7635240" cy="4572000"/>
          </a:xfrm>
          <a:prstGeom prst="rect">
            <a:avLst/>
          </a:prstGeom>
          <a:solidFill>
            <a:srgbClr val="111827">
              <a:alpha val="100000"/>
            </a:srgbClr>
          </a:solidFill>
          <a:ln w="25400">
            <a:solidFill>
              <a:srgbClr val="00A6D6"/>
            </a:solidFill>
          </a:ln>
        </p:spPr>
      </p:sp>
      <p:sp>
        <p:nvSpPr>
          <p:cNvPr id="7" name="Rectangle"/>
          <p:cNvSpPr/>
          <p:nvPr/>
        </p:nvSpPr>
        <p:spPr>
          <a:xfrm>
            <a:off x="813816" y="1271016"/>
            <a:ext cx="7379208" cy="4315968"/>
          </a:xfrm>
          <a:prstGeom prst="rect">
            <a:avLst/>
          </a:prstGeom>
          <a:solidFill>
            <a:srgbClr val="1F2937">
              <a:alpha val="100000"/>
            </a:srgbClr>
          </a:solidFill>
          <a:ln>
            <a:noFill/>
          </a:ln>
        </p:spPr>
      </p:sp>
      <p:sp>
        <p:nvSpPr>
          <p:cNvPr id="8" name="Triangle"/>
          <p:cNvSpPr/>
          <p:nvPr/>
        </p:nvSpPr>
        <p:spPr>
          <a:xfrm rot="5400000">
            <a:off x="4302252" y="3154680"/>
            <a:ext cx="457200" cy="548640"/>
          </a:xfrm>
          <a:prstGeom prst="triangle">
            <a:avLst/>
          </a:prstGeom>
          <a:solidFill>
            <a:srgbClr val="FFFFFF">
              <a:alpha val="90000"/>
            </a:srgbClr>
          </a:solidFill>
          <a:ln>
            <a:noFill/>
          </a:ln>
        </p:spPr>
      </p:sp>
      <p:sp>
        <p:nvSpPr>
          <p:cNvPr id="9" name="Text"/>
          <p:cNvSpPr txBox="1"/>
          <p:nvPr/>
        </p:nvSpPr>
        <p:spPr>
          <a:xfrm>
            <a:off x="1005840" y="1399032"/>
            <a:ext cx="6995160" cy="256032"/>
          </a:xfrm>
          <a:prstGeom prst="rect">
            <a:avLst/>
          </a:prstGeom>
          <a:noFill/>
          <a:ln>
            <a:noFill/>
          </a:ln>
        </p:spPr>
        <p:txBody>
          <a:bodyPr wrap="square" lIns="0" rIns="0" tIns="0" bIns="0"/>
          <a:lstStyle/>
          <a:p>
            <a:pPr algn="c">
              <a:lnSpc>
                <a:spcPct val="105000"/>
              </a:lnSpc>
            </a:pPr>
            <a:r>
              <a:rPr lang="en-US" sz="1100" b="1" dirty="0">
                <a:solidFill>
                  <a:srgbClr val="93C5FD"/>
                </a:solidFill>
                <a:latin typeface="Aptos"/>
                <a:ea typeface="Aptos"/>
                <a:cs typeface="Aptos"/>
              </a:rPr>
              <a:t>VIDEO PLACEHOLDER</a:t>
            </a:r>
            <a:endParaRPr lang="en-US" sz="1100">
              <a:solidFill>
                <a:srgbClr val="93C5FD"/>
              </a:solidFill>
              <a:latin typeface="Aptos"/>
            </a:endParaRPr>
          </a:p>
        </p:txBody>
      </p:sp>
      <p:sp>
        <p:nvSpPr>
          <p:cNvPr id="10" name="Text"/>
          <p:cNvSpPr txBox="1"/>
          <p:nvPr/>
        </p:nvSpPr>
        <p:spPr>
          <a:xfrm>
            <a:off x="1097280" y="4892040"/>
            <a:ext cx="6812280" cy="292608"/>
          </a:xfrm>
          <a:prstGeom prst="rect">
            <a:avLst/>
          </a:prstGeom>
          <a:noFill/>
          <a:ln>
            <a:noFill/>
          </a:ln>
        </p:spPr>
        <p:txBody>
          <a:bodyPr wrap="square" lIns="0" rIns="0" tIns="0" bIns="0"/>
          <a:lstStyle/>
          <a:p>
            <a:pPr algn="c">
              <a:lnSpc>
                <a:spcPct val="105000"/>
              </a:lnSpc>
            </a:pPr>
            <a:r>
              <a:rPr lang="en-US" sz="1600" b="1" dirty="0">
                <a:solidFill>
                  <a:srgbClr val="FFFFFF"/>
                </a:solidFill>
                <a:latin typeface="Aptos"/>
                <a:ea typeface="Aptos"/>
                <a:cs typeface="Aptos"/>
              </a:rPr>
              <a:t>Time signal, FFT spectrum, peak detection</a:t>
            </a:r>
            <a:endParaRPr lang="en-US" sz="1600">
              <a:solidFill>
                <a:srgbClr val="FFFFFF"/>
              </a:solidFill>
              <a:latin typeface="Aptos"/>
            </a:endParaRPr>
          </a:p>
        </p:txBody>
      </p:sp>
      <p:sp>
        <p:nvSpPr>
          <p:cNvPr id="11" name="Text"/>
          <p:cNvSpPr txBox="1"/>
          <p:nvPr/>
        </p:nvSpPr>
        <p:spPr>
          <a:xfrm>
            <a:off x="1097280" y="5230368"/>
            <a:ext cx="6812280" cy="219456"/>
          </a:xfrm>
          <a:prstGeom prst="rect">
            <a:avLst/>
          </a:prstGeom>
          <a:noFill/>
          <a:ln>
            <a:noFill/>
          </a:ln>
        </p:spPr>
        <p:txBody>
          <a:bodyPr wrap="square" lIns="0" rIns="0" tIns="0" bIns="0"/>
          <a:lstStyle/>
          <a:p>
            <a:pPr algn="c">
              <a:lnSpc>
                <a:spcPct val="105000"/>
              </a:lnSpc>
            </a:pPr>
            <a:r>
              <a:rPr lang="en-US" sz="900" dirty="0">
                <a:solidFill>
                  <a:srgbClr val="CBD5E1"/>
                </a:solidFill>
                <a:latin typeface="Aptos"/>
                <a:ea typeface="Aptos"/>
                <a:cs typeface="Aptos"/>
              </a:rPr>
              <a:t>Insert UI recording; show filter/effect menu for 1-2 seconds</a:t>
            </a:r>
            <a:endParaRPr lang="en-US" sz="900">
              <a:solidFill>
                <a:srgbClr val="CBD5E1"/>
              </a:solidFill>
              <a:latin typeface="Aptos"/>
            </a:endParaRPr>
          </a:p>
        </p:txBody>
      </p:sp>
      <p:sp>
        <p:nvSpPr>
          <p:cNvPr id="12" name="Rectangle"/>
          <p:cNvSpPr/>
          <p:nvPr/>
        </p:nvSpPr>
        <p:spPr>
          <a:xfrm>
            <a:off x="8732520" y="1444752"/>
            <a:ext cx="2331720" cy="502920"/>
          </a:xfrm>
          <a:prstGeom prst="rect">
            <a:avLst/>
          </a:prstGeom>
          <a:solidFill>
            <a:srgbClr val="005EB8">
              <a:alpha val="100000"/>
            </a:srgbClr>
          </a:solidFill>
          <a:ln>
            <a:noFill/>
          </a:ln>
        </p:spPr>
      </p:sp>
      <p:sp>
        <p:nvSpPr>
          <p:cNvPr id="13" name="Text"/>
          <p:cNvSpPr txBox="1"/>
          <p:nvPr/>
        </p:nvSpPr>
        <p:spPr>
          <a:xfrm>
            <a:off x="8887968" y="1618488"/>
            <a:ext cx="2011680" cy="164592"/>
          </a:xfrm>
          <a:prstGeom prst="rect">
            <a:avLst/>
          </a:prstGeom>
          <a:noFill/>
          <a:ln>
            <a:noFill/>
          </a:ln>
        </p:spPr>
        <p:txBody>
          <a:bodyPr wrap="square" lIns="0" rIns="0" tIns="0" bIns="0"/>
          <a:lstStyle/>
          <a:p>
            <a:pPr algn="c">
              <a:lnSpc>
                <a:spcPct val="105000"/>
              </a:lnSpc>
            </a:pPr>
            <a:r>
              <a:rPr lang="en-US" sz="1200" b="1" dirty="0">
                <a:solidFill>
                  <a:srgbClr val="FFFFFF"/>
                </a:solidFill>
                <a:latin typeface="Aptos"/>
                <a:ea typeface="Aptos"/>
                <a:cs typeface="Aptos"/>
              </a:rPr>
              <a:t>I/Q signals</a:t>
            </a:r>
            <a:endParaRPr lang="en-US" sz="1200">
              <a:solidFill>
                <a:srgbClr val="FFFFFF"/>
              </a:solidFill>
              <a:latin typeface="Aptos"/>
            </a:endParaRPr>
          </a:p>
        </p:txBody>
      </p:sp>
      <p:cxnSp>
        <p:nvCxnSpPr>
          <p:cNvPr id="14" name="Line"/>
          <p:cNvCxnSpPr/>
          <p:nvPr/>
        </p:nvCxnSpPr>
        <p:spPr>
          <a:xfrm>
            <a:off x="9893808" y="1993392"/>
            <a:ext cx="0" cy="548640"/>
          </a:xfrm>
          <a:prstGeom prst="line">
            <a:avLst/>
          </a:prstGeom>
          <a:ln w="19050" cap="round">
            <a:solidFill>
              <a:srgbClr val="005EB8"/>
            </a:solidFill>
            <a:tailEnd type="triangle"/>
          </a:ln>
        </p:spPr>
      </p:cxnSp>
      <p:sp>
        <p:nvSpPr>
          <p:cNvPr id="15" name="Rectangle"/>
          <p:cNvSpPr/>
          <p:nvPr/>
        </p:nvSpPr>
        <p:spPr>
          <a:xfrm>
            <a:off x="8732520" y="2606040"/>
            <a:ext cx="2331720" cy="502920"/>
          </a:xfrm>
          <a:prstGeom prst="rect">
            <a:avLst/>
          </a:prstGeom>
          <a:solidFill>
            <a:srgbClr val="00A6D6">
              <a:alpha val="100000"/>
            </a:srgbClr>
          </a:solidFill>
          <a:ln>
            <a:noFill/>
          </a:ln>
        </p:spPr>
      </p:sp>
      <p:sp>
        <p:nvSpPr>
          <p:cNvPr id="16" name="Text"/>
          <p:cNvSpPr txBox="1"/>
          <p:nvPr/>
        </p:nvSpPr>
        <p:spPr>
          <a:xfrm>
            <a:off x="8887968" y="2779776"/>
            <a:ext cx="2011680" cy="164592"/>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FFT spectrum</a:t>
            </a:r>
            <a:endParaRPr lang="en-US" sz="1200">
              <a:solidFill>
                <a:srgbClr val="111827"/>
              </a:solidFill>
              <a:latin typeface="Aptos"/>
            </a:endParaRPr>
          </a:p>
        </p:txBody>
      </p:sp>
      <p:cxnSp>
        <p:nvCxnSpPr>
          <p:cNvPr id="17" name="Line"/>
          <p:cNvCxnSpPr/>
          <p:nvPr/>
        </p:nvCxnSpPr>
        <p:spPr>
          <a:xfrm>
            <a:off x="9893808" y="3154680"/>
            <a:ext cx="0" cy="548640"/>
          </a:xfrm>
          <a:prstGeom prst="line">
            <a:avLst/>
          </a:prstGeom>
          <a:ln w="19050" cap="round">
            <a:solidFill>
              <a:srgbClr val="005EB8"/>
            </a:solidFill>
            <a:tailEnd type="triangle"/>
          </a:ln>
        </p:spPr>
      </p:cxnSp>
      <p:sp>
        <p:nvSpPr>
          <p:cNvPr id="18" name="Rectangle"/>
          <p:cNvSpPr/>
          <p:nvPr/>
        </p:nvSpPr>
        <p:spPr>
          <a:xfrm>
            <a:off x="8732520" y="3767328"/>
            <a:ext cx="2331720" cy="502920"/>
          </a:xfrm>
          <a:prstGeom prst="rect">
            <a:avLst/>
          </a:prstGeom>
          <a:solidFill>
            <a:srgbClr val="F59E0B">
              <a:alpha val="100000"/>
            </a:srgbClr>
          </a:solidFill>
          <a:ln>
            <a:noFill/>
          </a:ln>
        </p:spPr>
      </p:sp>
      <p:sp>
        <p:nvSpPr>
          <p:cNvPr id="19" name="Text"/>
          <p:cNvSpPr txBox="1"/>
          <p:nvPr/>
        </p:nvSpPr>
        <p:spPr>
          <a:xfrm>
            <a:off x="8887968" y="3941064"/>
            <a:ext cx="2011680" cy="164592"/>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Dominant peak</a:t>
            </a:r>
            <a:endParaRPr lang="en-US" sz="1200">
              <a:solidFill>
                <a:srgbClr val="111827"/>
              </a:solidFill>
              <a:latin typeface="Aptos"/>
            </a:endParaRPr>
          </a:p>
        </p:txBody>
      </p:sp>
      <p:sp>
        <p:nvSpPr>
          <p:cNvPr id="20"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09/14</a:t>
            </a:r>
            <a:endParaRPr lang="en-US" sz="800">
              <a:solidFill>
                <a:srgbClr val="9CA3AF"/>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FFFFF">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Interface Walkthrough</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2:13-2:30</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sp>
        <p:nvSpPr>
          <p:cNvPr id="6" name="Rectangle"/>
          <p:cNvSpPr/>
          <p:nvPr/>
        </p:nvSpPr>
        <p:spPr>
          <a:xfrm>
            <a:off x="3611880" y="1143000"/>
            <a:ext cx="7543800" cy="4572000"/>
          </a:xfrm>
          <a:prstGeom prst="rect">
            <a:avLst/>
          </a:prstGeom>
          <a:solidFill>
            <a:srgbClr val="111827">
              <a:alpha val="100000"/>
            </a:srgbClr>
          </a:solidFill>
          <a:ln w="25400">
            <a:solidFill>
              <a:srgbClr val="00A6D6"/>
            </a:solidFill>
          </a:ln>
        </p:spPr>
      </p:sp>
      <p:sp>
        <p:nvSpPr>
          <p:cNvPr id="7" name="Rectangle"/>
          <p:cNvSpPr/>
          <p:nvPr/>
        </p:nvSpPr>
        <p:spPr>
          <a:xfrm>
            <a:off x="3739896" y="1271016"/>
            <a:ext cx="7287768" cy="4315968"/>
          </a:xfrm>
          <a:prstGeom prst="rect">
            <a:avLst/>
          </a:prstGeom>
          <a:solidFill>
            <a:srgbClr val="1F2937">
              <a:alpha val="100000"/>
            </a:srgbClr>
          </a:solidFill>
          <a:ln>
            <a:noFill/>
          </a:ln>
        </p:spPr>
      </p:sp>
      <p:sp>
        <p:nvSpPr>
          <p:cNvPr id="8" name="Triangle"/>
          <p:cNvSpPr/>
          <p:nvPr/>
        </p:nvSpPr>
        <p:spPr>
          <a:xfrm rot="5400000">
            <a:off x="7182612" y="3154680"/>
            <a:ext cx="457200" cy="548640"/>
          </a:xfrm>
          <a:prstGeom prst="triangle">
            <a:avLst/>
          </a:prstGeom>
          <a:solidFill>
            <a:srgbClr val="FFFFFF">
              <a:alpha val="90000"/>
            </a:srgbClr>
          </a:solidFill>
          <a:ln>
            <a:noFill/>
          </a:ln>
        </p:spPr>
      </p:sp>
      <p:sp>
        <p:nvSpPr>
          <p:cNvPr id="9" name="Text"/>
          <p:cNvSpPr txBox="1"/>
          <p:nvPr/>
        </p:nvSpPr>
        <p:spPr>
          <a:xfrm>
            <a:off x="3931920" y="1399032"/>
            <a:ext cx="6903720" cy="256032"/>
          </a:xfrm>
          <a:prstGeom prst="rect">
            <a:avLst/>
          </a:prstGeom>
          <a:noFill/>
          <a:ln>
            <a:noFill/>
          </a:ln>
        </p:spPr>
        <p:txBody>
          <a:bodyPr wrap="square" lIns="0" rIns="0" tIns="0" bIns="0"/>
          <a:lstStyle/>
          <a:p>
            <a:pPr algn="c">
              <a:lnSpc>
                <a:spcPct val="105000"/>
              </a:lnSpc>
            </a:pPr>
            <a:r>
              <a:rPr lang="en-US" sz="1100" b="1" dirty="0">
                <a:solidFill>
                  <a:srgbClr val="93C5FD"/>
                </a:solidFill>
                <a:latin typeface="Aptos"/>
                <a:ea typeface="Aptos"/>
                <a:cs typeface="Aptos"/>
              </a:rPr>
              <a:t>VIDEO PLACEHOLDER</a:t>
            </a:r>
            <a:endParaRPr lang="en-US" sz="1100">
              <a:solidFill>
                <a:srgbClr val="93C5FD"/>
              </a:solidFill>
              <a:latin typeface="Aptos"/>
            </a:endParaRPr>
          </a:p>
        </p:txBody>
      </p:sp>
      <p:sp>
        <p:nvSpPr>
          <p:cNvPr id="10" name="Text"/>
          <p:cNvSpPr txBox="1"/>
          <p:nvPr/>
        </p:nvSpPr>
        <p:spPr>
          <a:xfrm>
            <a:off x="4023360" y="4892040"/>
            <a:ext cx="6720840" cy="292608"/>
          </a:xfrm>
          <a:prstGeom prst="rect">
            <a:avLst/>
          </a:prstGeom>
          <a:noFill/>
          <a:ln>
            <a:noFill/>
          </a:ln>
        </p:spPr>
        <p:txBody>
          <a:bodyPr wrap="square" lIns="0" rIns="0" tIns="0" bIns="0"/>
          <a:lstStyle/>
          <a:p>
            <a:pPr algn="c">
              <a:lnSpc>
                <a:spcPct val="105000"/>
              </a:lnSpc>
            </a:pPr>
            <a:r>
              <a:rPr lang="en-US" sz="1600" b="1" dirty="0">
                <a:solidFill>
                  <a:srgbClr val="FFFFFF"/>
                </a:solidFill>
                <a:latin typeface="Aptos"/>
                <a:ea typeface="Aptos"/>
                <a:cs typeface="Aptos"/>
              </a:rPr>
              <a:t>Touchscreen page walkthrough</a:t>
            </a:r>
            <a:endParaRPr lang="en-US" sz="1600">
              <a:solidFill>
                <a:srgbClr val="FFFFFF"/>
              </a:solidFill>
              <a:latin typeface="Aptos"/>
            </a:endParaRPr>
          </a:p>
        </p:txBody>
      </p:sp>
      <p:sp>
        <p:nvSpPr>
          <p:cNvPr id="11" name="Text"/>
          <p:cNvSpPr txBox="1"/>
          <p:nvPr/>
        </p:nvSpPr>
        <p:spPr>
          <a:xfrm>
            <a:off x="4023360" y="5230368"/>
            <a:ext cx="6720840" cy="219456"/>
          </a:xfrm>
          <a:prstGeom prst="rect">
            <a:avLst/>
          </a:prstGeom>
          <a:noFill/>
          <a:ln>
            <a:noFill/>
          </a:ln>
        </p:spPr>
        <p:txBody>
          <a:bodyPr wrap="square" lIns="0" rIns="0" tIns="0" bIns="0"/>
          <a:lstStyle/>
          <a:p>
            <a:pPr algn="c">
              <a:lnSpc>
                <a:spcPct val="105000"/>
              </a:lnSpc>
            </a:pPr>
            <a:r>
              <a:rPr lang="en-US" sz="900" dirty="0">
                <a:solidFill>
                  <a:srgbClr val="CBD5E1"/>
                </a:solidFill>
                <a:latin typeface="Aptos"/>
                <a:ea typeface="Aptos"/>
                <a:cs typeface="Aptos"/>
              </a:rPr>
              <a:t>Insert UI recording: Time Signal, FFT Spectr, Peak Detect, EKG BPM</a:t>
            </a:r>
            <a:endParaRPr lang="en-US" sz="900">
              <a:solidFill>
                <a:srgbClr val="CBD5E1"/>
              </a:solidFill>
              <a:latin typeface="Aptos"/>
            </a:endParaRPr>
          </a:p>
        </p:txBody>
      </p:sp>
      <p:sp>
        <p:nvSpPr>
          <p:cNvPr id="12" name="Rectangle"/>
          <p:cNvSpPr/>
          <p:nvPr/>
        </p:nvSpPr>
        <p:spPr>
          <a:xfrm>
            <a:off x="777240" y="1371600"/>
            <a:ext cx="2240280" cy="457200"/>
          </a:xfrm>
          <a:prstGeom prst="rect">
            <a:avLst/>
          </a:prstGeom>
          <a:solidFill>
            <a:srgbClr val="EFF6FF">
              <a:alpha val="100000"/>
            </a:srgbClr>
          </a:solidFill>
          <a:ln w="12700">
            <a:solidFill>
              <a:srgbClr val="005EB8"/>
            </a:solidFill>
          </a:ln>
        </p:spPr>
      </p:sp>
      <p:sp>
        <p:nvSpPr>
          <p:cNvPr id="13" name="Text"/>
          <p:cNvSpPr txBox="1"/>
          <p:nvPr/>
        </p:nvSpPr>
        <p:spPr>
          <a:xfrm>
            <a:off x="932688" y="1517904"/>
            <a:ext cx="1920240" cy="164592"/>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Time Signal</a:t>
            </a:r>
            <a:endParaRPr lang="en-US" sz="1200">
              <a:solidFill>
                <a:srgbClr val="111827"/>
              </a:solidFill>
              <a:latin typeface="Aptos"/>
            </a:endParaRPr>
          </a:p>
        </p:txBody>
      </p:sp>
      <p:sp>
        <p:nvSpPr>
          <p:cNvPr id="14" name="Rectangle"/>
          <p:cNvSpPr/>
          <p:nvPr/>
        </p:nvSpPr>
        <p:spPr>
          <a:xfrm>
            <a:off x="777240" y="2066544"/>
            <a:ext cx="2240280" cy="457200"/>
          </a:xfrm>
          <a:prstGeom prst="rect">
            <a:avLst/>
          </a:prstGeom>
          <a:solidFill>
            <a:srgbClr val="EFF6FF">
              <a:alpha val="100000"/>
            </a:srgbClr>
          </a:solidFill>
          <a:ln w="12700">
            <a:solidFill>
              <a:srgbClr val="005EB8"/>
            </a:solidFill>
          </a:ln>
        </p:spPr>
      </p:sp>
      <p:sp>
        <p:nvSpPr>
          <p:cNvPr id="15" name="Text"/>
          <p:cNvSpPr txBox="1"/>
          <p:nvPr/>
        </p:nvSpPr>
        <p:spPr>
          <a:xfrm>
            <a:off x="932688" y="2212848"/>
            <a:ext cx="1920240" cy="164592"/>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FFT Spectr</a:t>
            </a:r>
            <a:endParaRPr lang="en-US" sz="1200">
              <a:solidFill>
                <a:srgbClr val="111827"/>
              </a:solidFill>
              <a:latin typeface="Aptos"/>
            </a:endParaRPr>
          </a:p>
        </p:txBody>
      </p:sp>
      <p:sp>
        <p:nvSpPr>
          <p:cNvPr id="16" name="Rectangle"/>
          <p:cNvSpPr/>
          <p:nvPr/>
        </p:nvSpPr>
        <p:spPr>
          <a:xfrm>
            <a:off x="777240" y="2761488"/>
            <a:ext cx="2240280" cy="457200"/>
          </a:xfrm>
          <a:prstGeom prst="rect">
            <a:avLst/>
          </a:prstGeom>
          <a:solidFill>
            <a:srgbClr val="EFF6FF">
              <a:alpha val="100000"/>
            </a:srgbClr>
          </a:solidFill>
          <a:ln w="12700">
            <a:solidFill>
              <a:srgbClr val="005EB8"/>
            </a:solidFill>
          </a:ln>
        </p:spPr>
      </p:sp>
      <p:sp>
        <p:nvSpPr>
          <p:cNvPr id="17" name="Text"/>
          <p:cNvSpPr txBox="1"/>
          <p:nvPr/>
        </p:nvSpPr>
        <p:spPr>
          <a:xfrm>
            <a:off x="932688" y="2907792"/>
            <a:ext cx="1920240" cy="164592"/>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Peak Detect</a:t>
            </a:r>
            <a:endParaRPr lang="en-US" sz="1200">
              <a:solidFill>
                <a:srgbClr val="111827"/>
              </a:solidFill>
              <a:latin typeface="Aptos"/>
            </a:endParaRPr>
          </a:p>
        </p:txBody>
      </p:sp>
      <p:sp>
        <p:nvSpPr>
          <p:cNvPr id="18" name="Rectangle"/>
          <p:cNvSpPr/>
          <p:nvPr/>
        </p:nvSpPr>
        <p:spPr>
          <a:xfrm>
            <a:off x="777240" y="3456432"/>
            <a:ext cx="2240280" cy="457200"/>
          </a:xfrm>
          <a:prstGeom prst="rect">
            <a:avLst/>
          </a:prstGeom>
          <a:solidFill>
            <a:srgbClr val="EFF6FF">
              <a:alpha val="100000"/>
            </a:srgbClr>
          </a:solidFill>
          <a:ln w="12700">
            <a:solidFill>
              <a:srgbClr val="005EB8"/>
            </a:solidFill>
          </a:ln>
        </p:spPr>
      </p:sp>
      <p:sp>
        <p:nvSpPr>
          <p:cNvPr id="19" name="Text"/>
          <p:cNvSpPr txBox="1"/>
          <p:nvPr/>
        </p:nvSpPr>
        <p:spPr>
          <a:xfrm>
            <a:off x="932688" y="3602736"/>
            <a:ext cx="1920240" cy="164592"/>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EKG BPM</a:t>
            </a:r>
            <a:endParaRPr lang="en-US" sz="1200">
              <a:solidFill>
                <a:srgbClr val="111827"/>
              </a:solidFill>
              <a:latin typeface="Aptos"/>
            </a:endParaRPr>
          </a:p>
        </p:txBody>
      </p:sp>
      <p:sp>
        <p:nvSpPr>
          <p:cNvPr id="20" name="Rectangle"/>
          <p:cNvSpPr/>
          <p:nvPr/>
        </p:nvSpPr>
        <p:spPr>
          <a:xfrm>
            <a:off x="777240" y="4151376"/>
            <a:ext cx="2240280" cy="457200"/>
          </a:xfrm>
          <a:prstGeom prst="rect">
            <a:avLst/>
          </a:prstGeom>
          <a:solidFill>
            <a:srgbClr val="FEF3C7">
              <a:alpha val="100000"/>
            </a:srgbClr>
          </a:solidFill>
          <a:ln w="12700">
            <a:solidFill>
              <a:srgbClr val="F59E0B"/>
            </a:solidFill>
          </a:ln>
        </p:spPr>
      </p:sp>
      <p:sp>
        <p:nvSpPr>
          <p:cNvPr id="21" name="Text"/>
          <p:cNvSpPr txBox="1"/>
          <p:nvPr/>
        </p:nvSpPr>
        <p:spPr>
          <a:xfrm>
            <a:off x="932688" y="4297680"/>
            <a:ext cx="1920240" cy="164592"/>
          </a:xfrm>
          <a:prstGeom prst="rect">
            <a:avLst/>
          </a:prstGeom>
          <a:noFill/>
          <a:ln>
            <a:noFill/>
          </a:ln>
        </p:spPr>
        <p:txBody>
          <a:bodyPr wrap="square" lIns="0" rIns="0" tIns="0" bIns="0"/>
          <a:lstStyle/>
          <a:p>
            <a:pPr algn="c">
              <a:lnSpc>
                <a:spcPct val="105000"/>
              </a:lnSpc>
            </a:pPr>
            <a:r>
              <a:rPr lang="en-US" sz="1200" b="1" dirty="0">
                <a:solidFill>
                  <a:srgbClr val="111827"/>
                </a:solidFill>
                <a:latin typeface="Aptos"/>
                <a:ea typeface="Aptos"/>
                <a:cs typeface="Aptos"/>
              </a:rPr>
              <a:t>Log file insert</a:t>
            </a:r>
            <a:endParaRPr lang="en-US" sz="1200">
              <a:solidFill>
                <a:srgbClr val="111827"/>
              </a:solidFill>
              <a:latin typeface="Aptos"/>
            </a:endParaRPr>
          </a:p>
        </p:txBody>
      </p:sp>
      <p:sp>
        <p:nvSpPr>
          <p:cNvPr id="22"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10/14</a:t>
            </a:r>
            <a:endParaRPr lang="en-US" sz="800">
              <a:solidFill>
                <a:srgbClr val="9CA3AF"/>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8FAFC">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Debugging and Validation</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2:31-2:43</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sp>
        <p:nvSpPr>
          <p:cNvPr id="6" name="Rectangle"/>
          <p:cNvSpPr/>
          <p:nvPr/>
        </p:nvSpPr>
        <p:spPr>
          <a:xfrm>
            <a:off x="731520" y="1188720"/>
            <a:ext cx="6537960" cy="4480560"/>
          </a:xfrm>
          <a:prstGeom prst="rect">
            <a:avLst/>
          </a:prstGeom>
          <a:solidFill>
            <a:srgbClr val="111827">
              <a:alpha val="100000"/>
            </a:srgbClr>
          </a:solidFill>
          <a:ln w="25400">
            <a:solidFill>
              <a:srgbClr val="00A6D6"/>
            </a:solidFill>
          </a:ln>
        </p:spPr>
      </p:sp>
      <p:sp>
        <p:nvSpPr>
          <p:cNvPr id="7" name="Rectangle"/>
          <p:cNvSpPr/>
          <p:nvPr/>
        </p:nvSpPr>
        <p:spPr>
          <a:xfrm>
            <a:off x="859536" y="1316736"/>
            <a:ext cx="6281928" cy="4224528"/>
          </a:xfrm>
          <a:prstGeom prst="rect">
            <a:avLst/>
          </a:prstGeom>
          <a:solidFill>
            <a:srgbClr val="1F2937">
              <a:alpha val="100000"/>
            </a:srgbClr>
          </a:solidFill>
          <a:ln>
            <a:noFill/>
          </a:ln>
        </p:spPr>
      </p:sp>
      <p:sp>
        <p:nvSpPr>
          <p:cNvPr id="8" name="Triangle"/>
          <p:cNvSpPr/>
          <p:nvPr/>
        </p:nvSpPr>
        <p:spPr>
          <a:xfrm rot="5400000">
            <a:off x="3799332" y="3154680"/>
            <a:ext cx="457200" cy="548640"/>
          </a:xfrm>
          <a:prstGeom prst="triangle">
            <a:avLst/>
          </a:prstGeom>
          <a:solidFill>
            <a:srgbClr val="FFFFFF">
              <a:alpha val="90000"/>
            </a:srgbClr>
          </a:solidFill>
          <a:ln>
            <a:noFill/>
          </a:ln>
        </p:spPr>
      </p:sp>
      <p:sp>
        <p:nvSpPr>
          <p:cNvPr id="9" name="Text"/>
          <p:cNvSpPr txBox="1"/>
          <p:nvPr/>
        </p:nvSpPr>
        <p:spPr>
          <a:xfrm>
            <a:off x="1051560" y="1444752"/>
            <a:ext cx="5897880" cy="256032"/>
          </a:xfrm>
          <a:prstGeom prst="rect">
            <a:avLst/>
          </a:prstGeom>
          <a:noFill/>
          <a:ln>
            <a:noFill/>
          </a:ln>
        </p:spPr>
        <p:txBody>
          <a:bodyPr wrap="square" lIns="0" rIns="0" tIns="0" bIns="0"/>
          <a:lstStyle/>
          <a:p>
            <a:pPr algn="c">
              <a:lnSpc>
                <a:spcPct val="105000"/>
              </a:lnSpc>
            </a:pPr>
            <a:r>
              <a:rPr lang="en-US" sz="1100" b="1" dirty="0">
                <a:solidFill>
                  <a:srgbClr val="93C5FD"/>
                </a:solidFill>
                <a:latin typeface="Aptos"/>
                <a:ea typeface="Aptos"/>
                <a:cs typeface="Aptos"/>
              </a:rPr>
              <a:t>VIDEO PLACEHOLDER</a:t>
            </a:r>
            <a:endParaRPr lang="en-US" sz="1100">
              <a:solidFill>
                <a:srgbClr val="93C5FD"/>
              </a:solidFill>
              <a:latin typeface="Aptos"/>
            </a:endParaRPr>
          </a:p>
        </p:txBody>
      </p:sp>
      <p:sp>
        <p:nvSpPr>
          <p:cNvPr id="10" name="Text"/>
          <p:cNvSpPr txBox="1"/>
          <p:nvPr/>
        </p:nvSpPr>
        <p:spPr>
          <a:xfrm>
            <a:off x="1143000" y="4846320"/>
            <a:ext cx="5715000" cy="292608"/>
          </a:xfrm>
          <a:prstGeom prst="rect">
            <a:avLst/>
          </a:prstGeom>
          <a:noFill/>
          <a:ln>
            <a:noFill/>
          </a:ln>
        </p:spPr>
        <p:txBody>
          <a:bodyPr wrap="square" lIns="0" rIns="0" tIns="0" bIns="0"/>
          <a:lstStyle/>
          <a:p>
            <a:pPr algn="c">
              <a:lnSpc>
                <a:spcPct val="105000"/>
              </a:lnSpc>
            </a:pPr>
            <a:r>
              <a:rPr lang="en-US" sz="1600" b="1" dirty="0">
                <a:solidFill>
                  <a:srgbClr val="FFFFFF"/>
                </a:solidFill>
                <a:latin typeface="Aptos"/>
                <a:ea typeface="Aptos"/>
                <a:cs typeface="Aptos"/>
              </a:rPr>
              <a:t>Zoomed UI details</a:t>
            </a:r>
            <a:endParaRPr lang="en-US" sz="1600">
              <a:solidFill>
                <a:srgbClr val="FFFFFF"/>
              </a:solidFill>
              <a:latin typeface="Aptos"/>
            </a:endParaRPr>
          </a:p>
        </p:txBody>
      </p:sp>
      <p:sp>
        <p:nvSpPr>
          <p:cNvPr id="11" name="Text"/>
          <p:cNvSpPr txBox="1"/>
          <p:nvPr/>
        </p:nvSpPr>
        <p:spPr>
          <a:xfrm>
            <a:off x="1143000" y="5184648"/>
            <a:ext cx="5715000" cy="219456"/>
          </a:xfrm>
          <a:prstGeom prst="rect">
            <a:avLst/>
          </a:prstGeom>
          <a:noFill/>
          <a:ln>
            <a:noFill/>
          </a:ln>
        </p:spPr>
        <p:txBody>
          <a:bodyPr wrap="square" lIns="0" rIns="0" tIns="0" bIns="0"/>
          <a:lstStyle/>
          <a:p>
            <a:pPr algn="c">
              <a:lnSpc>
                <a:spcPct val="105000"/>
              </a:lnSpc>
            </a:pPr>
            <a:r>
              <a:rPr lang="en-US" sz="900" dirty="0">
                <a:solidFill>
                  <a:srgbClr val="CBD5E1"/>
                </a:solidFill>
                <a:latin typeface="Aptos"/>
                <a:ea typeface="Aptos"/>
                <a:cs typeface="Aptos"/>
              </a:rPr>
              <a:t>Insert clip: spectrum peak plus ECG BPM reference page</a:t>
            </a:r>
            <a:endParaRPr lang="en-US" sz="900">
              <a:solidFill>
                <a:srgbClr val="CBD5E1"/>
              </a:solidFill>
              <a:latin typeface="Aptos"/>
            </a:endParaRPr>
          </a:p>
        </p:txBody>
      </p:sp>
      <p:sp>
        <p:nvSpPr>
          <p:cNvPr id="12" name="Text"/>
          <p:cNvSpPr txBox="1"/>
          <p:nvPr/>
        </p:nvSpPr>
        <p:spPr>
          <a:xfrm>
            <a:off x="7772400" y="1417320"/>
            <a:ext cx="3383280" cy="685800"/>
          </a:xfrm>
          <a:prstGeom prst="rect">
            <a:avLst/>
          </a:prstGeom>
          <a:noFill/>
          <a:ln>
            <a:noFill/>
          </a:ln>
        </p:spPr>
        <p:txBody>
          <a:bodyPr wrap="square" lIns="0" rIns="0" tIns="0" bIns="0"/>
          <a:lstStyle/>
          <a:p>
            <a:pPr algn="l">
              <a:lnSpc>
                <a:spcPct val="105000"/>
              </a:lnSpc>
            </a:pPr>
            <a:r>
              <a:rPr lang="en-US" sz="2300" b="1" dirty="0">
                <a:solidFill>
                  <a:srgbClr val="111827"/>
                </a:solidFill>
                <a:latin typeface="Aptos"/>
                <a:ea typeface="Aptos"/>
                <a:cs typeface="Aptos"/>
              </a:rPr>
              <a:t>User sees the result</a:t>
            </a:r>
            <a:endParaRPr lang="en-US" sz="2300">
              <a:solidFill>
                <a:srgbClr val="111827"/>
              </a:solidFill>
              <a:latin typeface="Aptos"/>
            </a:endParaRPr>
          </a:p>
          <a:p>
            <a:pPr algn="l">
              <a:lnSpc>
                <a:spcPct val="105000"/>
              </a:lnSpc>
            </a:pPr>
            <a:r>
              <a:rPr lang="en-US" sz="2300" b="1" dirty="0">
                <a:solidFill>
                  <a:srgbClr val="111827"/>
                </a:solidFill>
                <a:latin typeface="Aptos"/>
                <a:ea typeface="Aptos"/>
                <a:cs typeface="Aptos"/>
              </a:rPr>
              <a:t>and the intermediate data.</a:t>
            </a:r>
            <a:endParaRPr lang="en-US" sz="2300">
              <a:solidFill>
                <a:srgbClr val="111827"/>
              </a:solidFill>
              <a:latin typeface="Aptos"/>
            </a:endParaRPr>
          </a:p>
        </p:txBody>
      </p:sp>
      <p:sp>
        <p:nvSpPr>
          <p:cNvPr id="13" name="Rectangle"/>
          <p:cNvSpPr/>
          <p:nvPr/>
        </p:nvSpPr>
        <p:spPr>
          <a:xfrm>
            <a:off x="7845552" y="2743200"/>
            <a:ext cx="146304" cy="146304"/>
          </a:xfrm>
          <a:prstGeom prst="rect">
            <a:avLst/>
          </a:prstGeom>
          <a:solidFill>
            <a:srgbClr val="005EB8">
              <a:alpha val="100000"/>
            </a:srgbClr>
          </a:solidFill>
          <a:ln>
            <a:noFill/>
          </a:ln>
        </p:spPr>
      </p:sp>
      <p:sp>
        <p:nvSpPr>
          <p:cNvPr id="14" name="Text"/>
          <p:cNvSpPr txBox="1"/>
          <p:nvPr/>
        </p:nvSpPr>
        <p:spPr>
          <a:xfrm>
            <a:off x="8138160" y="2688336"/>
            <a:ext cx="2423160" cy="201168"/>
          </a:xfrm>
          <a:prstGeom prst="rect">
            <a:avLst/>
          </a:prstGeom>
          <a:noFill/>
          <a:ln>
            <a:noFill/>
          </a:ln>
        </p:spPr>
        <p:txBody>
          <a:bodyPr wrap="square" lIns="0" rIns="0" tIns="0" bIns="0"/>
          <a:lstStyle/>
          <a:p>
            <a:pPr algn="l">
              <a:lnSpc>
                <a:spcPct val="105000"/>
              </a:lnSpc>
            </a:pPr>
            <a:r>
              <a:rPr lang="en-US" sz="1200" b="1" dirty="0">
                <a:solidFill>
                  <a:srgbClr val="111827"/>
                </a:solidFill>
                <a:latin typeface="Aptos"/>
                <a:ea typeface="Aptos"/>
                <a:cs typeface="Aptos"/>
              </a:rPr>
              <a:t>BPM estimate</a:t>
            </a:r>
            <a:endParaRPr lang="en-US" sz="1200">
              <a:solidFill>
                <a:srgbClr val="111827"/>
              </a:solidFill>
              <a:latin typeface="Aptos"/>
            </a:endParaRPr>
          </a:p>
        </p:txBody>
      </p:sp>
      <p:sp>
        <p:nvSpPr>
          <p:cNvPr id="15" name="Rectangle"/>
          <p:cNvSpPr/>
          <p:nvPr/>
        </p:nvSpPr>
        <p:spPr>
          <a:xfrm>
            <a:off x="7845552" y="3218688"/>
            <a:ext cx="146304" cy="146304"/>
          </a:xfrm>
          <a:prstGeom prst="rect">
            <a:avLst/>
          </a:prstGeom>
          <a:solidFill>
            <a:srgbClr val="005EB8">
              <a:alpha val="100000"/>
            </a:srgbClr>
          </a:solidFill>
          <a:ln>
            <a:noFill/>
          </a:ln>
        </p:spPr>
      </p:sp>
      <p:sp>
        <p:nvSpPr>
          <p:cNvPr id="16" name="Text"/>
          <p:cNvSpPr txBox="1"/>
          <p:nvPr/>
        </p:nvSpPr>
        <p:spPr>
          <a:xfrm>
            <a:off x="8138160" y="3163824"/>
            <a:ext cx="2423160" cy="201168"/>
          </a:xfrm>
          <a:prstGeom prst="rect">
            <a:avLst/>
          </a:prstGeom>
          <a:noFill/>
          <a:ln>
            <a:noFill/>
          </a:ln>
        </p:spPr>
        <p:txBody>
          <a:bodyPr wrap="square" lIns="0" rIns="0" tIns="0" bIns="0"/>
          <a:lstStyle/>
          <a:p>
            <a:pPr algn="l">
              <a:lnSpc>
                <a:spcPct val="105000"/>
              </a:lnSpc>
            </a:pPr>
            <a:r>
              <a:rPr lang="en-US" sz="1200" b="1" dirty="0">
                <a:solidFill>
                  <a:srgbClr val="111827"/>
                </a:solidFill>
                <a:latin typeface="Aptos"/>
                <a:ea typeface="Aptos"/>
                <a:cs typeface="Aptos"/>
              </a:rPr>
              <a:t>Time signal</a:t>
            </a:r>
            <a:endParaRPr lang="en-US" sz="1200">
              <a:solidFill>
                <a:srgbClr val="111827"/>
              </a:solidFill>
              <a:latin typeface="Aptos"/>
            </a:endParaRPr>
          </a:p>
        </p:txBody>
      </p:sp>
      <p:sp>
        <p:nvSpPr>
          <p:cNvPr id="17" name="Rectangle"/>
          <p:cNvSpPr/>
          <p:nvPr/>
        </p:nvSpPr>
        <p:spPr>
          <a:xfrm>
            <a:off x="7845552" y="3694176"/>
            <a:ext cx="146304" cy="146304"/>
          </a:xfrm>
          <a:prstGeom prst="rect">
            <a:avLst/>
          </a:prstGeom>
          <a:solidFill>
            <a:srgbClr val="005EB8">
              <a:alpha val="100000"/>
            </a:srgbClr>
          </a:solidFill>
          <a:ln>
            <a:noFill/>
          </a:ln>
        </p:spPr>
      </p:sp>
      <p:sp>
        <p:nvSpPr>
          <p:cNvPr id="18" name="Text"/>
          <p:cNvSpPr txBox="1"/>
          <p:nvPr/>
        </p:nvSpPr>
        <p:spPr>
          <a:xfrm>
            <a:off x="8138160" y="3639312"/>
            <a:ext cx="2423160" cy="201168"/>
          </a:xfrm>
          <a:prstGeom prst="rect">
            <a:avLst/>
          </a:prstGeom>
          <a:noFill/>
          <a:ln>
            <a:noFill/>
          </a:ln>
        </p:spPr>
        <p:txBody>
          <a:bodyPr wrap="square" lIns="0" rIns="0" tIns="0" bIns="0"/>
          <a:lstStyle/>
          <a:p>
            <a:pPr algn="l">
              <a:lnSpc>
                <a:spcPct val="105000"/>
              </a:lnSpc>
            </a:pPr>
            <a:r>
              <a:rPr lang="en-US" sz="1200" b="1" dirty="0">
                <a:solidFill>
                  <a:srgbClr val="111827"/>
                </a:solidFill>
                <a:latin typeface="Aptos"/>
                <a:ea typeface="Aptos"/>
                <a:cs typeface="Aptos"/>
              </a:rPr>
              <a:t>FFT spectrum</a:t>
            </a:r>
            <a:endParaRPr lang="en-US" sz="1200">
              <a:solidFill>
                <a:srgbClr val="111827"/>
              </a:solidFill>
              <a:latin typeface="Aptos"/>
            </a:endParaRPr>
          </a:p>
        </p:txBody>
      </p:sp>
      <p:sp>
        <p:nvSpPr>
          <p:cNvPr id="19" name="Rectangle"/>
          <p:cNvSpPr/>
          <p:nvPr/>
        </p:nvSpPr>
        <p:spPr>
          <a:xfrm>
            <a:off x="7845552" y="4169664"/>
            <a:ext cx="146304" cy="146304"/>
          </a:xfrm>
          <a:prstGeom prst="rect">
            <a:avLst/>
          </a:prstGeom>
          <a:solidFill>
            <a:srgbClr val="F59E0B">
              <a:alpha val="100000"/>
            </a:srgbClr>
          </a:solidFill>
          <a:ln>
            <a:noFill/>
          </a:ln>
        </p:spPr>
      </p:sp>
      <p:sp>
        <p:nvSpPr>
          <p:cNvPr id="20" name="Text"/>
          <p:cNvSpPr txBox="1"/>
          <p:nvPr/>
        </p:nvSpPr>
        <p:spPr>
          <a:xfrm>
            <a:off x="8138160" y="4114800"/>
            <a:ext cx="2423160" cy="201168"/>
          </a:xfrm>
          <a:prstGeom prst="rect">
            <a:avLst/>
          </a:prstGeom>
          <a:noFill/>
          <a:ln>
            <a:noFill/>
          </a:ln>
        </p:spPr>
        <p:txBody>
          <a:bodyPr wrap="square" lIns="0" rIns="0" tIns="0" bIns="0"/>
          <a:lstStyle/>
          <a:p>
            <a:pPr algn="l">
              <a:lnSpc>
                <a:spcPct val="105000"/>
              </a:lnSpc>
            </a:pPr>
            <a:r>
              <a:rPr lang="en-US" sz="1200" b="1" dirty="0">
                <a:solidFill>
                  <a:srgbClr val="111827"/>
                </a:solidFill>
                <a:latin typeface="Aptos"/>
                <a:ea typeface="Aptos"/>
                <a:cs typeface="Aptos"/>
              </a:rPr>
              <a:t>Peak position</a:t>
            </a:r>
            <a:endParaRPr lang="en-US" sz="1200">
              <a:solidFill>
                <a:srgbClr val="111827"/>
              </a:solidFill>
              <a:latin typeface="Aptos"/>
            </a:endParaRPr>
          </a:p>
        </p:txBody>
      </p:sp>
      <p:sp>
        <p:nvSpPr>
          <p:cNvPr id="21" name="Rectangle"/>
          <p:cNvSpPr/>
          <p:nvPr/>
        </p:nvSpPr>
        <p:spPr>
          <a:xfrm>
            <a:off x="7845552" y="4645152"/>
            <a:ext cx="146304" cy="146304"/>
          </a:xfrm>
          <a:prstGeom prst="rect">
            <a:avLst/>
          </a:prstGeom>
          <a:solidFill>
            <a:srgbClr val="F59E0B">
              <a:alpha val="100000"/>
            </a:srgbClr>
          </a:solidFill>
          <a:ln>
            <a:noFill/>
          </a:ln>
        </p:spPr>
      </p:sp>
      <p:sp>
        <p:nvSpPr>
          <p:cNvPr id="22" name="Text"/>
          <p:cNvSpPr txBox="1"/>
          <p:nvPr/>
        </p:nvSpPr>
        <p:spPr>
          <a:xfrm>
            <a:off x="8138160" y="4590288"/>
            <a:ext cx="2423160" cy="201168"/>
          </a:xfrm>
          <a:prstGeom prst="rect">
            <a:avLst/>
          </a:prstGeom>
          <a:noFill/>
          <a:ln>
            <a:noFill/>
          </a:ln>
        </p:spPr>
        <p:txBody>
          <a:bodyPr wrap="square" lIns="0" rIns="0" tIns="0" bIns="0"/>
          <a:lstStyle/>
          <a:p>
            <a:pPr algn="l">
              <a:lnSpc>
                <a:spcPct val="105000"/>
              </a:lnSpc>
            </a:pPr>
            <a:r>
              <a:rPr lang="en-US" sz="1200" b="1" dirty="0">
                <a:solidFill>
                  <a:srgbClr val="111827"/>
                </a:solidFill>
                <a:latin typeface="Aptos"/>
                <a:ea typeface="Aptos"/>
                <a:cs typeface="Aptos"/>
              </a:rPr>
              <a:t>ECG comparison</a:t>
            </a:r>
            <a:endParaRPr lang="en-US" sz="1200">
              <a:solidFill>
                <a:srgbClr val="111827"/>
              </a:solidFill>
              <a:latin typeface="Aptos"/>
            </a:endParaRPr>
          </a:p>
        </p:txBody>
      </p:sp>
      <p:sp>
        <p:nvSpPr>
          <p:cNvPr id="23"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11/14</a:t>
            </a:r>
            <a:endParaRPr lang="en-US" sz="800">
              <a:solidFill>
                <a:srgbClr val="9CA3AF"/>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0B1220">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FFFFFF"/>
                </a:solidFill>
                <a:latin typeface="Aptos"/>
                <a:ea typeface="Aptos"/>
                <a:cs typeface="Aptos"/>
              </a:rPr>
              <a:t>Technical Summary</a:t>
            </a:r>
            <a:endParaRPr lang="en-US" sz="1900">
              <a:solidFill>
                <a:srgbClr val="FFFFFF"/>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D1D5DB"/>
                </a:solidFill>
                <a:latin typeface="Aptos"/>
                <a:ea typeface="Aptos"/>
                <a:cs typeface="Aptos"/>
              </a:rPr>
              <a:t>2:44-2:55</a:t>
            </a:r>
            <a:endParaRPr lang="en-US" sz="1100">
              <a:solidFill>
                <a:srgbClr val="D1D5DB"/>
              </a:solidFill>
              <a:latin typeface="Aptos"/>
            </a:endParaRPr>
          </a:p>
        </p:txBody>
      </p:sp>
      <p:sp>
        <p:nvSpPr>
          <p:cNvPr id="5" name="Rectangle"/>
          <p:cNvSpPr/>
          <p:nvPr/>
        </p:nvSpPr>
        <p:spPr>
          <a:xfrm>
            <a:off x="502920" y="786384"/>
            <a:ext cx="11201400" cy="13716"/>
          </a:xfrm>
          <a:prstGeom prst="rect">
            <a:avLst/>
          </a:prstGeom>
          <a:solidFill>
            <a:srgbClr val="00A6D6">
              <a:alpha val="100000"/>
            </a:srgbClr>
          </a:solidFill>
          <a:ln>
            <a:noFill/>
          </a:ln>
        </p:spPr>
      </p:sp>
      <p:sp>
        <p:nvSpPr>
          <p:cNvPr id="6" name="Rectangle"/>
          <p:cNvSpPr/>
          <p:nvPr/>
        </p:nvSpPr>
        <p:spPr>
          <a:xfrm>
            <a:off x="777240" y="1508760"/>
            <a:ext cx="4754880" cy="1234440"/>
          </a:xfrm>
          <a:prstGeom prst="rect">
            <a:avLst/>
          </a:prstGeom>
          <a:solidFill>
            <a:srgbClr val="111827">
              <a:alpha val="100000"/>
            </a:srgbClr>
          </a:solidFill>
          <a:ln w="19050">
            <a:solidFill>
              <a:srgbClr val="00A6D6"/>
            </a:solidFill>
          </a:ln>
        </p:spPr>
      </p:sp>
      <p:sp>
        <p:nvSpPr>
          <p:cNvPr id="7" name="Text"/>
          <p:cNvSpPr txBox="1"/>
          <p:nvPr/>
        </p:nvSpPr>
        <p:spPr>
          <a:xfrm>
            <a:off x="1005840" y="1709928"/>
            <a:ext cx="4297680" cy="219456"/>
          </a:xfrm>
          <a:prstGeom prst="rect">
            <a:avLst/>
          </a:prstGeom>
          <a:noFill/>
          <a:ln>
            <a:noFill/>
          </a:ln>
        </p:spPr>
        <p:txBody>
          <a:bodyPr wrap="square" lIns="0" rIns="0" tIns="0" bIns="0"/>
          <a:lstStyle/>
          <a:p>
            <a:pPr algn="l">
              <a:lnSpc>
                <a:spcPct val="105000"/>
              </a:lnSpc>
            </a:pPr>
            <a:r>
              <a:rPr lang="en-US" sz="1300" b="1" dirty="0">
                <a:solidFill>
                  <a:srgbClr val="94A3B8"/>
                </a:solidFill>
                <a:latin typeface="Aptos"/>
                <a:ea typeface="Aptos"/>
                <a:cs typeface="Aptos"/>
              </a:rPr>
              <a:t>Range</a:t>
            </a:r>
            <a:endParaRPr lang="en-US" sz="1300">
              <a:solidFill>
                <a:srgbClr val="94A3B8"/>
              </a:solidFill>
              <a:latin typeface="Aptos"/>
            </a:endParaRPr>
          </a:p>
        </p:txBody>
      </p:sp>
      <p:sp>
        <p:nvSpPr>
          <p:cNvPr id="8" name="Text"/>
          <p:cNvSpPr txBox="1"/>
          <p:nvPr/>
        </p:nvSpPr>
        <p:spPr>
          <a:xfrm>
            <a:off x="1005840" y="2130552"/>
            <a:ext cx="4297680" cy="347472"/>
          </a:xfrm>
          <a:prstGeom prst="rect">
            <a:avLst/>
          </a:prstGeom>
          <a:noFill/>
          <a:ln>
            <a:noFill/>
          </a:ln>
        </p:spPr>
        <p:txBody>
          <a:bodyPr wrap="square" lIns="0" rIns="0" tIns="0" bIns="0"/>
          <a:lstStyle/>
          <a:p>
            <a:pPr algn="l">
              <a:lnSpc>
                <a:spcPct val="105000"/>
              </a:lnSpc>
            </a:pPr>
            <a:r>
              <a:rPr lang="en-US" sz="2200" b="1" dirty="0">
                <a:solidFill>
                  <a:srgbClr val="FFFFFF"/>
                </a:solidFill>
                <a:latin typeface="Aptos"/>
                <a:ea typeface="Aptos"/>
                <a:cs typeface="Aptos"/>
              </a:rPr>
              <a:t>up to about 1 m</a:t>
            </a:r>
            <a:endParaRPr lang="en-US" sz="2200">
              <a:solidFill>
                <a:srgbClr val="FFFFFF"/>
              </a:solidFill>
              <a:latin typeface="Aptos"/>
            </a:endParaRPr>
          </a:p>
        </p:txBody>
      </p:sp>
      <p:sp>
        <p:nvSpPr>
          <p:cNvPr id="9" name="Rectangle"/>
          <p:cNvSpPr/>
          <p:nvPr/>
        </p:nvSpPr>
        <p:spPr>
          <a:xfrm>
            <a:off x="6263640" y="1508760"/>
            <a:ext cx="4754880" cy="1234440"/>
          </a:xfrm>
          <a:prstGeom prst="rect">
            <a:avLst/>
          </a:prstGeom>
          <a:solidFill>
            <a:srgbClr val="111827">
              <a:alpha val="100000"/>
            </a:srgbClr>
          </a:solidFill>
          <a:ln w="19050">
            <a:solidFill>
              <a:srgbClr val="00A6D6"/>
            </a:solidFill>
          </a:ln>
        </p:spPr>
      </p:sp>
      <p:sp>
        <p:nvSpPr>
          <p:cNvPr id="10" name="Text"/>
          <p:cNvSpPr txBox="1"/>
          <p:nvPr/>
        </p:nvSpPr>
        <p:spPr>
          <a:xfrm>
            <a:off x="6492240" y="1709928"/>
            <a:ext cx="4297680" cy="219456"/>
          </a:xfrm>
          <a:prstGeom prst="rect">
            <a:avLst/>
          </a:prstGeom>
          <a:noFill/>
          <a:ln>
            <a:noFill/>
          </a:ln>
        </p:spPr>
        <p:txBody>
          <a:bodyPr wrap="square" lIns="0" rIns="0" tIns="0" bIns="0"/>
          <a:lstStyle/>
          <a:p>
            <a:pPr algn="l">
              <a:lnSpc>
                <a:spcPct val="105000"/>
              </a:lnSpc>
            </a:pPr>
            <a:r>
              <a:rPr lang="en-US" sz="1300" b="1" dirty="0">
                <a:solidFill>
                  <a:srgbClr val="94A3B8"/>
                </a:solidFill>
                <a:latin typeface="Aptos"/>
                <a:ea typeface="Aptos"/>
                <a:cs typeface="Aptos"/>
              </a:rPr>
              <a:t>Spectrum</a:t>
            </a:r>
            <a:endParaRPr lang="en-US" sz="1300">
              <a:solidFill>
                <a:srgbClr val="94A3B8"/>
              </a:solidFill>
              <a:latin typeface="Aptos"/>
            </a:endParaRPr>
          </a:p>
        </p:txBody>
      </p:sp>
      <p:sp>
        <p:nvSpPr>
          <p:cNvPr id="11" name="Text"/>
          <p:cNvSpPr txBox="1"/>
          <p:nvPr/>
        </p:nvSpPr>
        <p:spPr>
          <a:xfrm>
            <a:off x="6492240" y="2130552"/>
            <a:ext cx="4297680" cy="347472"/>
          </a:xfrm>
          <a:prstGeom prst="rect">
            <a:avLst/>
          </a:prstGeom>
          <a:noFill/>
          <a:ln>
            <a:noFill/>
          </a:ln>
        </p:spPr>
        <p:txBody>
          <a:bodyPr wrap="square" lIns="0" rIns="0" tIns="0" bIns="0"/>
          <a:lstStyle/>
          <a:p>
            <a:pPr algn="l">
              <a:lnSpc>
                <a:spcPct val="105000"/>
              </a:lnSpc>
            </a:pPr>
            <a:r>
              <a:rPr lang="en-US" sz="2200" b="1" dirty="0">
                <a:solidFill>
                  <a:srgbClr val="FFFFFF"/>
                </a:solidFill>
                <a:latin typeface="Aptos"/>
                <a:ea typeface="Aptos"/>
                <a:cs typeface="Aptos"/>
              </a:rPr>
              <a:t>+/- 4 Hz display</a:t>
            </a:r>
            <a:endParaRPr lang="en-US" sz="2200">
              <a:solidFill>
                <a:srgbClr val="FFFFFF"/>
              </a:solidFill>
              <a:latin typeface="Aptos"/>
            </a:endParaRPr>
          </a:p>
        </p:txBody>
      </p:sp>
      <p:sp>
        <p:nvSpPr>
          <p:cNvPr id="12" name="Rectangle"/>
          <p:cNvSpPr/>
          <p:nvPr/>
        </p:nvSpPr>
        <p:spPr>
          <a:xfrm>
            <a:off x="777240" y="3383280"/>
            <a:ext cx="4754880" cy="1234440"/>
          </a:xfrm>
          <a:prstGeom prst="rect">
            <a:avLst/>
          </a:prstGeom>
          <a:solidFill>
            <a:srgbClr val="111827">
              <a:alpha val="100000"/>
            </a:srgbClr>
          </a:solidFill>
          <a:ln w="19050">
            <a:solidFill>
              <a:srgbClr val="F59E0B"/>
            </a:solidFill>
          </a:ln>
        </p:spPr>
      </p:sp>
      <p:sp>
        <p:nvSpPr>
          <p:cNvPr id="13" name="Text"/>
          <p:cNvSpPr txBox="1"/>
          <p:nvPr/>
        </p:nvSpPr>
        <p:spPr>
          <a:xfrm>
            <a:off x="1005840" y="3584448"/>
            <a:ext cx="4297680" cy="219456"/>
          </a:xfrm>
          <a:prstGeom prst="rect">
            <a:avLst/>
          </a:prstGeom>
          <a:noFill/>
          <a:ln>
            <a:noFill/>
          </a:ln>
        </p:spPr>
        <p:txBody>
          <a:bodyPr wrap="square" lIns="0" rIns="0" tIns="0" bIns="0"/>
          <a:lstStyle/>
          <a:p>
            <a:pPr algn="l">
              <a:lnSpc>
                <a:spcPct val="105000"/>
              </a:lnSpc>
            </a:pPr>
            <a:r>
              <a:rPr lang="en-US" sz="1300" b="1" dirty="0">
                <a:solidFill>
                  <a:srgbClr val="94A3B8"/>
                </a:solidFill>
                <a:latin typeface="Aptos"/>
                <a:ea typeface="Aptos"/>
                <a:cs typeface="Aptos"/>
              </a:rPr>
              <a:t>Validation</a:t>
            </a:r>
            <a:endParaRPr lang="en-US" sz="1300">
              <a:solidFill>
                <a:srgbClr val="94A3B8"/>
              </a:solidFill>
              <a:latin typeface="Aptos"/>
            </a:endParaRPr>
          </a:p>
        </p:txBody>
      </p:sp>
      <p:sp>
        <p:nvSpPr>
          <p:cNvPr id="14" name="Text"/>
          <p:cNvSpPr txBox="1"/>
          <p:nvPr/>
        </p:nvSpPr>
        <p:spPr>
          <a:xfrm>
            <a:off x="1005840" y="4005072"/>
            <a:ext cx="4297680" cy="347472"/>
          </a:xfrm>
          <a:prstGeom prst="rect">
            <a:avLst/>
          </a:prstGeom>
          <a:noFill/>
          <a:ln>
            <a:noFill/>
          </a:ln>
        </p:spPr>
        <p:txBody>
          <a:bodyPr wrap="square" lIns="0" rIns="0" tIns="0" bIns="0"/>
          <a:lstStyle/>
          <a:p>
            <a:pPr algn="l">
              <a:lnSpc>
                <a:spcPct val="105000"/>
              </a:lnSpc>
            </a:pPr>
            <a:r>
              <a:rPr lang="en-US" sz="2200" b="1" dirty="0">
                <a:solidFill>
                  <a:srgbClr val="FFFFFF"/>
                </a:solidFill>
                <a:latin typeface="Aptos"/>
                <a:ea typeface="Aptos"/>
                <a:cs typeface="Aptos"/>
              </a:rPr>
              <a:t>ECG comparison</a:t>
            </a:r>
            <a:endParaRPr lang="en-US" sz="2200">
              <a:solidFill>
                <a:srgbClr val="FFFFFF"/>
              </a:solidFill>
              <a:latin typeface="Aptos"/>
            </a:endParaRPr>
          </a:p>
        </p:txBody>
      </p:sp>
      <p:sp>
        <p:nvSpPr>
          <p:cNvPr id="15" name="Rectangle"/>
          <p:cNvSpPr/>
          <p:nvPr/>
        </p:nvSpPr>
        <p:spPr>
          <a:xfrm>
            <a:off x="6263640" y="3383280"/>
            <a:ext cx="4754880" cy="1234440"/>
          </a:xfrm>
          <a:prstGeom prst="rect">
            <a:avLst/>
          </a:prstGeom>
          <a:solidFill>
            <a:srgbClr val="111827">
              <a:alpha val="100000"/>
            </a:srgbClr>
          </a:solidFill>
          <a:ln w="19050">
            <a:solidFill>
              <a:srgbClr val="00A6D6"/>
            </a:solidFill>
          </a:ln>
        </p:spPr>
      </p:sp>
      <p:sp>
        <p:nvSpPr>
          <p:cNvPr id="16" name="Text"/>
          <p:cNvSpPr txBox="1"/>
          <p:nvPr/>
        </p:nvSpPr>
        <p:spPr>
          <a:xfrm>
            <a:off x="6492240" y="3584448"/>
            <a:ext cx="4297680" cy="219456"/>
          </a:xfrm>
          <a:prstGeom prst="rect">
            <a:avLst/>
          </a:prstGeom>
          <a:noFill/>
          <a:ln>
            <a:noFill/>
          </a:ln>
        </p:spPr>
        <p:txBody>
          <a:bodyPr wrap="square" lIns="0" rIns="0" tIns="0" bIns="0"/>
          <a:lstStyle/>
          <a:p>
            <a:pPr algn="l">
              <a:lnSpc>
                <a:spcPct val="105000"/>
              </a:lnSpc>
            </a:pPr>
            <a:r>
              <a:rPr lang="en-US" sz="1300" b="1" dirty="0">
                <a:solidFill>
                  <a:srgbClr val="94A3B8"/>
                </a:solidFill>
                <a:latin typeface="Aptos"/>
                <a:ea typeface="Aptos"/>
                <a:cs typeface="Aptos"/>
              </a:rPr>
              <a:t>Logging</a:t>
            </a:r>
            <a:endParaRPr lang="en-US" sz="1300">
              <a:solidFill>
                <a:srgbClr val="94A3B8"/>
              </a:solidFill>
              <a:latin typeface="Aptos"/>
            </a:endParaRPr>
          </a:p>
        </p:txBody>
      </p:sp>
      <p:sp>
        <p:nvSpPr>
          <p:cNvPr id="17" name="Text"/>
          <p:cNvSpPr txBox="1"/>
          <p:nvPr/>
        </p:nvSpPr>
        <p:spPr>
          <a:xfrm>
            <a:off x="6492240" y="4005072"/>
            <a:ext cx="4297680" cy="347472"/>
          </a:xfrm>
          <a:prstGeom prst="rect">
            <a:avLst/>
          </a:prstGeom>
          <a:noFill/>
          <a:ln>
            <a:noFill/>
          </a:ln>
        </p:spPr>
        <p:txBody>
          <a:bodyPr wrap="square" lIns="0" rIns="0" tIns="0" bIns="0"/>
          <a:lstStyle/>
          <a:p>
            <a:pPr algn="l">
              <a:lnSpc>
                <a:spcPct val="105000"/>
              </a:lnSpc>
            </a:pPr>
            <a:r>
              <a:rPr lang="en-US" sz="2200" b="1" dirty="0">
                <a:solidFill>
                  <a:srgbClr val="FFFFFF"/>
                </a:solidFill>
                <a:latin typeface="Aptos"/>
                <a:ea typeface="Aptos"/>
                <a:cs typeface="Aptos"/>
              </a:rPr>
              <a:t>SD card via OpenLog</a:t>
            </a:r>
            <a:endParaRPr lang="en-US" sz="2200">
              <a:solidFill>
                <a:srgbClr val="FFFFFF"/>
              </a:solidFill>
              <a:latin typeface="Aptos"/>
            </a:endParaRPr>
          </a:p>
        </p:txBody>
      </p:sp>
      <p:sp>
        <p:nvSpPr>
          <p:cNvPr id="18"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CBD5E1"/>
                </a:solidFill>
                <a:latin typeface="Aptos"/>
                <a:ea typeface="Aptos"/>
                <a:cs typeface="Aptos"/>
              </a:rPr>
              <a:t>12/14</a:t>
            </a:r>
            <a:endParaRPr lang="en-US" sz="800">
              <a:solidFill>
                <a:srgbClr val="CBD5E1"/>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FFFFFF">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111827"/>
                </a:solidFill>
                <a:latin typeface="Aptos"/>
                <a:ea typeface="Aptos"/>
                <a:cs typeface="Aptos"/>
              </a:rPr>
              <a:t>FFT Resolution and Interpolation</a:t>
            </a:r>
            <a:endParaRPr lang="en-US" sz="1900">
              <a:solidFill>
                <a:srgbClr val="111827"/>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6B7280"/>
                </a:solidFill>
                <a:latin typeface="Aptos"/>
                <a:ea typeface="Aptos"/>
                <a:cs typeface="Aptos"/>
              </a:rPr>
              <a:t>2:56-3:16</a:t>
            </a:r>
            <a:endParaRPr lang="en-US" sz="1100">
              <a:solidFill>
                <a:srgbClr val="6B7280"/>
              </a:solidFill>
              <a:latin typeface="Aptos"/>
            </a:endParaRPr>
          </a:p>
        </p:txBody>
      </p:sp>
      <p:sp>
        <p:nvSpPr>
          <p:cNvPr id="5" name="Rectangle"/>
          <p:cNvSpPr/>
          <p:nvPr/>
        </p:nvSpPr>
        <p:spPr>
          <a:xfrm>
            <a:off x="502920" y="786384"/>
            <a:ext cx="11201400" cy="13716"/>
          </a:xfrm>
          <a:prstGeom prst="rect">
            <a:avLst/>
          </a:prstGeom>
          <a:solidFill>
            <a:srgbClr val="005EB8">
              <a:alpha val="100000"/>
            </a:srgbClr>
          </a:solidFill>
          <a:ln>
            <a:noFill/>
          </a:ln>
        </p:spPr>
      </p:sp>
      <p:sp>
        <p:nvSpPr>
          <p:cNvPr id="6" name="Text"/>
          <p:cNvSpPr txBox="1"/>
          <p:nvPr/>
        </p:nvSpPr>
        <p:spPr>
          <a:xfrm>
            <a:off x="777240" y="1143000"/>
            <a:ext cx="4754880" cy="475488"/>
          </a:xfrm>
          <a:prstGeom prst="rect">
            <a:avLst/>
          </a:prstGeom>
          <a:noFill/>
          <a:ln>
            <a:noFill/>
          </a:ln>
        </p:spPr>
        <p:txBody>
          <a:bodyPr wrap="square" lIns="0" rIns="0" tIns="0" bIns="0"/>
          <a:lstStyle/>
          <a:p>
            <a:pPr algn="l">
              <a:lnSpc>
                <a:spcPct val="105000"/>
              </a:lnSpc>
            </a:pPr>
            <a:r>
              <a:rPr lang="en-US" sz="2200" b="1" dirty="0">
                <a:solidFill>
                  <a:srgbClr val="111827"/>
                </a:solidFill>
                <a:latin typeface="Aptos"/>
                <a:ea typeface="Aptos"/>
                <a:cs typeface="Aptos"/>
              </a:rPr>
              <a:t>Peak is refined between raw FFT bins</a:t>
            </a:r>
            <a:endParaRPr lang="en-US" sz="2200">
              <a:solidFill>
                <a:srgbClr val="111827"/>
              </a:solidFill>
              <a:latin typeface="Aptos"/>
            </a:endParaRPr>
          </a:p>
        </p:txBody>
      </p:sp>
      <p:sp>
        <p:nvSpPr>
          <p:cNvPr id="7" name="Rectangle"/>
          <p:cNvSpPr/>
          <p:nvPr/>
        </p:nvSpPr>
        <p:spPr>
          <a:xfrm>
            <a:off x="914400" y="4754880"/>
            <a:ext cx="502920" cy="320040"/>
          </a:xfrm>
          <a:prstGeom prst="rect">
            <a:avLst/>
          </a:prstGeom>
          <a:solidFill>
            <a:srgbClr val="93C5FD">
              <a:alpha val="100000"/>
            </a:srgbClr>
          </a:solidFill>
          <a:ln>
            <a:noFill/>
          </a:ln>
        </p:spPr>
      </p:sp>
      <p:sp>
        <p:nvSpPr>
          <p:cNvPr id="8" name="Rectangle"/>
          <p:cNvSpPr/>
          <p:nvPr/>
        </p:nvSpPr>
        <p:spPr>
          <a:xfrm>
            <a:off x="1481328" y="4572000"/>
            <a:ext cx="502920" cy="502920"/>
          </a:xfrm>
          <a:prstGeom prst="rect">
            <a:avLst/>
          </a:prstGeom>
          <a:solidFill>
            <a:srgbClr val="93C5FD">
              <a:alpha val="100000"/>
            </a:srgbClr>
          </a:solidFill>
          <a:ln>
            <a:noFill/>
          </a:ln>
        </p:spPr>
      </p:sp>
      <p:sp>
        <p:nvSpPr>
          <p:cNvPr id="9" name="Rectangle"/>
          <p:cNvSpPr/>
          <p:nvPr/>
        </p:nvSpPr>
        <p:spPr>
          <a:xfrm>
            <a:off x="2048256" y="4251960"/>
            <a:ext cx="502920" cy="822960"/>
          </a:xfrm>
          <a:prstGeom prst="rect">
            <a:avLst/>
          </a:prstGeom>
          <a:solidFill>
            <a:srgbClr val="93C5FD">
              <a:alpha val="100000"/>
            </a:srgbClr>
          </a:solidFill>
          <a:ln>
            <a:noFill/>
          </a:ln>
        </p:spPr>
      </p:sp>
      <p:sp>
        <p:nvSpPr>
          <p:cNvPr id="10" name="Rectangle"/>
          <p:cNvSpPr/>
          <p:nvPr/>
        </p:nvSpPr>
        <p:spPr>
          <a:xfrm>
            <a:off x="2615184" y="3657600"/>
            <a:ext cx="502920" cy="1417320"/>
          </a:xfrm>
          <a:prstGeom prst="rect">
            <a:avLst/>
          </a:prstGeom>
          <a:solidFill>
            <a:srgbClr val="93C5FD">
              <a:alpha val="100000"/>
            </a:srgbClr>
          </a:solidFill>
          <a:ln>
            <a:noFill/>
          </a:ln>
        </p:spPr>
      </p:sp>
      <p:sp>
        <p:nvSpPr>
          <p:cNvPr id="11" name="Rectangle"/>
          <p:cNvSpPr/>
          <p:nvPr/>
        </p:nvSpPr>
        <p:spPr>
          <a:xfrm>
            <a:off x="3182112" y="2926080"/>
            <a:ext cx="502920" cy="2148840"/>
          </a:xfrm>
          <a:prstGeom prst="rect">
            <a:avLst/>
          </a:prstGeom>
          <a:solidFill>
            <a:srgbClr val="F59E0B">
              <a:alpha val="100000"/>
            </a:srgbClr>
          </a:solidFill>
          <a:ln>
            <a:noFill/>
          </a:ln>
        </p:spPr>
      </p:sp>
      <p:sp>
        <p:nvSpPr>
          <p:cNvPr id="12" name="Rectangle"/>
          <p:cNvSpPr/>
          <p:nvPr/>
        </p:nvSpPr>
        <p:spPr>
          <a:xfrm>
            <a:off x="3749040" y="3520440"/>
            <a:ext cx="502920" cy="1554480"/>
          </a:xfrm>
          <a:prstGeom prst="rect">
            <a:avLst/>
          </a:prstGeom>
          <a:solidFill>
            <a:srgbClr val="F59E0B">
              <a:alpha val="100000"/>
            </a:srgbClr>
          </a:solidFill>
          <a:ln>
            <a:noFill/>
          </a:ln>
        </p:spPr>
      </p:sp>
      <p:sp>
        <p:nvSpPr>
          <p:cNvPr id="13" name="Rectangle"/>
          <p:cNvSpPr/>
          <p:nvPr/>
        </p:nvSpPr>
        <p:spPr>
          <a:xfrm>
            <a:off x="4315968" y="4160520"/>
            <a:ext cx="502920" cy="914400"/>
          </a:xfrm>
          <a:prstGeom prst="rect">
            <a:avLst/>
          </a:prstGeom>
          <a:solidFill>
            <a:srgbClr val="93C5FD">
              <a:alpha val="100000"/>
            </a:srgbClr>
          </a:solidFill>
          <a:ln>
            <a:noFill/>
          </a:ln>
        </p:spPr>
      </p:sp>
      <p:sp>
        <p:nvSpPr>
          <p:cNvPr id="14" name="Rectangle"/>
          <p:cNvSpPr/>
          <p:nvPr/>
        </p:nvSpPr>
        <p:spPr>
          <a:xfrm>
            <a:off x="4882896" y="4507992"/>
            <a:ext cx="502920" cy="566928"/>
          </a:xfrm>
          <a:prstGeom prst="rect">
            <a:avLst/>
          </a:prstGeom>
          <a:solidFill>
            <a:srgbClr val="93C5FD">
              <a:alpha val="100000"/>
            </a:srgbClr>
          </a:solidFill>
          <a:ln>
            <a:noFill/>
          </a:ln>
        </p:spPr>
      </p:sp>
      <p:sp>
        <p:nvSpPr>
          <p:cNvPr id="15" name="Rectangle"/>
          <p:cNvSpPr/>
          <p:nvPr/>
        </p:nvSpPr>
        <p:spPr>
          <a:xfrm>
            <a:off x="5449824" y="4709160"/>
            <a:ext cx="502920" cy="365760"/>
          </a:xfrm>
          <a:prstGeom prst="rect">
            <a:avLst/>
          </a:prstGeom>
          <a:solidFill>
            <a:srgbClr val="93C5FD">
              <a:alpha val="100000"/>
            </a:srgbClr>
          </a:solidFill>
          <a:ln>
            <a:noFill/>
          </a:ln>
        </p:spPr>
      </p:sp>
      <p:cxnSp>
        <p:nvCxnSpPr>
          <p:cNvPr id="16" name="Line"/>
          <p:cNvCxnSpPr/>
          <p:nvPr/>
        </p:nvCxnSpPr>
        <p:spPr>
          <a:xfrm>
            <a:off x="731520" y="5074920"/>
            <a:ext cx="5394960" cy="0"/>
          </a:xfrm>
          <a:prstGeom prst="line">
            <a:avLst/>
          </a:prstGeom>
          <a:ln w="12700" cap="round">
            <a:solidFill>
              <a:srgbClr val="334155"/>
            </a:solidFill>
            <a:tailEnd type="triangle"/>
          </a:ln>
        </p:spPr>
      </p:cxnSp>
      <p:cxnSp>
        <p:nvCxnSpPr>
          <p:cNvPr id="17" name="Line"/>
          <p:cNvCxnSpPr/>
          <p:nvPr/>
        </p:nvCxnSpPr>
        <p:spPr>
          <a:xfrm flipV="1">
            <a:off x="731520" y="2423160"/>
            <a:ext cx="0" cy="2651760"/>
          </a:xfrm>
          <a:prstGeom prst="line">
            <a:avLst/>
          </a:prstGeom>
          <a:ln w="12700" cap="round">
            <a:solidFill>
              <a:srgbClr val="334155"/>
            </a:solidFill>
            <a:tailEnd type="triangle"/>
          </a:ln>
        </p:spPr>
      </p:cxnSp>
      <p:cxnSp>
        <p:nvCxnSpPr>
          <p:cNvPr id="18" name="Line"/>
          <p:cNvCxnSpPr/>
          <p:nvPr/>
        </p:nvCxnSpPr>
        <p:spPr>
          <a:xfrm flipV="1">
            <a:off x="2743200" y="3310128"/>
            <a:ext cx="256032" cy="484632"/>
          </a:xfrm>
          <a:prstGeom prst="line">
            <a:avLst/>
          </a:prstGeom>
          <a:ln w="25400" cap="round">
            <a:solidFill>
              <a:srgbClr val="DC2626"/>
            </a:solidFill>
          </a:ln>
        </p:spPr>
      </p:cxnSp>
      <p:cxnSp>
        <p:nvCxnSpPr>
          <p:cNvPr id="19" name="Line"/>
          <p:cNvCxnSpPr/>
          <p:nvPr/>
        </p:nvCxnSpPr>
        <p:spPr>
          <a:xfrm flipV="1">
            <a:off x="2999232" y="3035808"/>
            <a:ext cx="256032" cy="274320"/>
          </a:xfrm>
          <a:prstGeom prst="line">
            <a:avLst/>
          </a:prstGeom>
          <a:ln w="25400" cap="round">
            <a:solidFill>
              <a:srgbClr val="DC2626"/>
            </a:solidFill>
          </a:ln>
        </p:spPr>
      </p:cxnSp>
      <p:cxnSp>
        <p:nvCxnSpPr>
          <p:cNvPr id="20" name="Line"/>
          <p:cNvCxnSpPr/>
          <p:nvPr/>
        </p:nvCxnSpPr>
        <p:spPr>
          <a:xfrm flipV="1">
            <a:off x="3255264" y="2971800"/>
            <a:ext cx="256032" cy="64008"/>
          </a:xfrm>
          <a:prstGeom prst="line">
            <a:avLst/>
          </a:prstGeom>
          <a:ln w="25400" cap="round">
            <a:solidFill>
              <a:srgbClr val="DC2626"/>
            </a:solidFill>
          </a:ln>
        </p:spPr>
      </p:cxnSp>
      <p:cxnSp>
        <p:nvCxnSpPr>
          <p:cNvPr id="21" name="Line"/>
          <p:cNvCxnSpPr/>
          <p:nvPr/>
        </p:nvCxnSpPr>
        <p:spPr>
          <a:xfrm>
            <a:off x="3511296" y="2971800"/>
            <a:ext cx="256032" cy="155448"/>
          </a:xfrm>
          <a:prstGeom prst="line">
            <a:avLst/>
          </a:prstGeom>
          <a:ln w="25400" cap="round">
            <a:solidFill>
              <a:srgbClr val="DC2626"/>
            </a:solidFill>
          </a:ln>
        </p:spPr>
      </p:cxnSp>
      <p:cxnSp>
        <p:nvCxnSpPr>
          <p:cNvPr id="22" name="Line"/>
          <p:cNvCxnSpPr/>
          <p:nvPr/>
        </p:nvCxnSpPr>
        <p:spPr>
          <a:xfrm>
            <a:off x="3767328" y="3127248"/>
            <a:ext cx="256032" cy="365760"/>
          </a:xfrm>
          <a:prstGeom prst="line">
            <a:avLst/>
          </a:prstGeom>
          <a:ln w="25400" cap="round">
            <a:solidFill>
              <a:srgbClr val="DC2626"/>
            </a:solidFill>
          </a:ln>
        </p:spPr>
      </p:cxnSp>
      <p:sp>
        <p:nvSpPr>
          <p:cNvPr id="23" name="Text"/>
          <p:cNvSpPr txBox="1"/>
          <p:nvPr/>
        </p:nvSpPr>
        <p:spPr>
          <a:xfrm>
            <a:off x="1051560" y="5394960"/>
            <a:ext cx="4572000" cy="201168"/>
          </a:xfrm>
          <a:prstGeom prst="rect">
            <a:avLst/>
          </a:prstGeom>
          <a:noFill/>
          <a:ln>
            <a:noFill/>
          </a:ln>
        </p:spPr>
        <p:txBody>
          <a:bodyPr wrap="square" lIns="0" rIns="0" tIns="0" bIns="0"/>
          <a:lstStyle/>
          <a:p>
            <a:pPr algn="c">
              <a:lnSpc>
                <a:spcPct val="105000"/>
              </a:lnSpc>
            </a:pPr>
            <a:r>
              <a:rPr lang="en-US" sz="1100" dirty="0">
                <a:solidFill>
                  <a:srgbClr val="475569"/>
                </a:solidFill>
                <a:latin typeface="Aptos"/>
                <a:ea typeface="Aptos"/>
                <a:cs typeface="Aptos"/>
              </a:rPr>
              <a:t>Frequency bins</a:t>
            </a:r>
            <a:endParaRPr lang="en-US" sz="1100">
              <a:solidFill>
                <a:srgbClr val="475569"/>
              </a:solidFill>
              <a:latin typeface="Aptos"/>
            </a:endParaRPr>
          </a:p>
        </p:txBody>
      </p:sp>
      <p:sp>
        <p:nvSpPr>
          <p:cNvPr id="24" name="Rectangle"/>
          <p:cNvSpPr/>
          <p:nvPr/>
        </p:nvSpPr>
        <p:spPr>
          <a:xfrm>
            <a:off x="6675120" y="1417320"/>
            <a:ext cx="4023360" cy="658368"/>
          </a:xfrm>
          <a:prstGeom prst="rect">
            <a:avLst/>
          </a:prstGeom>
          <a:solidFill>
            <a:srgbClr val="EFF6FF">
              <a:alpha val="100000"/>
            </a:srgbClr>
          </a:solidFill>
          <a:ln w="12700">
            <a:solidFill>
              <a:srgbClr val="005EB8"/>
            </a:solidFill>
          </a:ln>
        </p:spPr>
      </p:sp>
      <p:sp>
        <p:nvSpPr>
          <p:cNvPr id="25" name="Text"/>
          <p:cNvSpPr txBox="1"/>
          <p:nvPr/>
        </p:nvSpPr>
        <p:spPr>
          <a:xfrm>
            <a:off x="6903720" y="1664208"/>
            <a:ext cx="3566160" cy="182880"/>
          </a:xfrm>
          <a:prstGeom prst="rect">
            <a:avLst/>
          </a:prstGeom>
          <a:noFill/>
          <a:ln>
            <a:noFill/>
          </a:ln>
        </p:spPr>
        <p:txBody>
          <a:bodyPr wrap="square" lIns="0" rIns="0" tIns="0" bIns="0"/>
          <a:lstStyle/>
          <a:p>
            <a:pPr algn="c">
              <a:lnSpc>
                <a:spcPct val="105000"/>
              </a:lnSpc>
            </a:pPr>
            <a:r>
              <a:rPr lang="en-US" sz="1500" b="1" dirty="0">
                <a:solidFill>
                  <a:srgbClr val="005EB8"/>
                </a:solidFill>
                <a:latin typeface="Aptos"/>
                <a:ea typeface="Aptos"/>
                <a:cs typeface="Aptos"/>
              </a:rPr>
              <a:t>0.195 Hz bin spacing</a:t>
            </a:r>
            <a:endParaRPr lang="en-US" sz="1500">
              <a:solidFill>
                <a:srgbClr val="005EB8"/>
              </a:solidFill>
              <a:latin typeface="Aptos"/>
            </a:endParaRPr>
          </a:p>
        </p:txBody>
      </p:sp>
      <p:sp>
        <p:nvSpPr>
          <p:cNvPr id="26" name="Rectangle"/>
          <p:cNvSpPr/>
          <p:nvPr/>
        </p:nvSpPr>
        <p:spPr>
          <a:xfrm>
            <a:off x="6675120" y="2423160"/>
            <a:ext cx="4023360" cy="658368"/>
          </a:xfrm>
          <a:prstGeom prst="rect">
            <a:avLst/>
          </a:prstGeom>
          <a:solidFill>
            <a:srgbClr val="EFF6FF">
              <a:alpha val="100000"/>
            </a:srgbClr>
          </a:solidFill>
          <a:ln w="12700">
            <a:solidFill>
              <a:srgbClr val="005EB8"/>
            </a:solidFill>
          </a:ln>
        </p:spPr>
      </p:sp>
      <p:sp>
        <p:nvSpPr>
          <p:cNvPr id="27" name="Text"/>
          <p:cNvSpPr txBox="1"/>
          <p:nvPr/>
        </p:nvSpPr>
        <p:spPr>
          <a:xfrm>
            <a:off x="6903720" y="2670048"/>
            <a:ext cx="3566160" cy="182880"/>
          </a:xfrm>
          <a:prstGeom prst="rect">
            <a:avLst/>
          </a:prstGeom>
          <a:noFill/>
          <a:ln>
            <a:noFill/>
          </a:ln>
        </p:spPr>
        <p:txBody>
          <a:bodyPr wrap="square" lIns="0" rIns="0" tIns="0" bIns="0"/>
          <a:lstStyle/>
          <a:p>
            <a:pPr algn="c">
              <a:lnSpc>
                <a:spcPct val="105000"/>
              </a:lnSpc>
            </a:pPr>
            <a:r>
              <a:rPr lang="en-US" sz="1500" b="1" dirty="0">
                <a:solidFill>
                  <a:srgbClr val="005EB8"/>
                </a:solidFill>
                <a:latin typeface="Aptos"/>
                <a:ea typeface="Aptos"/>
                <a:cs typeface="Aptos"/>
              </a:rPr>
              <a:t>11.7 bpm per bin</a:t>
            </a:r>
            <a:endParaRPr lang="en-US" sz="1500">
              <a:solidFill>
                <a:srgbClr val="005EB8"/>
              </a:solidFill>
              <a:latin typeface="Aptos"/>
            </a:endParaRPr>
          </a:p>
        </p:txBody>
      </p:sp>
      <p:sp>
        <p:nvSpPr>
          <p:cNvPr id="28" name="Rectangle"/>
          <p:cNvSpPr/>
          <p:nvPr/>
        </p:nvSpPr>
        <p:spPr>
          <a:xfrm>
            <a:off x="6675120" y="3429000"/>
            <a:ext cx="4023360" cy="658368"/>
          </a:xfrm>
          <a:prstGeom prst="rect">
            <a:avLst/>
          </a:prstGeom>
          <a:solidFill>
            <a:srgbClr val="FEF3C7">
              <a:alpha val="100000"/>
            </a:srgbClr>
          </a:solidFill>
          <a:ln w="12700">
            <a:solidFill>
              <a:srgbClr val="F59E0B"/>
            </a:solidFill>
          </a:ln>
        </p:spPr>
      </p:sp>
      <p:sp>
        <p:nvSpPr>
          <p:cNvPr id="29" name="Text"/>
          <p:cNvSpPr txBox="1"/>
          <p:nvPr/>
        </p:nvSpPr>
        <p:spPr>
          <a:xfrm>
            <a:off x="6903720" y="3675888"/>
            <a:ext cx="3566160" cy="182880"/>
          </a:xfrm>
          <a:prstGeom prst="rect">
            <a:avLst/>
          </a:prstGeom>
          <a:noFill/>
          <a:ln>
            <a:noFill/>
          </a:ln>
        </p:spPr>
        <p:txBody>
          <a:bodyPr wrap="square" lIns="0" rIns="0" tIns="0" bIns="0"/>
          <a:lstStyle/>
          <a:p>
            <a:pPr algn="c">
              <a:lnSpc>
                <a:spcPct val="105000"/>
              </a:lnSpc>
            </a:pPr>
            <a:r>
              <a:rPr lang="en-US" sz="1500" b="1" dirty="0">
                <a:solidFill>
                  <a:srgbClr val="111827"/>
                </a:solidFill>
                <a:latin typeface="Aptos"/>
                <a:ea typeface="Aptos"/>
                <a:cs typeface="Aptos"/>
              </a:rPr>
              <a:t>sub-bin interpolation</a:t>
            </a:r>
            <a:endParaRPr lang="en-US" sz="1500">
              <a:solidFill>
                <a:srgbClr val="111827"/>
              </a:solidFill>
              <a:latin typeface="Aptos"/>
            </a:endParaRPr>
          </a:p>
        </p:txBody>
      </p:sp>
      <p:sp>
        <p:nvSpPr>
          <p:cNvPr id="30" name="Text"/>
          <p:cNvSpPr txBox="1"/>
          <p:nvPr/>
        </p:nvSpPr>
        <p:spPr>
          <a:xfrm>
            <a:off x="6720840" y="4572000"/>
            <a:ext cx="3931920" cy="566928"/>
          </a:xfrm>
          <a:prstGeom prst="rect">
            <a:avLst/>
          </a:prstGeom>
          <a:noFill/>
          <a:ln>
            <a:noFill/>
          </a:ln>
        </p:spPr>
        <p:txBody>
          <a:bodyPr wrap="square" lIns="0" rIns="0" tIns="0" bIns="0"/>
          <a:lstStyle/>
          <a:p>
            <a:pPr algn="l">
              <a:lnSpc>
                <a:spcPct val="105000"/>
              </a:lnSpc>
            </a:pPr>
            <a:r>
              <a:rPr lang="en-US" sz="1300" dirty="0">
                <a:solidFill>
                  <a:srgbClr val="475569"/>
                </a:solidFill>
                <a:latin typeface="Aptos"/>
                <a:ea typeface="Aptos"/>
                <a:cs typeface="Aptos"/>
              </a:rPr>
              <a:t>Accuracy still depends on signal quality, leakage, motion artifacts, and temporal stability.</a:t>
            </a:r>
            <a:endParaRPr lang="en-US" sz="1300">
              <a:solidFill>
                <a:srgbClr val="475569"/>
              </a:solidFill>
              <a:latin typeface="Aptos"/>
            </a:endParaRPr>
          </a:p>
        </p:txBody>
      </p:sp>
      <p:sp>
        <p:nvSpPr>
          <p:cNvPr id="31"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9CA3AF"/>
                </a:solidFill>
                <a:latin typeface="Aptos"/>
                <a:ea typeface="Aptos"/>
                <a:cs typeface="Aptos"/>
              </a:rPr>
              <a:t>13/14</a:t>
            </a:r>
            <a:endParaRPr lang="en-US" sz="800">
              <a:solidFill>
                <a:srgbClr val="9CA3AF"/>
              </a:solidFill>
              <a:latin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p:cNvSpPr/>
          <p:nvPr/>
        </p:nvSpPr>
        <p:spPr>
          <a:xfrm>
            <a:off x="0" y="0"/>
            <a:ext cx="12192000" cy="6858000"/>
          </a:xfrm>
          <a:prstGeom prst="rect">
            <a:avLst/>
          </a:prstGeom>
          <a:solidFill>
            <a:srgbClr val="0B1220">
              <a:alpha val="100000"/>
            </a:srgbClr>
          </a:solidFill>
          <a:ln>
            <a:noFill/>
          </a:ln>
        </p:spPr>
      </p:sp>
      <p:sp>
        <p:nvSpPr>
          <p:cNvPr id="3" name="Text"/>
          <p:cNvSpPr txBox="1"/>
          <p:nvPr/>
        </p:nvSpPr>
        <p:spPr>
          <a:xfrm>
            <a:off x="502920" y="310896"/>
            <a:ext cx="8869680" cy="411480"/>
          </a:xfrm>
          <a:prstGeom prst="rect">
            <a:avLst/>
          </a:prstGeom>
          <a:noFill/>
          <a:ln>
            <a:noFill/>
          </a:ln>
        </p:spPr>
        <p:txBody>
          <a:bodyPr wrap="square" lIns="0" rIns="0" tIns="0" bIns="0"/>
          <a:lstStyle/>
          <a:p>
            <a:pPr algn="l">
              <a:lnSpc>
                <a:spcPct val="105000"/>
              </a:lnSpc>
            </a:pPr>
            <a:r>
              <a:rPr lang="en-US" sz="1900" b="1" dirty="0">
                <a:solidFill>
                  <a:srgbClr val="FFFFFF"/>
                </a:solidFill>
                <a:latin typeface="Aptos"/>
                <a:ea typeface="Aptos"/>
                <a:cs typeface="Aptos"/>
              </a:rPr>
              <a:t>Contactless Radar-Based Heart Rate Monitoring Device</a:t>
            </a:r>
            <a:endParaRPr lang="en-US" sz="1900">
              <a:solidFill>
                <a:srgbClr val="FFFFFF"/>
              </a:solidFill>
              <a:latin typeface="Aptos"/>
            </a:endParaRPr>
          </a:p>
        </p:txBody>
      </p:sp>
      <p:sp>
        <p:nvSpPr>
          <p:cNvPr id="4" name="Text"/>
          <p:cNvSpPr txBox="1"/>
          <p:nvPr/>
        </p:nvSpPr>
        <p:spPr>
          <a:xfrm>
            <a:off x="10149840" y="338328"/>
            <a:ext cx="1554480" cy="292608"/>
          </a:xfrm>
          <a:prstGeom prst="rect">
            <a:avLst/>
          </a:prstGeom>
          <a:noFill/>
          <a:ln>
            <a:noFill/>
          </a:ln>
        </p:spPr>
        <p:txBody>
          <a:bodyPr wrap="square" lIns="0" rIns="0" tIns="0" bIns="0"/>
          <a:lstStyle/>
          <a:p>
            <a:pPr algn="r">
              <a:lnSpc>
                <a:spcPct val="105000"/>
              </a:lnSpc>
            </a:pPr>
            <a:r>
              <a:rPr lang="en-US" sz="1100" dirty="0">
                <a:solidFill>
                  <a:srgbClr val="D1D5DB"/>
                </a:solidFill>
                <a:latin typeface="Aptos"/>
                <a:ea typeface="Aptos"/>
                <a:cs typeface="Aptos"/>
              </a:rPr>
              <a:t>3:17-3:27</a:t>
            </a:r>
            <a:endParaRPr lang="en-US" sz="1100">
              <a:solidFill>
                <a:srgbClr val="D1D5DB"/>
              </a:solidFill>
              <a:latin typeface="Aptos"/>
            </a:endParaRPr>
          </a:p>
        </p:txBody>
      </p:sp>
      <p:sp>
        <p:nvSpPr>
          <p:cNvPr id="5" name="Rectangle"/>
          <p:cNvSpPr/>
          <p:nvPr/>
        </p:nvSpPr>
        <p:spPr>
          <a:xfrm>
            <a:off x="502920" y="786384"/>
            <a:ext cx="11201400" cy="13716"/>
          </a:xfrm>
          <a:prstGeom prst="rect">
            <a:avLst/>
          </a:prstGeom>
          <a:solidFill>
            <a:srgbClr val="00A6D6">
              <a:alpha val="100000"/>
            </a:srgbClr>
          </a:solidFill>
          <a:ln>
            <a:noFill/>
          </a:ln>
        </p:spPr>
      </p:sp>
      <p:sp>
        <p:nvSpPr>
          <p:cNvPr id="6" name="Text"/>
          <p:cNvSpPr txBox="1"/>
          <p:nvPr/>
        </p:nvSpPr>
        <p:spPr>
          <a:xfrm>
            <a:off x="685800" y="1234440"/>
            <a:ext cx="6949440" cy="502920"/>
          </a:xfrm>
          <a:prstGeom prst="rect">
            <a:avLst/>
          </a:prstGeom>
          <a:noFill/>
          <a:ln>
            <a:noFill/>
          </a:ln>
        </p:spPr>
        <p:txBody>
          <a:bodyPr wrap="square" lIns="0" rIns="0" tIns="0" bIns="0"/>
          <a:lstStyle/>
          <a:p>
            <a:pPr algn="l">
              <a:lnSpc>
                <a:spcPct val="105000"/>
              </a:lnSpc>
            </a:pPr>
            <a:r>
              <a:rPr lang="en-US" sz="2400" b="1" dirty="0">
                <a:solidFill>
                  <a:srgbClr val="FFFFFF"/>
                </a:solidFill>
                <a:latin typeface="Aptos"/>
                <a:ea typeface="Aptos"/>
                <a:cs typeface="Aptos"/>
              </a:rPr>
              <a:t>Compact platform for comfortable vital-sign monitoring</a:t>
            </a:r>
            <a:endParaRPr lang="en-US" sz="2400">
              <a:solidFill>
                <a:srgbClr val="FFFFFF"/>
              </a:solidFill>
              <a:latin typeface="Aptos"/>
            </a:endParaRPr>
          </a:p>
        </p:txBody>
      </p:sp>
      <p:sp>
        <p:nvSpPr>
          <p:cNvPr id="7" name="Rectangle"/>
          <p:cNvSpPr/>
          <p:nvPr/>
        </p:nvSpPr>
        <p:spPr>
          <a:xfrm>
            <a:off x="777240" y="1965960"/>
            <a:ext cx="128016" cy="128016"/>
          </a:xfrm>
          <a:prstGeom prst="rect">
            <a:avLst/>
          </a:prstGeom>
          <a:solidFill>
            <a:srgbClr val="00A6D6">
              <a:alpha val="100000"/>
            </a:srgbClr>
          </a:solidFill>
          <a:ln>
            <a:noFill/>
          </a:ln>
        </p:spPr>
      </p:sp>
      <p:sp>
        <p:nvSpPr>
          <p:cNvPr id="8" name="Text"/>
          <p:cNvSpPr txBox="1"/>
          <p:nvPr/>
        </p:nvSpPr>
        <p:spPr>
          <a:xfrm>
            <a:off x="1024128" y="1901952"/>
            <a:ext cx="6400800" cy="210312"/>
          </a:xfrm>
          <a:prstGeom prst="rect">
            <a:avLst/>
          </a:prstGeom>
          <a:noFill/>
          <a:ln>
            <a:noFill/>
          </a:ln>
        </p:spPr>
        <p:txBody>
          <a:bodyPr wrap="square" lIns="0" rIns="0" tIns="0" bIns="0"/>
          <a:lstStyle/>
          <a:p>
            <a:pPr algn="l">
              <a:lnSpc>
                <a:spcPct val="105000"/>
              </a:lnSpc>
            </a:pPr>
            <a:r>
              <a:rPr lang="en-US" sz="1200" b="1" dirty="0">
                <a:solidFill>
                  <a:srgbClr val="CBD5E1"/>
                </a:solidFill>
                <a:latin typeface="Aptos"/>
                <a:ea typeface="Aptos"/>
                <a:cs typeface="Aptos"/>
              </a:rPr>
              <a:t>Contactless heart-rate monitoring</a:t>
            </a:r>
            <a:endParaRPr lang="en-US" sz="1200">
              <a:solidFill>
                <a:srgbClr val="CBD5E1"/>
              </a:solidFill>
              <a:latin typeface="Aptos"/>
            </a:endParaRPr>
          </a:p>
        </p:txBody>
      </p:sp>
      <p:sp>
        <p:nvSpPr>
          <p:cNvPr id="9" name="Rectangle"/>
          <p:cNvSpPr/>
          <p:nvPr/>
        </p:nvSpPr>
        <p:spPr>
          <a:xfrm>
            <a:off x="777240" y="2377440"/>
            <a:ext cx="128016" cy="128016"/>
          </a:xfrm>
          <a:prstGeom prst="rect">
            <a:avLst/>
          </a:prstGeom>
          <a:solidFill>
            <a:srgbClr val="00A6D6">
              <a:alpha val="100000"/>
            </a:srgbClr>
          </a:solidFill>
          <a:ln>
            <a:noFill/>
          </a:ln>
        </p:spPr>
      </p:sp>
      <p:sp>
        <p:nvSpPr>
          <p:cNvPr id="10" name="Text"/>
          <p:cNvSpPr txBox="1"/>
          <p:nvPr/>
        </p:nvSpPr>
        <p:spPr>
          <a:xfrm>
            <a:off x="1024128" y="2313432"/>
            <a:ext cx="6400800" cy="210312"/>
          </a:xfrm>
          <a:prstGeom prst="rect">
            <a:avLst/>
          </a:prstGeom>
          <a:noFill/>
          <a:ln>
            <a:noFill/>
          </a:ln>
        </p:spPr>
        <p:txBody>
          <a:bodyPr wrap="square" lIns="0" rIns="0" tIns="0" bIns="0"/>
          <a:lstStyle/>
          <a:p>
            <a:pPr algn="l">
              <a:lnSpc>
                <a:spcPct val="105000"/>
              </a:lnSpc>
            </a:pPr>
            <a:r>
              <a:rPr lang="en-US" sz="1200" b="1" dirty="0">
                <a:solidFill>
                  <a:srgbClr val="CBD5E1"/>
                </a:solidFill>
                <a:latin typeface="Aptos"/>
                <a:ea typeface="Aptos"/>
                <a:cs typeface="Aptos"/>
              </a:rPr>
              <a:t>Short-range operation: up to about 1 m</a:t>
            </a:r>
            <a:endParaRPr lang="en-US" sz="1200">
              <a:solidFill>
                <a:srgbClr val="CBD5E1"/>
              </a:solidFill>
              <a:latin typeface="Aptos"/>
            </a:endParaRPr>
          </a:p>
        </p:txBody>
      </p:sp>
      <p:sp>
        <p:nvSpPr>
          <p:cNvPr id="11" name="Rectangle"/>
          <p:cNvSpPr/>
          <p:nvPr/>
        </p:nvSpPr>
        <p:spPr>
          <a:xfrm>
            <a:off x="777240" y="2788920"/>
            <a:ext cx="128016" cy="128016"/>
          </a:xfrm>
          <a:prstGeom prst="rect">
            <a:avLst/>
          </a:prstGeom>
          <a:solidFill>
            <a:srgbClr val="00A6D6">
              <a:alpha val="100000"/>
            </a:srgbClr>
          </a:solidFill>
          <a:ln>
            <a:noFill/>
          </a:ln>
        </p:spPr>
      </p:sp>
      <p:sp>
        <p:nvSpPr>
          <p:cNvPr id="12" name="Text"/>
          <p:cNvSpPr txBox="1"/>
          <p:nvPr/>
        </p:nvSpPr>
        <p:spPr>
          <a:xfrm>
            <a:off x="1024128" y="2724912"/>
            <a:ext cx="6400800" cy="210312"/>
          </a:xfrm>
          <a:prstGeom prst="rect">
            <a:avLst/>
          </a:prstGeom>
          <a:noFill/>
          <a:ln>
            <a:noFill/>
          </a:ln>
        </p:spPr>
        <p:txBody>
          <a:bodyPr wrap="square" lIns="0" rIns="0" tIns="0" bIns="0"/>
          <a:lstStyle/>
          <a:p>
            <a:pPr algn="l">
              <a:lnSpc>
                <a:spcPct val="105000"/>
              </a:lnSpc>
            </a:pPr>
            <a:r>
              <a:rPr lang="en-US" sz="1200" b="1" dirty="0">
                <a:solidFill>
                  <a:srgbClr val="CBD5E1"/>
                </a:solidFill>
                <a:latin typeface="Aptos"/>
                <a:ea typeface="Aptos"/>
                <a:cs typeface="Aptos"/>
              </a:rPr>
              <a:t>Real-time STM32F429 processing</a:t>
            </a:r>
            <a:endParaRPr lang="en-US" sz="1200">
              <a:solidFill>
                <a:srgbClr val="CBD5E1"/>
              </a:solidFill>
              <a:latin typeface="Aptos"/>
            </a:endParaRPr>
          </a:p>
        </p:txBody>
      </p:sp>
      <p:sp>
        <p:nvSpPr>
          <p:cNvPr id="13" name="Rectangle"/>
          <p:cNvSpPr/>
          <p:nvPr/>
        </p:nvSpPr>
        <p:spPr>
          <a:xfrm>
            <a:off x="777240" y="3200400"/>
            <a:ext cx="128016" cy="128016"/>
          </a:xfrm>
          <a:prstGeom prst="rect">
            <a:avLst/>
          </a:prstGeom>
          <a:solidFill>
            <a:srgbClr val="00A6D6">
              <a:alpha val="100000"/>
            </a:srgbClr>
          </a:solidFill>
          <a:ln>
            <a:noFill/>
          </a:ln>
        </p:spPr>
      </p:sp>
      <p:sp>
        <p:nvSpPr>
          <p:cNvPr id="14" name="Text"/>
          <p:cNvSpPr txBox="1"/>
          <p:nvPr/>
        </p:nvSpPr>
        <p:spPr>
          <a:xfrm>
            <a:off x="1024128" y="3136392"/>
            <a:ext cx="6400800" cy="210312"/>
          </a:xfrm>
          <a:prstGeom prst="rect">
            <a:avLst/>
          </a:prstGeom>
          <a:noFill/>
          <a:ln>
            <a:noFill/>
          </a:ln>
        </p:spPr>
        <p:txBody>
          <a:bodyPr wrap="square" lIns="0" rIns="0" tIns="0" bIns="0"/>
          <a:lstStyle/>
          <a:p>
            <a:pPr algn="l">
              <a:lnSpc>
                <a:spcPct val="105000"/>
              </a:lnSpc>
            </a:pPr>
            <a:r>
              <a:rPr lang="en-US" sz="1200" b="1" dirty="0">
                <a:solidFill>
                  <a:srgbClr val="CBD5E1"/>
                </a:solidFill>
                <a:latin typeface="Aptos"/>
                <a:ea typeface="Aptos"/>
                <a:cs typeface="Aptos"/>
              </a:rPr>
              <a:t>Touch UI: time, FFT, peak, ECG pages</a:t>
            </a:r>
            <a:endParaRPr lang="en-US" sz="1200">
              <a:solidFill>
                <a:srgbClr val="CBD5E1"/>
              </a:solidFill>
              <a:latin typeface="Aptos"/>
            </a:endParaRPr>
          </a:p>
        </p:txBody>
      </p:sp>
      <p:sp>
        <p:nvSpPr>
          <p:cNvPr id="15" name="Rectangle"/>
          <p:cNvSpPr/>
          <p:nvPr/>
        </p:nvSpPr>
        <p:spPr>
          <a:xfrm>
            <a:off x="777240" y="3611880"/>
            <a:ext cx="128016" cy="128016"/>
          </a:xfrm>
          <a:prstGeom prst="rect">
            <a:avLst/>
          </a:prstGeom>
          <a:solidFill>
            <a:srgbClr val="00A6D6">
              <a:alpha val="100000"/>
            </a:srgbClr>
          </a:solidFill>
          <a:ln>
            <a:noFill/>
          </a:ln>
        </p:spPr>
      </p:sp>
      <p:sp>
        <p:nvSpPr>
          <p:cNvPr id="16" name="Text"/>
          <p:cNvSpPr txBox="1"/>
          <p:nvPr/>
        </p:nvSpPr>
        <p:spPr>
          <a:xfrm>
            <a:off x="1024128" y="3547872"/>
            <a:ext cx="6400800" cy="210312"/>
          </a:xfrm>
          <a:prstGeom prst="rect">
            <a:avLst/>
          </a:prstGeom>
          <a:noFill/>
          <a:ln>
            <a:noFill/>
          </a:ln>
        </p:spPr>
        <p:txBody>
          <a:bodyPr wrap="square" lIns="0" rIns="0" tIns="0" bIns="0"/>
          <a:lstStyle/>
          <a:p>
            <a:pPr algn="l">
              <a:lnSpc>
                <a:spcPct val="105000"/>
              </a:lnSpc>
            </a:pPr>
            <a:r>
              <a:rPr lang="en-US" sz="1200" b="1" dirty="0">
                <a:solidFill>
                  <a:srgbClr val="CBD5E1"/>
                </a:solidFill>
                <a:latin typeface="Aptos"/>
                <a:ea typeface="Aptos"/>
                <a:cs typeface="Aptos"/>
              </a:rPr>
              <a:t>FFT bin spacing: about 0.195 Hz</a:t>
            </a:r>
            <a:endParaRPr lang="en-US" sz="1200">
              <a:solidFill>
                <a:srgbClr val="CBD5E1"/>
              </a:solidFill>
              <a:latin typeface="Aptos"/>
            </a:endParaRPr>
          </a:p>
        </p:txBody>
      </p:sp>
      <p:sp>
        <p:nvSpPr>
          <p:cNvPr id="17" name="Rectangle"/>
          <p:cNvSpPr/>
          <p:nvPr/>
        </p:nvSpPr>
        <p:spPr>
          <a:xfrm>
            <a:off x="777240" y="4023360"/>
            <a:ext cx="128016" cy="128016"/>
          </a:xfrm>
          <a:prstGeom prst="rect">
            <a:avLst/>
          </a:prstGeom>
          <a:solidFill>
            <a:srgbClr val="F59E0B">
              <a:alpha val="100000"/>
            </a:srgbClr>
          </a:solidFill>
          <a:ln>
            <a:noFill/>
          </a:ln>
        </p:spPr>
      </p:sp>
      <p:sp>
        <p:nvSpPr>
          <p:cNvPr id="18" name="Text"/>
          <p:cNvSpPr txBox="1"/>
          <p:nvPr/>
        </p:nvSpPr>
        <p:spPr>
          <a:xfrm>
            <a:off x="1024128" y="3959352"/>
            <a:ext cx="6400800" cy="210312"/>
          </a:xfrm>
          <a:prstGeom prst="rect">
            <a:avLst/>
          </a:prstGeom>
          <a:noFill/>
          <a:ln>
            <a:noFill/>
          </a:ln>
        </p:spPr>
        <p:txBody>
          <a:bodyPr wrap="square" lIns="0" rIns="0" tIns="0" bIns="0"/>
          <a:lstStyle/>
          <a:p>
            <a:pPr algn="l">
              <a:lnSpc>
                <a:spcPct val="105000"/>
              </a:lnSpc>
            </a:pPr>
            <a:r>
              <a:rPr lang="en-US" sz="1200" b="1" dirty="0">
                <a:solidFill>
                  <a:srgbClr val="FDE68A"/>
                </a:solidFill>
                <a:latin typeface="Aptos"/>
                <a:ea typeface="Aptos"/>
                <a:cs typeface="Aptos"/>
              </a:rPr>
              <a:t>Accuracy: currently under validation against reference ECG</a:t>
            </a:r>
            <a:endParaRPr lang="en-US" sz="1200">
              <a:solidFill>
                <a:srgbClr val="FDE68A"/>
              </a:solidFill>
              <a:latin typeface="Aptos"/>
            </a:endParaRPr>
          </a:p>
        </p:txBody>
      </p:sp>
      <p:sp>
        <p:nvSpPr>
          <p:cNvPr id="19" name="Rectangle"/>
          <p:cNvSpPr/>
          <p:nvPr/>
        </p:nvSpPr>
        <p:spPr>
          <a:xfrm>
            <a:off x="8001000" y="1508760"/>
            <a:ext cx="2926080" cy="2926080"/>
          </a:xfrm>
          <a:prstGeom prst="rect">
            <a:avLst/>
          </a:prstGeom>
          <a:solidFill>
            <a:srgbClr val="111827">
              <a:alpha val="100000"/>
            </a:srgbClr>
          </a:solidFill>
          <a:ln w="19050">
            <a:solidFill>
              <a:srgbClr val="00A6D6"/>
            </a:solidFill>
          </a:ln>
        </p:spPr>
      </p:sp>
      <p:sp>
        <p:nvSpPr>
          <p:cNvPr id="20" name="Text"/>
          <p:cNvSpPr txBox="1"/>
          <p:nvPr/>
        </p:nvSpPr>
        <p:spPr>
          <a:xfrm>
            <a:off x="8275320" y="2331720"/>
            <a:ext cx="2377440" cy="658368"/>
          </a:xfrm>
          <a:prstGeom prst="rect">
            <a:avLst/>
          </a:prstGeom>
          <a:noFill/>
          <a:ln>
            <a:noFill/>
          </a:ln>
        </p:spPr>
        <p:txBody>
          <a:bodyPr wrap="square" lIns="0" rIns="0" tIns="0" bIns="0"/>
          <a:lstStyle/>
          <a:p>
            <a:pPr algn="c">
              <a:lnSpc>
                <a:spcPct val="105000"/>
              </a:lnSpc>
            </a:pPr>
            <a:r>
              <a:rPr lang="en-US" sz="2300" b="1" dirty="0">
                <a:solidFill>
                  <a:srgbClr val="FFFFFF"/>
                </a:solidFill>
                <a:latin typeface="Aptos"/>
                <a:ea typeface="Aptos"/>
                <a:cs typeface="Aptos"/>
              </a:rPr>
              <a:t>QR / repo</a:t>
            </a:r>
            <a:endParaRPr lang="en-US" sz="2300">
              <a:solidFill>
                <a:srgbClr val="FFFFFF"/>
              </a:solidFill>
              <a:latin typeface="Aptos"/>
            </a:endParaRPr>
          </a:p>
          <a:p>
            <a:pPr algn="c">
              <a:lnSpc>
                <a:spcPct val="105000"/>
              </a:lnSpc>
            </a:pPr>
            <a:r>
              <a:rPr lang="en-US" sz="2300" b="1" dirty="0">
                <a:solidFill>
                  <a:srgbClr val="FFFFFF"/>
                </a:solidFill>
                <a:latin typeface="Aptos"/>
                <a:ea typeface="Aptos"/>
                <a:cs typeface="Aptos"/>
              </a:rPr>
              <a:t>placeholder</a:t>
            </a:r>
            <a:endParaRPr lang="en-US" sz="2300">
              <a:solidFill>
                <a:srgbClr val="FFFFFF"/>
              </a:solidFill>
              <a:latin typeface="Aptos"/>
            </a:endParaRPr>
          </a:p>
        </p:txBody>
      </p:sp>
      <p:sp>
        <p:nvSpPr>
          <p:cNvPr id="21" name="Text"/>
          <p:cNvSpPr txBox="1"/>
          <p:nvPr/>
        </p:nvSpPr>
        <p:spPr>
          <a:xfrm>
            <a:off x="8001000" y="4773168"/>
            <a:ext cx="2926080" cy="228600"/>
          </a:xfrm>
          <a:prstGeom prst="rect">
            <a:avLst/>
          </a:prstGeom>
          <a:noFill/>
          <a:ln>
            <a:noFill/>
          </a:ln>
        </p:spPr>
        <p:txBody>
          <a:bodyPr wrap="square" lIns="0" rIns="0" tIns="0" bIns="0"/>
          <a:lstStyle/>
          <a:p>
            <a:pPr algn="c">
              <a:lnSpc>
                <a:spcPct val="105000"/>
              </a:lnSpc>
            </a:pPr>
            <a:r>
              <a:rPr lang="en-US" sz="900" dirty="0">
                <a:solidFill>
                  <a:srgbClr val="94A3B8"/>
                </a:solidFill>
                <a:latin typeface="Aptos"/>
                <a:ea typeface="Aptos"/>
                <a:cs typeface="Aptos"/>
              </a:rPr>
              <a:t>Replace with repository or demo link</a:t>
            </a:r>
            <a:endParaRPr lang="en-US" sz="900">
              <a:solidFill>
                <a:srgbClr val="94A3B8"/>
              </a:solidFill>
              <a:latin typeface="Aptos"/>
            </a:endParaRPr>
          </a:p>
        </p:txBody>
      </p:sp>
      <p:sp>
        <p:nvSpPr>
          <p:cNvPr id="22" name="Text"/>
          <p:cNvSpPr txBox="1"/>
          <p:nvPr/>
        </p:nvSpPr>
        <p:spPr>
          <a:xfrm>
            <a:off x="777240" y="5806440"/>
            <a:ext cx="5943600" cy="237744"/>
          </a:xfrm>
          <a:prstGeom prst="rect">
            <a:avLst/>
          </a:prstGeom>
          <a:noFill/>
          <a:ln>
            <a:noFill/>
          </a:ln>
        </p:spPr>
        <p:txBody>
          <a:bodyPr wrap="square" lIns="0" rIns="0" tIns="0" bIns="0"/>
          <a:lstStyle/>
          <a:p>
            <a:pPr algn="l">
              <a:lnSpc>
                <a:spcPct val="105000"/>
              </a:lnSpc>
            </a:pPr>
            <a:r>
              <a:rPr lang="en-US" sz="1100" b="1" dirty="0">
                <a:solidFill>
                  <a:srgbClr val="CBD5E1"/>
                </a:solidFill>
                <a:latin typeface="Aptos"/>
                <a:ea typeface="Aptos"/>
                <a:cs typeface="Aptos"/>
              </a:rPr>
              <a:t>Authors: Thomas Perri, Bogdans Grebnevs</a:t>
            </a:r>
            <a:endParaRPr lang="en-US" sz="1100">
              <a:solidFill>
                <a:srgbClr val="CBD5E1"/>
              </a:solidFill>
              <a:latin typeface="Aptos"/>
            </a:endParaRPr>
          </a:p>
        </p:txBody>
      </p:sp>
      <p:sp>
        <p:nvSpPr>
          <p:cNvPr id="23" name="Text"/>
          <p:cNvSpPr txBox="1"/>
          <p:nvPr/>
        </p:nvSpPr>
        <p:spPr>
          <a:xfrm>
            <a:off x="777240" y="6108192"/>
            <a:ext cx="5943600" cy="201168"/>
          </a:xfrm>
          <a:prstGeom prst="rect">
            <a:avLst/>
          </a:prstGeom>
          <a:noFill/>
          <a:ln>
            <a:noFill/>
          </a:ln>
        </p:spPr>
        <p:txBody>
          <a:bodyPr wrap="square" lIns="0" rIns="0" tIns="0" bIns="0"/>
          <a:lstStyle/>
          <a:p>
            <a:pPr algn="l">
              <a:lnSpc>
                <a:spcPct val="105000"/>
              </a:lnSpc>
            </a:pPr>
            <a:r>
              <a:rPr lang="en-US" sz="900" dirty="0">
                <a:solidFill>
                  <a:srgbClr val="94A3B8"/>
                </a:solidFill>
                <a:latin typeface="Aptos"/>
                <a:ea typeface="Aptos"/>
                <a:cs typeface="Aptos"/>
              </a:rPr>
              <a:t>Date: add recording or submission date</a:t>
            </a:r>
            <a:endParaRPr lang="en-US" sz="900">
              <a:solidFill>
                <a:srgbClr val="94A3B8"/>
              </a:solidFill>
              <a:latin typeface="Aptos"/>
            </a:endParaRPr>
          </a:p>
        </p:txBody>
      </p:sp>
      <p:sp>
        <p:nvSpPr>
          <p:cNvPr id="24" name="Text"/>
          <p:cNvSpPr txBox="1"/>
          <p:nvPr/>
        </p:nvSpPr>
        <p:spPr>
          <a:xfrm>
            <a:off x="10927080" y="6464808"/>
            <a:ext cx="685800" cy="182880"/>
          </a:xfrm>
          <a:prstGeom prst="rect">
            <a:avLst/>
          </a:prstGeom>
          <a:noFill/>
          <a:ln>
            <a:noFill/>
          </a:ln>
        </p:spPr>
        <p:txBody>
          <a:bodyPr wrap="square" lIns="0" rIns="0" tIns="0" bIns="0"/>
          <a:lstStyle/>
          <a:p>
            <a:pPr algn="r">
              <a:lnSpc>
                <a:spcPct val="105000"/>
              </a:lnSpc>
            </a:pPr>
            <a:r>
              <a:rPr lang="en-US" sz="800" dirty="0">
                <a:solidFill>
                  <a:srgbClr val="CBD5E1"/>
                </a:solidFill>
                <a:latin typeface="Aptos"/>
                <a:ea typeface="Aptos"/>
                <a:cs typeface="Aptos"/>
              </a:rPr>
              <a:t>14/14</a:t>
            </a:r>
            <a:endParaRPr lang="en-US" sz="800">
              <a:solidFill>
                <a:srgbClr val="CBD5E1"/>
              </a:solidFill>
              <a:latin typeface="Aptos"/>
            </a:endParaRPr>
          </a:p>
        </p:txBody>
      </p:sp>
    </p:spTree>
  </p:cSld>
  <p:clrMapOvr>
    <a:masterClrMapping/>
  </p:clrMapOvr>
</p:sld>
</file>

<file path=ppt/theme/theme1.xml><?xml version="1.0" encoding="utf-8"?>
<a:theme xmlns:a="http://schemas.openxmlformats.org/drawingml/2006/main" name="Radar Presentation Theme">
  <a:themeElements>
    <a:clrScheme name="Radar">
      <a:dk1>
        <a:srgbClr val="111827"/>
      </a:dk1>
      <a:lt1>
        <a:srgbClr val="FFFFFF"/>
      </a:lt1>
      <a:dk2>
        <a:srgbClr val="0B1220"/>
      </a:dk2>
      <a:lt2>
        <a:srgbClr val="F8FAFC"/>
      </a:lt2>
      <a:accent1>
        <a:srgbClr val="005EB8"/>
      </a:accent1>
      <a:accent2>
        <a:srgbClr val="00A6D6"/>
      </a:accent2>
      <a:accent3>
        <a:srgbClr val="F59E0B"/>
      </a:accent3>
      <a:accent4>
        <a:srgbClr val="10B981"/>
      </a:accent4>
      <a:accent5>
        <a:srgbClr val="DC2626"/>
      </a:accent5>
      <a:accent6>
        <a:srgbClr val="64748B"/>
      </a:accent6>
      <a:hlink>
        <a:srgbClr val="005EB8"/>
      </a:hlink>
      <a:folHlink>
        <a:srgbClr val="7C3AED"/>
      </a:folHlink>
    </a:clrScheme>
    <a:fontScheme name="Aptos">
      <a:majorFont>
        <a:latin typeface="Aptos Display"/>
        <a:ea typeface=""/>
        <a:cs typeface=""/>
      </a:majorFont>
      <a:minorFont>
        <a:latin typeface="Aptos"/>
        <a:ea typeface=""/>
        <a:cs typeface=""/>
      </a:minorFont>
    </a:fontScheme>
    <a:fmtScheme name="Radar">
      <a:fillStyleLst>
        <a:solidFill>
          <a:schemeClr val="phClr"/>
        </a:solidFill>
        <a:gradFill rotWithShape="1">
          <a:gsLst>
            <a:gs pos="0">
              <a:schemeClr val="phClr"/>
            </a:gs>
            <a:gs pos="100000">
              <a:schemeClr val="phClr"/>
            </a:gs>
          </a:gsLst>
          <a:lin ang="5400000" scaled="0"/>
        </a:gradFill>
        <a:solidFill>
          <a:schemeClr val="phClr"/>
        </a:solidFill>
      </a:fillStyleLst>
      <a:lnStyleLst>
        <a:ln w="9525"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Codex Open XML generator</Application>
  <PresentationFormat>On-screen Show (16:9)</PresentationFormat>
  <Slides>14</Slides>
  <Notes>14</Notes>
  <Company>ZHAW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Contactless Radar-Based Heart Rate Monitoring Device</dc:title>
  <dc:subject>PM4 video presentation deck</dc:subject>
  <dc:creator>Thomas Perri, Bogdans Grebnevs</dc:creator>
  <cp:lastModifiedBy>Codex</cp:lastModifiedBy>
  <dcterms:created xsi:type="dcterms:W3CDTF">2026-05-17T12:14:06Z</dcterms:created>
  <dcterms:modified xsi:type="dcterms:W3CDTF">2026-05-17T12:14:06Z</dcterms:modified>
</cp:coreProperties>
</file>