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pf Marcel (rumc)" initials="RM(" lastIdx="1" clrIdx="0">
    <p:extLst>
      <p:ext uri="{19B8F6BF-5375-455C-9EA6-DF929625EA0E}">
        <p15:presenceInfo xmlns:p15="http://schemas.microsoft.com/office/powerpoint/2012/main" userId="S::rumc@zhaw.ch::7745aea9-dd29-4b9b-a86f-ebb18ea17ad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95" autoAdjust="0"/>
    <p:restoredTop sz="94687"/>
  </p:normalViewPr>
  <p:slideViewPr>
    <p:cSldViewPr>
      <p:cViewPr varScale="1">
        <p:scale>
          <a:sx n="104" d="100"/>
          <a:sy n="104" d="100"/>
        </p:scale>
        <p:origin x="2208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BED25-4132-4B1A-8DFA-B678DFDBD3ED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64503-2E64-42B7-B0AD-16DD4301840D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963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22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83791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5547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793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6797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025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7576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675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173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4303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4903B67-C6B3-4904-8B5A-1F2FAA8CD8A8}" type="datetimeFigureOut">
              <a:rPr lang="de-CH" smtClean="0"/>
              <a:t>11.02.26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65B909D-0DB8-46B9-95A6-18CE2A1C254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3880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>
            <a:extLst>
              <a:ext uri="{FF2B5EF4-FFF2-40B4-BE49-F238E27FC236}">
                <a16:creationId xmlns:a16="http://schemas.microsoft.com/office/drawing/2014/main" id="{1CEEBC55-B3F2-4E2C-ADC2-37B1E0C1A22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58447" y="908050"/>
            <a:ext cx="115127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800" b="1" dirty="0"/>
              <a:t>PM4, Design, 4.</a:t>
            </a:r>
            <a:fld id="{C0B68E2A-1685-45E2-B781-7AB794E01446}" type="slidenum">
              <a:rPr lang="de-CH" altLang="de-DE" sz="800" b="1" smtClean="0"/>
              <a:pPr eaLnBrk="1" hangingPunct="1">
                <a:spcBef>
                  <a:spcPct val="0"/>
                </a:spcBef>
                <a:buFontTx/>
                <a:buNone/>
              </a:pPr>
              <a:t>‹Nr.›</a:t>
            </a:fld>
            <a:endParaRPr lang="de-CH" altLang="de-DE" sz="800" b="1" dirty="0"/>
          </a:p>
        </p:txBody>
      </p:sp>
      <p:pic>
        <p:nvPicPr>
          <p:cNvPr id="2" name="Grafik 1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8863C619-9F08-C138-8CBF-027DAE3CEE2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85403"/>
            <a:ext cx="638175" cy="66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8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fractive_index" TargetMode="External"/><Relationship Id="rId2" Type="http://schemas.openxmlformats.org/officeDocument/2006/relationships/hyperlink" Target="https://en.wikipedia.org/wiki/Focal_length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65A025A3-4C68-40F5-B131-F37A76E2F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916391">
            <a:off x="296662" y="2096653"/>
            <a:ext cx="977061" cy="743604"/>
          </a:xfrm>
          <a:prstGeom prst="rect">
            <a:avLst/>
          </a:prstGeom>
        </p:spPr>
      </p:pic>
      <p:sp>
        <p:nvSpPr>
          <p:cNvPr id="2" name="Line 6">
            <a:extLst>
              <a:ext uri="{FF2B5EF4-FFF2-40B4-BE49-F238E27FC236}">
                <a16:creationId xmlns:a16="http://schemas.microsoft.com/office/drawing/2014/main" id="{EEA1DDDE-B215-432F-99EE-698889200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CH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19D1E1-3DEE-4D74-9FE4-5408698E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47530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de-CH" altLang="de-DE" sz="2400" b="1" dirty="0">
                <a:solidFill>
                  <a:srgbClr val="003399"/>
                </a:solidFill>
              </a:rPr>
              <a:t>Option </a:t>
            </a:r>
            <a:r>
              <a:rPr lang="de-CH" altLang="de-DE" sz="2400" b="1" dirty="0" err="1">
                <a:solidFill>
                  <a:srgbClr val="003399"/>
                </a:solidFill>
              </a:rPr>
              <a:t>Dielectric</a:t>
            </a:r>
            <a:r>
              <a:rPr lang="de-CH" altLang="de-DE" sz="2400" b="1" dirty="0">
                <a:solidFill>
                  <a:srgbClr val="003399"/>
                </a:solidFill>
              </a:rPr>
              <a:t> Lens </a:t>
            </a:r>
            <a:r>
              <a:rPr lang="de-CH" altLang="de-DE" sz="2400" b="1">
                <a:solidFill>
                  <a:srgbClr val="003399"/>
                </a:solidFill>
              </a:rPr>
              <a:t>Antenna</a:t>
            </a:r>
            <a:endParaRPr lang="de-CH" altLang="de-DE" sz="2400" b="1" dirty="0">
              <a:solidFill>
                <a:srgbClr val="003399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F77F7DD1-A41B-4E3A-9570-55303BC02E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768334" y="2335154"/>
            <a:ext cx="395866" cy="266601"/>
          </a:xfrm>
          <a:prstGeom prst="rect">
            <a:avLst/>
          </a:prstGeom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9EA20359-ACB1-4F76-A324-240C78DFB05B}"/>
              </a:ext>
            </a:extLst>
          </p:cNvPr>
          <p:cNvSpPr/>
          <p:nvPr/>
        </p:nvSpPr>
        <p:spPr>
          <a:xfrm>
            <a:off x="1187623" y="1458054"/>
            <a:ext cx="2520281" cy="202080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B15B5EE-EDC3-4781-AA46-B41E9EF2BEC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922834" y="3717032"/>
            <a:ext cx="6890437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C164CC6E-F72F-4837-9BF9-B4B5A1FDE27F}"/>
              </a:ext>
            </a:extLst>
          </p:cNvPr>
          <p:cNvSpPr txBox="1"/>
          <p:nvPr/>
        </p:nvSpPr>
        <p:spPr>
          <a:xfrm>
            <a:off x="7813271" y="3547755"/>
            <a:ext cx="787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sz="16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0E09723-1D92-407D-A350-99DBA2B0CFD8}"/>
              </a:ext>
            </a:extLst>
          </p:cNvPr>
          <p:cNvSpPr txBox="1"/>
          <p:nvPr/>
        </p:nvSpPr>
        <p:spPr>
          <a:xfrm>
            <a:off x="1451399" y="2176066"/>
            <a:ext cx="1827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</a:t>
            </a:r>
            <a:r>
              <a:rPr lang="de-CH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radar-beam</a:t>
            </a:r>
          </a:p>
          <a:p>
            <a:pPr algn="ctr"/>
            <a:r>
              <a:rPr lang="de-CH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</a:t>
            </a:r>
            <a:r>
              <a:rPr lang="de-CH" sz="16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endParaRPr lang="de-CH" sz="1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5E5FC8D-B385-459B-9519-BC7B64DDE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916391">
            <a:off x="307775" y="4347489"/>
            <a:ext cx="977061" cy="74360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13F1A150-CEAD-47E6-97B3-B187DDFFE5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9" r="25569" b="42972"/>
          <a:stretch/>
        </p:blipFill>
        <p:spPr>
          <a:xfrm rot="5400000">
            <a:off x="779447" y="4585990"/>
            <a:ext cx="395866" cy="266601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2C496D5E-2CC5-4396-9D40-F005898001CF}"/>
              </a:ext>
            </a:extLst>
          </p:cNvPr>
          <p:cNvSpPr/>
          <p:nvPr/>
        </p:nvSpPr>
        <p:spPr>
          <a:xfrm>
            <a:off x="1411116" y="4323494"/>
            <a:ext cx="4817068" cy="67934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38B8B4F-2A87-4D00-B192-E766309E03A6}"/>
              </a:ext>
            </a:extLst>
          </p:cNvPr>
          <p:cNvSpPr/>
          <p:nvPr/>
        </p:nvSpPr>
        <p:spPr>
          <a:xfrm>
            <a:off x="1149849" y="4073508"/>
            <a:ext cx="152074" cy="127121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173A0C2C-13BB-482A-8EF9-2077C5C02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166" y="5612467"/>
            <a:ext cx="8391913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600" dirty="0"/>
              <a:t>dielectric lens (3D printed)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design with ordinary formulas from optics </a:t>
            </a:r>
          </a:p>
          <a:p>
            <a:pPr marL="285750" indent="-285750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R.J. Friel et al., ”3D Printed Radar Lenses with </a:t>
            </a:r>
            <a:r>
              <a:rPr lang="de-CH" sz="1600" dirty="0"/>
              <a:t>Anti-</a:t>
            </a:r>
            <a:r>
              <a:rPr lang="de-CH" sz="1600" dirty="0" err="1"/>
              <a:t>Reflective</a:t>
            </a:r>
            <a:r>
              <a:rPr lang="de-CH" sz="1600" dirty="0"/>
              <a:t> </a:t>
            </a:r>
            <a:r>
              <a:rPr lang="de-CH" sz="1600" dirty="0" err="1"/>
              <a:t>Structures</a:t>
            </a:r>
            <a:r>
              <a:rPr lang="en-US" sz="1600" dirty="0"/>
              <a:t>”, MDPI, 2019.</a:t>
            </a:r>
          </a:p>
        </p:txBody>
      </p:sp>
      <p:sp>
        <p:nvSpPr>
          <p:cNvPr id="27" name="Text Box 4">
            <a:extLst>
              <a:ext uri="{FF2B5EF4-FFF2-40B4-BE49-F238E27FC236}">
                <a16:creationId xmlns:a16="http://schemas.microsoft.com/office/drawing/2014/main" id="{320DE521-2648-4DC6-B5B5-8D6E9B4E4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77" y="2905683"/>
            <a:ext cx="7056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dirty="0"/>
              <a:t>24 GHz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90B10FFA-64EC-4C47-B78D-36A9F80E3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077" y="4005064"/>
            <a:ext cx="7056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1200" dirty="0"/>
              <a:t>24 GHz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9FB85CC-2591-47B8-9A29-86E064DB2006}"/>
              </a:ext>
            </a:extLst>
          </p:cNvPr>
          <p:cNvSpPr txBox="1"/>
          <p:nvPr/>
        </p:nvSpPr>
        <p:spPr>
          <a:xfrm>
            <a:off x="2700366" y="4402097"/>
            <a:ext cx="178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radar-beam</a:t>
            </a:r>
          </a:p>
          <a:p>
            <a:pPr algn="ctr"/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</a:t>
            </a:r>
            <a:r>
              <a:rPr lang="de-CH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CH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  <a:endParaRPr lang="de-CH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AA7618D-345B-49FB-AF5D-D67A79C79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19" y="4251383"/>
            <a:ext cx="2221801" cy="17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">
            <a:extLst>
              <a:ext uri="{FF2B5EF4-FFF2-40B4-BE49-F238E27FC236}">
                <a16:creationId xmlns:a16="http://schemas.microsoft.com/office/drawing/2014/main" id="{EEA1DDDE-B215-432F-99EE-698889200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038" y="1052513"/>
            <a:ext cx="6481762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C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3519D1E1-3DEE-4D74-9FE4-5408698E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664"/>
            <a:ext cx="54136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altLang="de-DE" sz="2400" b="1" dirty="0">
                <a:solidFill>
                  <a:srgbClr val="003399"/>
                </a:solidFill>
              </a:rPr>
              <a:t>Speed of Light and </a:t>
            </a:r>
            <a:r>
              <a:rPr lang="de-CH" altLang="de-DE" sz="2400" b="1" dirty="0" err="1">
                <a:solidFill>
                  <a:srgbClr val="003399"/>
                </a:solidFill>
              </a:rPr>
              <a:t>Refractive</a:t>
            </a:r>
            <a:r>
              <a:rPr lang="de-CH" altLang="de-DE" sz="2400" b="1" dirty="0">
                <a:solidFill>
                  <a:srgbClr val="003399"/>
                </a:solidFill>
              </a:rPr>
              <a:t> Index</a:t>
            </a:r>
            <a:endParaRPr kumimoji="0" lang="de-CH" altLang="de-DE" sz="2400" b="1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4">
                <a:extLst>
                  <a:ext uri="{FF2B5EF4-FFF2-40B4-BE49-F238E27FC236}">
                    <a16:creationId xmlns:a16="http://schemas.microsoft.com/office/drawing/2014/main" id="{173A0C2C-13BB-482A-8EF9-2077C5C026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038" y="1048446"/>
                <a:ext cx="8568630" cy="5594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285750" indent="-28575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Speed of </a:t>
                </a:r>
                <a:r>
                  <a:rPr kumimoji="0" lang="de-CH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electro-magnetic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de-CH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waves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(</a:t>
                </a:r>
                <a:r>
                  <a:rPr kumimoji="0" lang="de-CH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speed</a:t>
                </a:r>
                <a:r>
                  <a:rPr kumimoji="0" lang="de-CH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of light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) in </a:t>
                </a:r>
                <a:r>
                  <a:rPr kumimoji="0" lang="de-CH" sz="1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vacuum</a:t>
                </a:r>
                <a:br>
                  <a:rPr kumimoji="0" lang="de-CH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</a:br>
                <a14:m>
                  <m:oMath xmlns:m="http://schemas.openxmlformats.org/officeDocument/2006/math"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CH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CH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de-CH" sz="1600" dirty="0">
                  <a:solidFill>
                    <a:prstClr val="black"/>
                  </a:solidFill>
                </a:endParaRPr>
              </a:p>
              <a:p>
                <a:pPr marL="285750" indent="-28575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  <a:defRPr/>
                </a:pP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Speed of </a:t>
                </a:r>
                <a:r>
                  <a:rPr kumimoji="0" lang="de-CH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electro-magnetic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de-CH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waves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in a </a:t>
                </a:r>
                <a:r>
                  <a:rPr kumimoji="0" lang="de-CH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medium</a:t>
                </a:r>
                <a:br>
                  <a:rPr lang="de-CH" sz="1600" b="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CH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CH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de-CH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de-CH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CH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br>
                  <a:rPr lang="de-CH" sz="1600" dirty="0">
                    <a:solidFill>
                      <a:prstClr val="black"/>
                    </a:solidFill>
                  </a:rPr>
                </a:br>
                <a:r>
                  <a:rPr lang="de-CH" sz="1600" dirty="0">
                    <a:solidFill>
                      <a:prstClr val="black"/>
                    </a:solidFill>
                  </a:rPr>
                  <a:t>In a medium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CH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1 </m:t>
                    </m:r>
                    <m:r>
                      <m:rPr>
                        <m:nor/>
                      </m:rPr>
                      <a:rPr lang="de-CH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de-CH" sz="16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CH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CH" sz="1600" dirty="0">
                    <a:solidFill>
                      <a:prstClr val="black"/>
                    </a:solidFill>
                  </a:rPr>
                  <a:t> ) </a:t>
                </a:r>
                <a:r>
                  <a:rPr lang="de-CH" sz="1600" dirty="0" err="1">
                    <a:solidFill>
                      <a:prstClr val="black"/>
                    </a:solidFill>
                  </a:rPr>
                  <a:t>the</a:t>
                </a:r>
                <a:r>
                  <a:rPr lang="de-CH" sz="1600" dirty="0">
                    <a:solidFill>
                      <a:prstClr val="black"/>
                    </a:solidFill>
                  </a:rPr>
                  <a:t> </a:t>
                </a:r>
                <a:r>
                  <a:rPr lang="de-CH" sz="1600" dirty="0" err="1">
                    <a:solidFill>
                      <a:prstClr val="black"/>
                    </a:solidFill>
                  </a:rPr>
                  <a:t>speed</a:t>
                </a:r>
                <a:r>
                  <a:rPr lang="de-CH" sz="1600" dirty="0">
                    <a:solidFill>
                      <a:prstClr val="black"/>
                    </a:solidFill>
                  </a:rPr>
                  <a:t> </a:t>
                </a:r>
                <a:r>
                  <a:rPr lang="de-CH" sz="1600" dirty="0" err="1">
                    <a:solidFill>
                      <a:prstClr val="black"/>
                    </a:solidFill>
                  </a:rPr>
                  <a:t>is</a:t>
                </a:r>
                <a:r>
                  <a:rPr lang="de-CH" sz="1600" dirty="0">
                    <a:solidFill>
                      <a:prstClr val="black"/>
                    </a:solidFill>
                  </a:rPr>
                  <a:t> </a:t>
                </a:r>
                <a:r>
                  <a:rPr lang="de-CH" sz="1600" dirty="0" err="1">
                    <a:solidFill>
                      <a:prstClr val="black"/>
                    </a:solidFill>
                  </a:rPr>
                  <a:t>lower</a:t>
                </a:r>
                <a:endParaRPr lang="de-CH" sz="1600" dirty="0">
                  <a:solidFill>
                    <a:prstClr val="black"/>
                  </a:solidFill>
                </a:endParaRPr>
              </a:p>
              <a:p>
                <a:pPr marL="285750" indent="-28575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Definition of </a:t>
                </a:r>
                <a:r>
                  <a:rPr lang="de-CH" sz="1600" dirty="0">
                    <a:solidFill>
                      <a:prstClr val="black"/>
                    </a:solidFill>
                  </a:rPr>
                  <a:t>R</a:t>
                </a:r>
                <a:r>
                  <a:rPr kumimoji="0" lang="de-CH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efractive</a:t>
                </a:r>
                <a:r>
                  <a:rPr kumimoji="0" lang="de-CH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Index</a:t>
                </a:r>
                <a:br>
                  <a:rPr lang="de-CH" sz="16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0" lang="de-CH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de-CH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de-CH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de-CH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kumimoji="0" lang="de-CH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a:rPr kumimoji="0" lang="de-CH" sz="16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de-CH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de-CH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CH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de-CH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de-CH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br>
                  <a:rPr lang="de-CH" sz="1600" dirty="0">
                    <a:solidFill>
                      <a:prstClr val="black"/>
                    </a:solidFill>
                  </a:rPr>
                </a:br>
                <a:r>
                  <a:rPr lang="en-US" sz="1600" dirty="0">
                    <a:solidFill>
                      <a:prstClr val="black"/>
                    </a:solidFill>
                  </a:rPr>
                  <a:t>This is well known and applied in optics</a:t>
                </a:r>
              </a:p>
              <a:p>
                <a:pPr marL="285750" indent="-28575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prstClr val="black"/>
                    </a:solidFill>
                  </a:rPr>
                  <a:t>Snell’s law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CH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CH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 is used for optical system</a:t>
                </a:r>
                <a:r>
                  <a:rPr lang="en-US" sz="1600" dirty="0">
                    <a:solidFill>
                      <a:prstClr val="black"/>
                    </a:solidFill>
                  </a:rPr>
                  <a:t>s</a:t>
                </a:r>
              </a:p>
              <a:p>
                <a:pPr marL="285750" indent="-28575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lang="en-US" sz="1600" dirty="0">
                    <a:solidFill>
                      <a:prstClr val="black"/>
                    </a:solidFill>
                  </a:rPr>
                  <a:t>Radar signals are electro-magnetic waves</a:t>
                </a:r>
                <a:br>
                  <a:rPr lang="en-US" sz="1600" dirty="0">
                    <a:solidFill>
                      <a:prstClr val="black"/>
                    </a:solidFill>
                  </a:rPr>
                </a:b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Le</a:t>
                </a:r>
                <a:r>
                  <a:rPr lang="en-US" sz="1600" dirty="0" err="1">
                    <a:solidFill>
                      <a:prstClr val="black"/>
                    </a:solidFill>
                  </a:rPr>
                  <a:t>nses</a:t>
                </a:r>
                <a:r>
                  <a:rPr lang="en-US" sz="1600" dirty="0">
                    <a:solidFill>
                      <a:prstClr val="black"/>
                    </a:solidFill>
                  </a:rPr>
                  <a:t> of material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de-CH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CH" sz="1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de-CH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</a:rPr>
                  <a:t> can be used for focusing</a:t>
                </a:r>
              </a:p>
              <a:p>
                <a:pPr lvl="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  <a:p>
                <a:pPr lvl="0">
                  <a:lnSpc>
                    <a:spcPct val="130000"/>
                  </a:lnSpc>
                  <a:spcBef>
                    <a:spcPct val="0"/>
                  </a:spcBef>
                  <a:spcAft>
                    <a:spcPts val="600"/>
                  </a:spcAft>
                  <a:buNone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So</a:t>
                </a:r>
                <a:r>
                  <a:rPr lang="en-US" sz="1200" dirty="0" err="1">
                    <a:solidFill>
                      <a:prstClr val="black"/>
                    </a:solidFill>
                  </a:rPr>
                  <a:t>urces</a:t>
                </a:r>
                <a:r>
                  <a:rPr lang="en-US" sz="1200" dirty="0">
                    <a:solidFill>
                      <a:prstClr val="black"/>
                    </a:solidFill>
                  </a:rPr>
                  <a:t> of the images</a:t>
                </a:r>
                <a:r>
                  <a:rPr lang="en-US" sz="1200">
                    <a:solidFill>
                      <a:prstClr val="black"/>
                    </a:solidFill>
                  </a:rPr>
                  <a:t>: </a:t>
                </a:r>
                <a:r>
                  <a:rPr lang="en-US" sz="1200">
                    <a:solidFill>
                      <a:prstClr val="black"/>
                    </a:solidFill>
                    <a:hlinkClick r:id="rId2"/>
                  </a:rPr>
                  <a:t>https</a:t>
                </a:r>
                <a:r>
                  <a:rPr lang="en-US" sz="1200" dirty="0">
                    <a:solidFill>
                      <a:prstClr val="black"/>
                    </a:solidFill>
                    <a:hlinkClick r:id="rId2"/>
                  </a:rPr>
                  <a:t>://en.wikipedia.org/wiki/Focal_length</a:t>
                </a:r>
                <a:r>
                  <a:rPr lang="en-US" sz="1200" dirty="0">
                    <a:solidFill>
                      <a:prstClr val="black"/>
                    </a:solidFill>
                  </a:rPr>
                  <a:t> and </a:t>
                </a:r>
                <a:r>
                  <a:rPr lang="en-US" sz="1200" dirty="0">
                    <a:solidFill>
                      <a:prstClr val="black"/>
                    </a:solidFill>
                    <a:hlinkClick r:id="rId3"/>
                  </a:rPr>
                  <a:t>https://en.wikipedia.org/wiki/Refractive_index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5" name="Text Box 4">
                <a:extLst>
                  <a:ext uri="{FF2B5EF4-FFF2-40B4-BE49-F238E27FC236}">
                    <a16:creationId xmlns:a16="http://schemas.microsoft.com/office/drawing/2014/main" id="{173A0C2C-13BB-482A-8EF9-2077C5C0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7038" y="1048446"/>
                <a:ext cx="8568630" cy="5594673"/>
              </a:xfrm>
              <a:prstGeom prst="rect">
                <a:avLst/>
              </a:prstGeom>
              <a:blipFill>
                <a:blip r:embed="rId4"/>
                <a:stretch>
                  <a:fillRect l="-2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fik 20">
            <a:extLst>
              <a:ext uri="{FF2B5EF4-FFF2-40B4-BE49-F238E27FC236}">
                <a16:creationId xmlns:a16="http://schemas.microsoft.com/office/drawing/2014/main" id="{C9FCD078-F3D6-4914-A6BA-51152CF59D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3787" y="3356992"/>
            <a:ext cx="2543175" cy="2276475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07A5F69A-CA66-432C-ABF9-BE82E5FA9B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512" y="1124744"/>
            <a:ext cx="207645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27934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Macintosh PowerPoint</Application>
  <PresentationFormat>Bildschirmpräsentation (4:3)</PresentationFormat>
  <Paragraphs>19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 Math</vt:lpstr>
      <vt:lpstr>Larissa</vt:lpstr>
      <vt:lpstr>PowerPoint-Präsentation</vt:lpstr>
      <vt:lpstr>PowerPoint-Präsentation</vt:lpstr>
    </vt:vector>
  </TitlesOfParts>
  <Company>ZHAW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rumc</dc:creator>
  <cp:lastModifiedBy>Rennhard Patrick (renn)</cp:lastModifiedBy>
  <cp:revision>440</cp:revision>
  <dcterms:created xsi:type="dcterms:W3CDTF">2018-04-08T12:34:55Z</dcterms:created>
  <dcterms:modified xsi:type="dcterms:W3CDTF">2026-02-11T11:38:20Z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2022-02-09T09:47:46Z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6819009b-52c3-4628-87a8-afc885e1a79b</vt:lpwstr>
  </property>
  <property fmtid="{D5CDD505-2E9C-101B-9397-08002B2CF9AE}" pid="8" name="MSIP_Label_10d9bad3-6dac-4e9a-89a3-89f3b8d247b2_ContentBits">
    <vt:lpwstr>0</vt:lpwstr>
  </property>
</Properties>
</file>