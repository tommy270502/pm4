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79" r:id="rId2"/>
    <p:sldId id="263" r:id="rId3"/>
    <p:sldId id="284" r:id="rId4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upf Marcel (rumc)" initials="RM(" lastIdx="1" clrIdx="0">
    <p:extLst>
      <p:ext uri="{19B8F6BF-5375-455C-9EA6-DF929625EA0E}">
        <p15:presenceInfo xmlns:p15="http://schemas.microsoft.com/office/powerpoint/2012/main" userId="S::rumc@zhaw.ch::7745aea9-dd29-4b9b-a86f-ebb18ea17ad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8000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95" autoAdjust="0"/>
    <p:restoredTop sz="94687"/>
  </p:normalViewPr>
  <p:slideViewPr>
    <p:cSldViewPr>
      <p:cViewPr varScale="1">
        <p:scale>
          <a:sx n="104" d="100"/>
          <a:sy n="104" d="100"/>
        </p:scale>
        <p:origin x="2208" y="2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6BED25-4132-4B1A-8DFA-B678DFDBD3ED}" type="datetimeFigureOut">
              <a:rPr lang="de-CH" smtClean="0"/>
              <a:t>11.02.26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564503-2E64-42B7-B0AD-16DD4301840D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19636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564503-2E64-42B7-B0AD-16DD4301840D}" type="slidenum">
              <a:rPr lang="de-CH" smtClean="0"/>
              <a:t>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39033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903B67-C6B3-4904-8B5A-1F2FAA8CD8A8}" type="datetimeFigureOut">
              <a:rPr lang="de-CH" smtClean="0"/>
              <a:t>11.02.26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65B909D-0DB8-46B9-95A6-18CE2A1C254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92227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903B67-C6B3-4904-8B5A-1F2FAA8CD8A8}" type="datetimeFigureOut">
              <a:rPr lang="de-CH" smtClean="0"/>
              <a:t>11.02.26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65B909D-0DB8-46B9-95A6-18CE2A1C254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83791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903B67-C6B3-4904-8B5A-1F2FAA8CD8A8}" type="datetimeFigureOut">
              <a:rPr lang="de-CH" smtClean="0"/>
              <a:t>11.02.26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65B909D-0DB8-46B9-95A6-18CE2A1C254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55477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903B67-C6B3-4904-8B5A-1F2FAA8CD8A8}" type="datetimeFigureOut">
              <a:rPr lang="de-CH" smtClean="0"/>
              <a:t>11.02.26</a:t>
            </a:fld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65B909D-0DB8-46B9-95A6-18CE2A1C254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7932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903B67-C6B3-4904-8B5A-1F2FAA8CD8A8}" type="datetimeFigureOut">
              <a:rPr lang="de-CH" smtClean="0"/>
              <a:t>11.02.26</a:t>
            </a:fld>
            <a:endParaRPr lang="de-CH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65B909D-0DB8-46B9-95A6-18CE2A1C254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67970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903B67-C6B3-4904-8B5A-1F2FAA8CD8A8}" type="datetimeFigureOut">
              <a:rPr lang="de-CH" smtClean="0"/>
              <a:t>11.02.26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65B909D-0DB8-46B9-95A6-18CE2A1C254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0258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903B67-C6B3-4904-8B5A-1F2FAA8CD8A8}" type="datetimeFigureOut">
              <a:rPr lang="de-CH" smtClean="0"/>
              <a:t>11.02.26</a:t>
            </a:fld>
            <a:endParaRPr lang="de-CH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65B909D-0DB8-46B9-95A6-18CE2A1C254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75769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903B67-C6B3-4904-8B5A-1F2FAA8CD8A8}" type="datetimeFigureOut">
              <a:rPr lang="de-CH" smtClean="0"/>
              <a:t>11.02.26</a:t>
            </a:fld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65B909D-0DB8-46B9-95A6-18CE2A1C254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36758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903B67-C6B3-4904-8B5A-1F2FAA8CD8A8}" type="datetimeFigureOut">
              <a:rPr lang="de-CH" smtClean="0"/>
              <a:t>11.02.26</a:t>
            </a:fld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65B909D-0DB8-46B9-95A6-18CE2A1C254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91739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903B67-C6B3-4904-8B5A-1F2FAA8CD8A8}" type="datetimeFigureOut">
              <a:rPr lang="de-CH" smtClean="0"/>
              <a:t>11.02.26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65B909D-0DB8-46B9-95A6-18CE2A1C254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34303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903B67-C6B3-4904-8B5A-1F2FAA8CD8A8}" type="datetimeFigureOut">
              <a:rPr lang="de-CH" smtClean="0"/>
              <a:t>11.02.26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65B909D-0DB8-46B9-95A6-18CE2A1C254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38806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7">
            <a:extLst>
              <a:ext uri="{FF2B5EF4-FFF2-40B4-BE49-F238E27FC236}">
                <a16:creationId xmlns:a16="http://schemas.microsoft.com/office/drawing/2014/main" id="{1CEEBC55-B3F2-4E2C-ADC2-37B1E0C1A22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658447" y="908050"/>
            <a:ext cx="1151277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800" b="1" dirty="0"/>
              <a:t>PM4, Design, 3.</a:t>
            </a:r>
            <a:fld id="{C0B68E2A-1685-45E2-B781-7AB794E01446}" type="slidenum">
              <a:rPr lang="de-CH" altLang="de-DE" sz="800" b="1" smtClean="0"/>
              <a:pPr eaLnBrk="1" hangingPunct="1">
                <a:spcBef>
                  <a:spcPct val="0"/>
                </a:spcBef>
                <a:buFontTx/>
                <a:buNone/>
              </a:pPr>
              <a:t>‹Nr.›</a:t>
            </a:fld>
            <a:endParaRPr lang="de-CH" altLang="de-DE" sz="800" b="1" dirty="0"/>
          </a:p>
        </p:txBody>
      </p:sp>
      <p:pic>
        <p:nvPicPr>
          <p:cNvPr id="2" name="Grafik 1" descr="Ein Bild, das Schrift, Grafiken, Grafikdesign, Logo enthält.&#10;&#10;KI-generierte Inhalte können fehlerhaft sein.">
            <a:extLst>
              <a:ext uri="{FF2B5EF4-FFF2-40B4-BE49-F238E27FC236}">
                <a16:creationId xmlns:a16="http://schemas.microsoft.com/office/drawing/2014/main" id="{CED01BD1-A245-5F19-8186-06CFA4FC3B7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280" y="385403"/>
            <a:ext cx="638175" cy="66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286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hworks.com/help/phased/ug/introduction-to-micro-doppler-effects.html" TargetMode="External"/><Relationship Id="rId7" Type="http://schemas.openxmlformats.org/officeDocument/2006/relationships/image" Target="../media/image6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7.jpg"/><Relationship Id="rId7" Type="http://schemas.openxmlformats.org/officeDocument/2006/relationships/image" Target="../media/image9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2.png"/><Relationship Id="rId5" Type="http://schemas.openxmlformats.org/officeDocument/2006/relationships/image" Target="../media/image4.jpeg"/><Relationship Id="rId10" Type="http://schemas.openxmlformats.org/officeDocument/2006/relationships/image" Target="../media/image11.jpg"/><Relationship Id="rId4" Type="http://schemas.openxmlformats.org/officeDocument/2006/relationships/image" Target="../media/image8.jpg"/><Relationship Id="rId9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fik 16">
            <a:extLst>
              <a:ext uri="{FF2B5EF4-FFF2-40B4-BE49-F238E27FC236}">
                <a16:creationId xmlns:a16="http://schemas.microsoft.com/office/drawing/2014/main" id="{65A025A3-4C68-40F5-B131-F37A76E2F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7630047">
            <a:off x="4393643" y="1640125"/>
            <a:ext cx="977061" cy="743604"/>
          </a:xfrm>
          <a:prstGeom prst="rect">
            <a:avLst/>
          </a:prstGeom>
        </p:spPr>
      </p:pic>
      <p:sp>
        <p:nvSpPr>
          <p:cNvPr id="2" name="Line 6">
            <a:extLst>
              <a:ext uri="{FF2B5EF4-FFF2-40B4-BE49-F238E27FC236}">
                <a16:creationId xmlns:a16="http://schemas.microsoft.com/office/drawing/2014/main" id="{EEA1DDDE-B215-432F-99EE-698889200CB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038" y="1052513"/>
            <a:ext cx="6481762" cy="0"/>
          </a:xfrm>
          <a:prstGeom prst="line">
            <a:avLst/>
          </a:prstGeom>
          <a:noFill/>
          <a:ln w="19050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CH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174FF142-6852-4C71-B6E1-455137612C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994" y="2797185"/>
            <a:ext cx="8023350" cy="2215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spcAft>
                <a:spcPts val="1200"/>
              </a:spcAft>
              <a:buNone/>
            </a:pPr>
            <a:r>
              <a:rPr lang="de-CH" altLang="de-DE" sz="2000" b="1" dirty="0" err="1">
                <a:solidFill>
                  <a:srgbClr val="003399"/>
                </a:solidFill>
              </a:rPr>
              <a:t>Meaning</a:t>
            </a:r>
            <a:r>
              <a:rPr lang="de-CH" altLang="de-DE" sz="2000" b="1" dirty="0">
                <a:solidFill>
                  <a:srgbClr val="003399"/>
                </a:solidFill>
              </a:rPr>
              <a:t> of «Micro-Doppler» </a:t>
            </a:r>
            <a:br>
              <a:rPr lang="de-CH" altLang="de-DE" sz="2000" b="1" dirty="0">
                <a:solidFill>
                  <a:srgbClr val="003399"/>
                </a:solidFill>
              </a:rPr>
            </a:br>
            <a:r>
              <a:rPr lang="de-CH" altLang="de-DE" sz="1200" dirty="0"/>
              <a:t>(</a:t>
            </a:r>
            <a:r>
              <a:rPr lang="de-CH" altLang="de-DE" sz="1200" dirty="0">
                <a:hlinkClick r:id="rId3"/>
              </a:rPr>
              <a:t>https://www.mathworks.com/help/phased/ug/introduction-to-micro-doppler-effects.html</a:t>
            </a:r>
            <a:r>
              <a:rPr lang="de-CH" altLang="de-DE" sz="1200" dirty="0"/>
              <a:t>)</a:t>
            </a:r>
          </a:p>
          <a:p>
            <a:pPr>
              <a:spcBef>
                <a:spcPct val="0"/>
              </a:spcBef>
              <a:spcAft>
                <a:spcPts val="1200"/>
              </a:spcAft>
              <a:buNone/>
            </a:pPr>
            <a:r>
              <a:rPr lang="en-US" sz="1600" dirty="0"/>
              <a:t>A moving target introduces a frequency shift in the radar return due to Doppler effect. </a:t>
            </a:r>
            <a:br>
              <a:rPr lang="en-US" sz="1600" dirty="0"/>
            </a:br>
            <a:r>
              <a:rPr lang="en-US" sz="1600" dirty="0"/>
              <a:t>However, because most targets are not rigid bodies, there are often other vibrations </a:t>
            </a:r>
            <a:br>
              <a:rPr lang="en-US" sz="1600" dirty="0"/>
            </a:br>
            <a:r>
              <a:rPr lang="en-US" sz="1600" dirty="0"/>
              <a:t>and rotations in different parts of the target in addition to the platform movement. For </a:t>
            </a:r>
            <a:br>
              <a:rPr lang="en-US" sz="1600" dirty="0"/>
            </a:br>
            <a:r>
              <a:rPr lang="en-US" sz="1600" dirty="0"/>
              <a:t>example, when a helicopter flies, its blades rotate, or when a person walks, their arms </a:t>
            </a:r>
            <a:br>
              <a:rPr lang="en-US" sz="1600" dirty="0"/>
            </a:br>
            <a:r>
              <a:rPr lang="en-US" sz="1600" dirty="0"/>
              <a:t>swing naturally. These </a:t>
            </a:r>
            <a:r>
              <a:rPr lang="en-US" sz="1600" b="1" dirty="0">
                <a:solidFill>
                  <a:srgbClr val="FF0000"/>
                </a:solidFill>
              </a:rPr>
              <a:t>micro scale movements </a:t>
            </a:r>
            <a:r>
              <a:rPr lang="en-US" sz="1600" dirty="0"/>
              <a:t>produce additional Doppler shifts, </a:t>
            </a:r>
            <a:br>
              <a:rPr lang="en-US" sz="1600" dirty="0">
                <a:solidFill>
                  <a:srgbClr val="FF0000"/>
                </a:solidFill>
              </a:rPr>
            </a:br>
            <a:r>
              <a:rPr lang="en-US" sz="1600" dirty="0"/>
              <a:t>referred to as </a:t>
            </a:r>
            <a:r>
              <a:rPr lang="en-US" sz="1600" b="1" dirty="0">
                <a:solidFill>
                  <a:srgbClr val="FF0000"/>
                </a:solidFill>
              </a:rPr>
              <a:t>micro-Doppler effects</a:t>
            </a:r>
            <a:r>
              <a:rPr lang="en-US" sz="1600" dirty="0">
                <a:solidFill>
                  <a:srgbClr val="FF0000"/>
                </a:solidFill>
              </a:rPr>
              <a:t>, </a:t>
            </a:r>
            <a:r>
              <a:rPr lang="en-US" sz="1600" dirty="0"/>
              <a:t>which are useful in identifying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b="1" dirty="0">
                <a:solidFill>
                  <a:srgbClr val="FF0000"/>
                </a:solidFill>
              </a:rPr>
              <a:t>target features</a:t>
            </a:r>
            <a:r>
              <a:rPr lang="en-US" sz="1600" dirty="0"/>
              <a:t>. 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3519D1E1-3DEE-4D74-9FE4-5408698EBC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04664"/>
            <a:ext cx="498566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2400" b="1" dirty="0">
                <a:solidFill>
                  <a:srgbClr val="003399"/>
                </a:solidFill>
              </a:rPr>
              <a:t>Option Micro-Doppler-Evaluation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B937571B-3F1C-4492-B12F-4B4DB89FF92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786"/>
          <a:stretch/>
        </p:blipFill>
        <p:spPr>
          <a:xfrm>
            <a:off x="236662" y="1196752"/>
            <a:ext cx="3121152" cy="739239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F77F7DD1-A41B-4E3A-9570-55303BC02E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99" r="25569" b="42972"/>
          <a:stretch/>
        </p:blipFill>
        <p:spPr>
          <a:xfrm rot="16200000">
            <a:off x="3968017" y="1879540"/>
            <a:ext cx="646979" cy="435716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263F51F7-1719-4C44-8D9B-89DCC5D1CFA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99" r="25569" b="42972"/>
          <a:stretch/>
        </p:blipFill>
        <p:spPr>
          <a:xfrm rot="5400000">
            <a:off x="4320017" y="1578890"/>
            <a:ext cx="226293" cy="152400"/>
          </a:xfrm>
          <a:prstGeom prst="rect">
            <a:avLst/>
          </a:prstGeom>
        </p:spPr>
      </p:pic>
      <p:sp>
        <p:nvSpPr>
          <p:cNvPr id="26" name="Text Box 4">
            <a:extLst>
              <a:ext uri="{FF2B5EF4-FFF2-40B4-BE49-F238E27FC236}">
                <a16:creationId xmlns:a16="http://schemas.microsoft.com/office/drawing/2014/main" id="{4B56D6E3-EEF3-4658-8083-11BCAE1481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5284946"/>
            <a:ext cx="6020879" cy="1369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spcAft>
                <a:spcPts val="600"/>
              </a:spcAft>
              <a:buNone/>
            </a:pPr>
            <a:r>
              <a:rPr lang="de-CH" altLang="de-DE" sz="2000" b="1" dirty="0" err="1">
                <a:solidFill>
                  <a:srgbClr val="003399"/>
                </a:solidFill>
              </a:rPr>
              <a:t>Some</a:t>
            </a:r>
            <a:r>
              <a:rPr lang="de-CH" altLang="de-DE" sz="2000" b="1" dirty="0">
                <a:solidFill>
                  <a:srgbClr val="003399"/>
                </a:solidFill>
              </a:rPr>
              <a:t> </a:t>
            </a:r>
            <a:r>
              <a:rPr lang="de-CH" altLang="de-DE" sz="2000" b="1" dirty="0" err="1">
                <a:solidFill>
                  <a:srgbClr val="003399"/>
                </a:solidFill>
              </a:rPr>
              <a:t>questions</a:t>
            </a:r>
            <a:r>
              <a:rPr lang="de-CH" altLang="de-DE" sz="2000" b="1" dirty="0">
                <a:solidFill>
                  <a:srgbClr val="003399"/>
                </a:solidFill>
              </a:rPr>
              <a:t> in CW-Radar </a:t>
            </a:r>
            <a:r>
              <a:rPr lang="de-CH" altLang="de-DE" sz="2000" b="1" dirty="0" err="1">
                <a:solidFill>
                  <a:srgbClr val="003399"/>
                </a:solidFill>
              </a:rPr>
              <a:t>signal</a:t>
            </a:r>
            <a:r>
              <a:rPr lang="de-CH" altLang="de-DE" sz="2000" b="1" dirty="0">
                <a:solidFill>
                  <a:srgbClr val="003399"/>
                </a:solidFill>
              </a:rPr>
              <a:t> </a:t>
            </a:r>
            <a:r>
              <a:rPr lang="de-CH" altLang="de-DE" sz="2000" b="1" dirty="0" err="1">
                <a:solidFill>
                  <a:srgbClr val="003399"/>
                </a:solidFill>
              </a:rPr>
              <a:t>processing</a:t>
            </a:r>
            <a:endParaRPr lang="de-CH" altLang="de-DE" sz="2000" b="1" dirty="0">
              <a:solidFill>
                <a:srgbClr val="003399"/>
              </a:solidFill>
            </a:endParaRPr>
          </a:p>
          <a:p>
            <a:pPr marL="285750" indent="-285750">
              <a:spcBef>
                <a:spcPct val="0"/>
              </a:spcBef>
              <a:spcAft>
                <a:spcPts val="600"/>
              </a:spcAft>
            </a:pPr>
            <a:r>
              <a:rPr lang="en-US" sz="1600" dirty="0"/>
              <a:t>Can the steps of a person be detected in the radar signal?</a:t>
            </a:r>
          </a:p>
          <a:p>
            <a:pPr marL="285750" indent="-285750">
              <a:spcBef>
                <a:spcPct val="0"/>
              </a:spcBef>
              <a:spcAft>
                <a:spcPts val="600"/>
              </a:spcAft>
            </a:pPr>
            <a:r>
              <a:rPr lang="en-US" sz="1600" dirty="0"/>
              <a:t>Is a human / non-human presence detector realizable? </a:t>
            </a:r>
          </a:p>
          <a:p>
            <a:pPr marL="285750" indent="-285750">
              <a:spcBef>
                <a:spcPct val="0"/>
              </a:spcBef>
              <a:spcAft>
                <a:spcPts val="600"/>
              </a:spcAft>
            </a:pPr>
            <a:r>
              <a:rPr lang="en-US" sz="1600" dirty="0"/>
              <a:t>How fast rotate the blades of a fan / drone / …? </a:t>
            </a:r>
          </a:p>
        </p:txBody>
      </p:sp>
      <p:pic>
        <p:nvPicPr>
          <p:cNvPr id="6" name="Grafik 5" descr="Ein Bild, das Ventilator, Gerät, Zahnrad enthält.&#10;&#10;Automatisch generierte Beschreibung">
            <a:extLst>
              <a:ext uri="{FF2B5EF4-FFF2-40B4-BE49-F238E27FC236}">
                <a16:creationId xmlns:a16="http://schemas.microsoft.com/office/drawing/2014/main" id="{4BE73745-54F2-439B-B0A5-EC2DC789A96E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38" b="22707"/>
          <a:stretch/>
        </p:blipFill>
        <p:spPr>
          <a:xfrm flipH="1">
            <a:off x="1797238" y="1962012"/>
            <a:ext cx="358069" cy="794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79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F872AFEC-D77C-44B2-AA57-3CD44FAE55F9}"/>
              </a:ext>
            </a:extLst>
          </p:cNvPr>
          <p:cNvSpPr/>
          <p:nvPr/>
        </p:nvSpPr>
        <p:spPr>
          <a:xfrm>
            <a:off x="4444107" y="4586783"/>
            <a:ext cx="1751344" cy="190290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EC5865D2-A821-4BB6-AE20-959E4529E04A}"/>
              </a:ext>
            </a:extLst>
          </p:cNvPr>
          <p:cNvCxnSpPr>
            <a:cxnSpLocks/>
          </p:cNvCxnSpPr>
          <p:nvPr/>
        </p:nvCxnSpPr>
        <p:spPr>
          <a:xfrm flipV="1">
            <a:off x="1319188" y="3861048"/>
            <a:ext cx="0" cy="9641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Box 4">
            <a:extLst>
              <a:ext uri="{FF2B5EF4-FFF2-40B4-BE49-F238E27FC236}">
                <a16:creationId xmlns:a16="http://schemas.microsoft.com/office/drawing/2014/main" id="{7D855C66-11AA-4852-8F84-C8D03B344F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387350"/>
            <a:ext cx="534473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2400" b="1" dirty="0">
                <a:solidFill>
                  <a:srgbClr val="003399"/>
                </a:solidFill>
              </a:rPr>
              <a:t>Setup </a:t>
            </a:r>
            <a:r>
              <a:rPr lang="de-CH" altLang="de-DE" sz="2400" b="1" dirty="0" err="1">
                <a:solidFill>
                  <a:srgbClr val="003399"/>
                </a:solidFill>
              </a:rPr>
              <a:t>for</a:t>
            </a:r>
            <a:r>
              <a:rPr lang="de-CH" altLang="de-DE" sz="2400" b="1" dirty="0">
                <a:solidFill>
                  <a:srgbClr val="003399"/>
                </a:solidFill>
              </a:rPr>
              <a:t> Micro-Doppler Evaluation</a:t>
            </a:r>
            <a:endParaRPr lang="de-CH" altLang="de-DE" sz="1600" b="1" dirty="0">
              <a:solidFill>
                <a:srgbClr val="003399"/>
              </a:solidFill>
            </a:endParaRPr>
          </a:p>
        </p:txBody>
      </p:sp>
      <p:sp>
        <p:nvSpPr>
          <p:cNvPr id="3" name="Line 6">
            <a:extLst>
              <a:ext uri="{FF2B5EF4-FFF2-40B4-BE49-F238E27FC236}">
                <a16:creationId xmlns:a16="http://schemas.microsoft.com/office/drawing/2014/main" id="{A077DF73-DFF0-49EA-88E3-CCBD3234ABB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038" y="1052513"/>
            <a:ext cx="6481762" cy="0"/>
          </a:xfrm>
          <a:prstGeom prst="line">
            <a:avLst/>
          </a:prstGeom>
          <a:noFill/>
          <a:ln w="19050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CH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9832C9F-B067-43D4-A798-F1C1F295B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864144">
            <a:off x="4514076" y="4875408"/>
            <a:ext cx="1146250" cy="87236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59DB03CA-97CC-42EE-A5CD-D80E8AABF7A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00" b="26921"/>
          <a:stretch/>
        </p:blipFill>
        <p:spPr>
          <a:xfrm>
            <a:off x="455092" y="4666002"/>
            <a:ext cx="2455144" cy="881630"/>
          </a:xfrm>
          <a:prstGeom prst="rect">
            <a:avLst/>
          </a:prstGeom>
        </p:spPr>
      </p:pic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BF590BF2-C426-4DCA-BB4A-471AFB6D2FD5}"/>
              </a:ext>
            </a:extLst>
          </p:cNvPr>
          <p:cNvCxnSpPr>
            <a:cxnSpLocks/>
          </p:cNvCxnSpPr>
          <p:nvPr/>
        </p:nvCxnSpPr>
        <p:spPr>
          <a:xfrm>
            <a:off x="877996" y="5758400"/>
            <a:ext cx="35558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8F8025B7-1851-471A-A81C-2DFA8BE0B21F}"/>
              </a:ext>
            </a:extLst>
          </p:cNvPr>
          <p:cNvCxnSpPr>
            <a:cxnSpLocks/>
          </p:cNvCxnSpPr>
          <p:nvPr/>
        </p:nvCxnSpPr>
        <p:spPr>
          <a:xfrm>
            <a:off x="876140" y="5184624"/>
            <a:ext cx="0" cy="582920"/>
          </a:xfrm>
          <a:prstGeom prst="line">
            <a:avLst/>
          </a:prstGeom>
          <a:ln w="2857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FC056984-DEC1-42D8-B2D0-B0062013C172}"/>
              </a:ext>
            </a:extLst>
          </p:cNvPr>
          <p:cNvSpPr txBox="1"/>
          <p:nvPr/>
        </p:nvSpPr>
        <p:spPr>
          <a:xfrm>
            <a:off x="764603" y="5795739"/>
            <a:ext cx="2201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Instruments-Inputs (not XLR!)</a:t>
            </a:r>
          </a:p>
        </p:txBody>
      </p: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D417944E-9BD1-402D-A411-8F56EC14BEB7}"/>
              </a:ext>
            </a:extLst>
          </p:cNvPr>
          <p:cNvCxnSpPr>
            <a:cxnSpLocks/>
          </p:cNvCxnSpPr>
          <p:nvPr/>
        </p:nvCxnSpPr>
        <p:spPr>
          <a:xfrm>
            <a:off x="1451557" y="5175480"/>
            <a:ext cx="0" cy="372152"/>
          </a:xfrm>
          <a:prstGeom prst="line">
            <a:avLst/>
          </a:prstGeom>
          <a:ln w="2857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13794FFB-9023-4D4D-AD84-AAFCE968E720}"/>
              </a:ext>
            </a:extLst>
          </p:cNvPr>
          <p:cNvCxnSpPr>
            <a:cxnSpLocks/>
          </p:cNvCxnSpPr>
          <p:nvPr/>
        </p:nvCxnSpPr>
        <p:spPr>
          <a:xfrm>
            <a:off x="1451557" y="5538488"/>
            <a:ext cx="298226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fik 7">
            <a:extLst>
              <a:ext uri="{FF2B5EF4-FFF2-40B4-BE49-F238E27FC236}">
                <a16:creationId xmlns:a16="http://schemas.microsoft.com/office/drawing/2014/main" id="{2B869025-05B5-4531-87E1-8E210981558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6" r="8211"/>
          <a:stretch/>
        </p:blipFill>
        <p:spPr>
          <a:xfrm>
            <a:off x="270570" y="1556792"/>
            <a:ext cx="3352874" cy="2604932"/>
          </a:xfrm>
          <a:prstGeom prst="rect">
            <a:avLst/>
          </a:prstGeom>
        </p:spPr>
      </p:pic>
      <p:sp>
        <p:nvSpPr>
          <p:cNvPr id="28" name="Textfeld 27">
            <a:extLst>
              <a:ext uri="{FF2B5EF4-FFF2-40B4-BE49-F238E27FC236}">
                <a16:creationId xmlns:a16="http://schemas.microsoft.com/office/drawing/2014/main" id="{7CF0E7F7-B1F3-4140-A19B-6AC3DF26F1B2}"/>
              </a:ext>
            </a:extLst>
          </p:cNvPr>
          <p:cNvSpPr txBox="1"/>
          <p:nvPr/>
        </p:nvSpPr>
        <p:spPr>
          <a:xfrm>
            <a:off x="769161" y="4290735"/>
            <a:ext cx="5004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USB</a:t>
            </a:r>
          </a:p>
        </p:txBody>
      </p: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0350A8AB-348D-4F2C-BCF8-1F5ECA856129}"/>
              </a:ext>
            </a:extLst>
          </p:cNvPr>
          <p:cNvCxnSpPr>
            <a:cxnSpLocks/>
          </p:cNvCxnSpPr>
          <p:nvPr/>
        </p:nvCxnSpPr>
        <p:spPr>
          <a:xfrm>
            <a:off x="3786510" y="6210582"/>
            <a:ext cx="6491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feld 32">
            <a:extLst>
              <a:ext uri="{FF2B5EF4-FFF2-40B4-BE49-F238E27FC236}">
                <a16:creationId xmlns:a16="http://schemas.microsoft.com/office/drawing/2014/main" id="{2ECE6A7C-E7C4-4C9F-B02A-B9D91FC05E3B}"/>
              </a:ext>
            </a:extLst>
          </p:cNvPr>
          <p:cNvSpPr txBox="1"/>
          <p:nvPr/>
        </p:nvSpPr>
        <p:spPr>
          <a:xfrm>
            <a:off x="4073874" y="6184354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5V</a:t>
            </a:r>
          </a:p>
        </p:txBody>
      </p:sp>
      <p:pic>
        <p:nvPicPr>
          <p:cNvPr id="37" name="Grafik 36">
            <a:extLst>
              <a:ext uri="{FF2B5EF4-FFF2-40B4-BE49-F238E27FC236}">
                <a16:creationId xmlns:a16="http://schemas.microsoft.com/office/drawing/2014/main" id="{6CC7CACE-B1F0-45A7-B7A7-395D9014A620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99" r="25569" b="42972"/>
          <a:stretch/>
        </p:blipFill>
        <p:spPr>
          <a:xfrm rot="5400000">
            <a:off x="5275890" y="4903020"/>
            <a:ext cx="646979" cy="435716"/>
          </a:xfrm>
          <a:prstGeom prst="rect">
            <a:avLst/>
          </a:prstGeom>
        </p:spPr>
      </p:pic>
      <p:pic>
        <p:nvPicPr>
          <p:cNvPr id="38" name="Grafik 37">
            <a:extLst>
              <a:ext uri="{FF2B5EF4-FFF2-40B4-BE49-F238E27FC236}">
                <a16:creationId xmlns:a16="http://schemas.microsoft.com/office/drawing/2014/main" id="{0F13091E-3FC7-4BD7-A231-892D0CC3782C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99" r="25569" b="42972"/>
          <a:stretch/>
        </p:blipFill>
        <p:spPr>
          <a:xfrm rot="16200000">
            <a:off x="5344575" y="5445426"/>
            <a:ext cx="226293" cy="152400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AA8943E6-AC25-47E5-8B15-1EC1B9BA1B16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99" r="25569" b="42972"/>
          <a:stretch/>
        </p:blipFill>
        <p:spPr>
          <a:xfrm rot="16200000">
            <a:off x="7740039" y="5365992"/>
            <a:ext cx="333202" cy="224399"/>
          </a:xfrm>
          <a:prstGeom prst="rect">
            <a:avLst/>
          </a:prstGeom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3AF0256B-6F06-443C-82B2-40FEBB0BF4A2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99" r="25569" b="42972"/>
          <a:stretch/>
        </p:blipFill>
        <p:spPr>
          <a:xfrm rot="5400000">
            <a:off x="7741802" y="4989727"/>
            <a:ext cx="333202" cy="224399"/>
          </a:xfrm>
          <a:prstGeom prst="rect">
            <a:avLst/>
          </a:prstGeom>
        </p:spPr>
      </p:pic>
      <p:sp>
        <p:nvSpPr>
          <p:cNvPr id="51" name="Textfeld 50">
            <a:extLst>
              <a:ext uri="{FF2B5EF4-FFF2-40B4-BE49-F238E27FC236}">
                <a16:creationId xmlns:a16="http://schemas.microsoft.com/office/drawing/2014/main" id="{B9BDC65B-4149-46B1-81D9-C72D65A6DA12}"/>
              </a:ext>
            </a:extLst>
          </p:cNvPr>
          <p:cNvSpPr txBox="1"/>
          <p:nvPr/>
        </p:nvSpPr>
        <p:spPr>
          <a:xfrm>
            <a:off x="339934" y="3994680"/>
            <a:ext cx="11690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ASIO </a:t>
            </a:r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driver</a:t>
            </a:r>
            <a:endParaRPr lang="de-CH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67476338-E817-45E0-B9BE-77CEA6BF432C}"/>
              </a:ext>
            </a:extLst>
          </p:cNvPr>
          <p:cNvSpPr txBox="1"/>
          <p:nvPr/>
        </p:nvSpPr>
        <p:spPr>
          <a:xfrm>
            <a:off x="1221792" y="1248542"/>
            <a:ext cx="14478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Matlab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 Python)</a:t>
            </a:r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8FF830FA-E0BD-47E3-9DCE-1191F6985E17}"/>
              </a:ext>
            </a:extLst>
          </p:cNvPr>
          <p:cNvSpPr txBox="1"/>
          <p:nvPr/>
        </p:nvSpPr>
        <p:spPr>
          <a:xfrm>
            <a:off x="3367575" y="1426317"/>
            <a:ext cx="5557419" cy="22775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indent="-1714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sampling</a:t>
            </a: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audio</a:t>
            </a: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signals</a:t>
            </a: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de-CH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 = 48 </a:t>
            </a:r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kSps</a:t>
            </a: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 44.1 </a:t>
            </a:r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kSps</a:t>
            </a: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indent="-1714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resampling</a:t>
            </a: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 4, 6, 8, 9.6, 12 </a:t>
            </a:r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 16 </a:t>
            </a:r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kSps</a:t>
            </a: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according</a:t>
            </a: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need</a:t>
            </a:r>
            <a:endParaRPr lang="de-CH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-1714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record</a:t>
            </a: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wav</a:t>
            </a: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-file &amp; offline-</a:t>
            </a:r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computation</a:t>
            </a: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 of «</a:t>
            </a:r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spectrogram</a:t>
            </a: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»</a:t>
            </a:r>
          </a:p>
          <a:p>
            <a:pPr indent="-1714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alternatively</a:t>
            </a: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, online-</a:t>
            </a:r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computation</a:t>
            </a: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 (live-mode)</a:t>
            </a:r>
          </a:p>
          <a:p>
            <a:pPr indent="-1714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option</a:t>
            </a: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synch</a:t>
            </a: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video</a:t>
            </a: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sequence</a:t>
            </a:r>
            <a:endParaRPr lang="de-CH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CH" sz="1200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Grafik 6" descr="Ein Bild, das Elektronik enthält.&#10;&#10;Automatisch generierte Beschreibung">
            <a:extLst>
              <a:ext uri="{FF2B5EF4-FFF2-40B4-BE49-F238E27FC236}">
                <a16:creationId xmlns:a16="http://schemas.microsoft.com/office/drawing/2014/main" id="{3B9F38A6-8787-4CCD-B118-E1D5C6A39B6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79051">
            <a:off x="2993327" y="5949280"/>
            <a:ext cx="846141" cy="846141"/>
          </a:xfrm>
          <a:prstGeom prst="rect">
            <a:avLst/>
          </a:prstGeom>
        </p:spPr>
      </p:pic>
      <p:sp>
        <p:nvSpPr>
          <p:cNvPr id="43" name="Textfeld 42">
            <a:extLst>
              <a:ext uri="{FF2B5EF4-FFF2-40B4-BE49-F238E27FC236}">
                <a16:creationId xmlns:a16="http://schemas.microsoft.com/office/drawing/2014/main" id="{930349F1-34A0-4685-BD41-A97D29DDD416}"/>
              </a:ext>
            </a:extLst>
          </p:cNvPr>
          <p:cNvSpPr txBox="1"/>
          <p:nvPr/>
        </p:nvSpPr>
        <p:spPr>
          <a:xfrm>
            <a:off x="4087734" y="5768702"/>
            <a:ext cx="3738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I(t)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75C2AA81-995F-4B59-9EC4-75A672E2A345}"/>
              </a:ext>
            </a:extLst>
          </p:cNvPr>
          <p:cNvSpPr txBox="1"/>
          <p:nvPr/>
        </p:nvSpPr>
        <p:spPr>
          <a:xfrm>
            <a:off x="4065268" y="5282342"/>
            <a:ext cx="4507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Q(t)</a:t>
            </a:r>
          </a:p>
        </p:txBody>
      </p:sp>
      <p:pic>
        <p:nvPicPr>
          <p:cNvPr id="49" name="Grafik 48">
            <a:extLst>
              <a:ext uri="{FF2B5EF4-FFF2-40B4-BE49-F238E27FC236}">
                <a16:creationId xmlns:a16="http://schemas.microsoft.com/office/drawing/2014/main" id="{51C710B6-A887-45EC-BE7F-BD8CA941E855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838" b="49786"/>
          <a:stretch/>
        </p:blipFill>
        <p:spPr>
          <a:xfrm flipH="1">
            <a:off x="8046392" y="4634475"/>
            <a:ext cx="774080" cy="1133069"/>
          </a:xfrm>
          <a:prstGeom prst="rect">
            <a:avLst/>
          </a:prstGeom>
        </p:spPr>
      </p:pic>
      <p:sp>
        <p:nvSpPr>
          <p:cNvPr id="52" name="Textfeld 51">
            <a:extLst>
              <a:ext uri="{FF2B5EF4-FFF2-40B4-BE49-F238E27FC236}">
                <a16:creationId xmlns:a16="http://schemas.microsoft.com/office/drawing/2014/main" id="{98B99862-2510-43C8-BBEE-932028FB5F44}"/>
              </a:ext>
            </a:extLst>
          </p:cNvPr>
          <p:cNvSpPr txBox="1"/>
          <p:nvPr/>
        </p:nvSpPr>
        <p:spPr>
          <a:xfrm>
            <a:off x="4520519" y="5979750"/>
            <a:ext cx="16257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Sensor-Board</a:t>
            </a:r>
            <a:b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without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 MCU-Board)</a:t>
            </a:r>
            <a:endParaRPr lang="de-CH" sz="1200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EF285C99-97CE-4973-9206-E79D5C560712}"/>
              </a:ext>
            </a:extLst>
          </p:cNvPr>
          <p:cNvSpPr txBox="1"/>
          <p:nvPr/>
        </p:nvSpPr>
        <p:spPr>
          <a:xfrm>
            <a:off x="1640194" y="4013315"/>
            <a:ext cx="20008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Notebook (</a:t>
            </a:r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 Smartphone)</a:t>
            </a:r>
          </a:p>
        </p:txBody>
      </p:sp>
      <p:pic>
        <p:nvPicPr>
          <p:cNvPr id="14" name="Grafik 13" descr="Ein Bild, das Kamera enthält.&#10;&#10;Automatisch generierte Beschreibung">
            <a:extLst>
              <a:ext uri="{FF2B5EF4-FFF2-40B4-BE49-F238E27FC236}">
                <a16:creationId xmlns:a16="http://schemas.microsoft.com/office/drawing/2014/main" id="{F693BEF4-3902-4C6F-9C30-B1220098A65A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06" b="50000"/>
          <a:stretch/>
        </p:blipFill>
        <p:spPr>
          <a:xfrm flipH="1">
            <a:off x="4319345" y="3501008"/>
            <a:ext cx="2000868" cy="764975"/>
          </a:xfrm>
          <a:prstGeom prst="rect">
            <a:avLst/>
          </a:prstGeom>
        </p:spPr>
      </p:pic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5466A6DC-B7A4-49C0-8D5A-B9DAE4ED2DF3}"/>
              </a:ext>
            </a:extLst>
          </p:cNvPr>
          <p:cNvCxnSpPr>
            <a:cxnSpLocks/>
          </p:cNvCxnSpPr>
          <p:nvPr/>
        </p:nvCxnSpPr>
        <p:spPr>
          <a:xfrm>
            <a:off x="3416397" y="3789040"/>
            <a:ext cx="1362484" cy="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Grafik 58">
            <a:extLst>
              <a:ext uri="{FF2B5EF4-FFF2-40B4-BE49-F238E27FC236}">
                <a16:creationId xmlns:a16="http://schemas.microsoft.com/office/drawing/2014/main" id="{A83983B4-14DF-4ABD-AD2A-669F63DEDE5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68" t="14770" r="16599" b="16013"/>
          <a:stretch/>
        </p:blipFill>
        <p:spPr>
          <a:xfrm>
            <a:off x="774128" y="1589290"/>
            <a:ext cx="2367231" cy="1581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227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F4717374-D462-46B9-8394-CBE639A654D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68" t="14770" r="16599" b="16013"/>
          <a:stretch/>
        </p:blipFill>
        <p:spPr>
          <a:xfrm>
            <a:off x="221114" y="4149080"/>
            <a:ext cx="3024336" cy="2670702"/>
          </a:xfrm>
          <a:prstGeom prst="rect">
            <a:avLst/>
          </a:prstGeom>
        </p:spPr>
      </p:pic>
      <p:sp>
        <p:nvSpPr>
          <p:cNvPr id="2" name="Line 6">
            <a:extLst>
              <a:ext uri="{FF2B5EF4-FFF2-40B4-BE49-F238E27FC236}">
                <a16:creationId xmlns:a16="http://schemas.microsoft.com/office/drawing/2014/main" id="{F3E6C344-04CE-45E4-A7E3-C84E6244565B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038" y="1052513"/>
            <a:ext cx="6481762" cy="0"/>
          </a:xfrm>
          <a:prstGeom prst="line">
            <a:avLst/>
          </a:prstGeom>
          <a:noFill/>
          <a:ln w="19050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CH"/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DBB0CAD5-D766-4782-9698-C96669C61A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06400"/>
            <a:ext cx="32784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2400" b="1" dirty="0" err="1">
                <a:solidFill>
                  <a:srgbClr val="003399"/>
                </a:solidFill>
              </a:rPr>
              <a:t>Results</a:t>
            </a:r>
            <a:r>
              <a:rPr lang="de-CH" altLang="de-DE" sz="2400" b="1" dirty="0">
                <a:solidFill>
                  <a:srgbClr val="003399"/>
                </a:solidFill>
              </a:rPr>
              <a:t> of a </a:t>
            </a:r>
            <a:r>
              <a:rPr lang="de-CH" altLang="de-DE" sz="2400" b="1" dirty="0" err="1">
                <a:solidFill>
                  <a:srgbClr val="003399"/>
                </a:solidFill>
              </a:rPr>
              <a:t>field</a:t>
            </a:r>
            <a:r>
              <a:rPr lang="de-CH" altLang="de-DE" sz="2400" b="1" dirty="0">
                <a:solidFill>
                  <a:srgbClr val="003399"/>
                </a:solidFill>
              </a:rPr>
              <a:t> </a:t>
            </a:r>
            <a:r>
              <a:rPr lang="de-CH" altLang="de-DE" sz="2400" b="1" dirty="0" err="1">
                <a:solidFill>
                  <a:srgbClr val="003399"/>
                </a:solidFill>
              </a:rPr>
              <a:t>test</a:t>
            </a:r>
            <a:endParaRPr lang="de-CH" altLang="de-DE" sz="1600" b="1" dirty="0">
              <a:solidFill>
                <a:srgbClr val="003399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5074B79-1B61-46F9-80C7-F98B79EA8B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5" y="1236963"/>
            <a:ext cx="4176464" cy="3131154"/>
          </a:xfrm>
          <a:prstGeom prst="rect">
            <a:avLst/>
          </a:prstGeom>
        </p:spPr>
      </p:pic>
      <p:pic>
        <p:nvPicPr>
          <p:cNvPr id="8" name="ec612776-4152-49da-88a7-727e4dffc4f6" descr="Image">
            <a:extLst>
              <a:ext uri="{FF2B5EF4-FFF2-40B4-BE49-F238E27FC236}">
                <a16:creationId xmlns:a16="http://schemas.microsoft.com/office/drawing/2014/main" id="{4BADA665-C938-4213-B178-FDB7AB6A10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12"/>
          <a:stretch/>
        </p:blipFill>
        <p:spPr bwMode="auto">
          <a:xfrm rot="5400000">
            <a:off x="4864532" y="2303876"/>
            <a:ext cx="4680522" cy="2754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BDD346E7-2471-46CF-A0A3-A2040D2F7FE8}"/>
              </a:ext>
            </a:extLst>
          </p:cNvPr>
          <p:cNvSpPr/>
          <p:nvPr/>
        </p:nvSpPr>
        <p:spPr>
          <a:xfrm>
            <a:off x="5984069" y="2811684"/>
            <a:ext cx="2423160" cy="2134620"/>
          </a:xfrm>
          <a:custGeom>
            <a:avLst/>
            <a:gdLst>
              <a:gd name="connsiteX0" fmla="*/ 0 w 2423160"/>
              <a:gd name="connsiteY0" fmla="*/ 2134620 h 2134620"/>
              <a:gd name="connsiteX1" fmla="*/ 987552 w 2423160"/>
              <a:gd name="connsiteY1" fmla="*/ 4068 h 2134620"/>
              <a:gd name="connsiteX2" fmla="*/ 2423160 w 2423160"/>
              <a:gd name="connsiteY2" fmla="*/ 1704852 h 2134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3160" h="2134620">
                <a:moveTo>
                  <a:pt x="0" y="2134620"/>
                </a:moveTo>
                <a:cubicBezTo>
                  <a:pt x="291846" y="1105158"/>
                  <a:pt x="583692" y="75696"/>
                  <a:pt x="987552" y="4068"/>
                </a:cubicBezTo>
                <a:cubicBezTo>
                  <a:pt x="1391412" y="-67560"/>
                  <a:pt x="1907286" y="818646"/>
                  <a:pt x="2423160" y="1704852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solidFill>
                <a:srgbClr val="FF0000"/>
              </a:solidFill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A1D201B-C267-4A2C-A1FA-5888C8B261A5}"/>
              </a:ext>
            </a:extLst>
          </p:cNvPr>
          <p:cNvSpPr txBox="1"/>
          <p:nvPr/>
        </p:nvSpPr>
        <p:spPr>
          <a:xfrm>
            <a:off x="5145800" y="6101907"/>
            <a:ext cx="39798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CH" sz="1600" dirty="0"/>
              <a:t>Radar K-LC6, 60 dB </a:t>
            </a:r>
            <a:r>
              <a:rPr lang="de-CH" sz="1600" dirty="0" err="1"/>
              <a:t>Gain</a:t>
            </a:r>
            <a:r>
              <a:rPr lang="de-CH" sz="1600" dirty="0"/>
              <a:t>, USB-Audio-Interface</a:t>
            </a:r>
          </a:p>
          <a:p>
            <a:pPr algn="ctr"/>
            <a:r>
              <a:rPr lang="de-CH" sz="1600" dirty="0"/>
              <a:t>(</a:t>
            </a:r>
            <a:r>
              <a:rPr lang="de-CH" sz="1600" dirty="0" err="1"/>
              <a:t>f</a:t>
            </a:r>
            <a:r>
              <a:rPr lang="de-CH" sz="1600" baseline="-25000" dirty="0" err="1"/>
              <a:t>s</a:t>
            </a:r>
            <a:r>
              <a:rPr lang="de-CH" sz="1600" dirty="0"/>
              <a:t> = 4 </a:t>
            </a:r>
            <a:r>
              <a:rPr lang="de-CH" sz="1600" dirty="0" err="1"/>
              <a:t>kSps</a:t>
            </a:r>
            <a:r>
              <a:rPr lang="de-CH" sz="1600" dirty="0"/>
              <a:t>, N</a:t>
            </a:r>
            <a:r>
              <a:rPr lang="de-CH" sz="1600" baseline="-25000" dirty="0"/>
              <a:t>FFT</a:t>
            </a:r>
            <a:r>
              <a:rPr lang="de-CH" sz="1600" dirty="0"/>
              <a:t> = 256, </a:t>
            </a:r>
            <a:r>
              <a:rPr lang="de-CH" sz="1600" dirty="0" err="1"/>
              <a:t>hanning-window</a:t>
            </a:r>
            <a:r>
              <a:rPr lang="de-CH" sz="1600" dirty="0"/>
              <a:t>)</a:t>
            </a: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15F0D651-3904-4001-8916-D56BAFE8CE7A}"/>
              </a:ext>
            </a:extLst>
          </p:cNvPr>
          <p:cNvCxnSpPr>
            <a:cxnSpLocks/>
          </p:cNvCxnSpPr>
          <p:nvPr/>
        </p:nvCxnSpPr>
        <p:spPr>
          <a:xfrm flipH="1">
            <a:off x="2292528" y="4552566"/>
            <a:ext cx="1109352" cy="3640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F708DE3B-A95C-4686-94DD-ABDA5772C611}"/>
              </a:ext>
            </a:extLst>
          </p:cNvPr>
          <p:cNvSpPr txBox="1"/>
          <p:nvPr/>
        </p:nvSpPr>
        <p:spPr>
          <a:xfrm>
            <a:off x="3430392" y="4248520"/>
            <a:ext cx="13858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>
                <a:solidFill>
                  <a:srgbClr val="FF0000"/>
                </a:solidFill>
              </a:rPr>
              <a:t>Jogging &amp;</a:t>
            </a:r>
            <a:br>
              <a:rPr lang="de-CH" sz="1600" dirty="0">
                <a:solidFill>
                  <a:srgbClr val="FF0000"/>
                </a:solidFill>
              </a:rPr>
            </a:br>
            <a:r>
              <a:rPr lang="de-CH" sz="1600" dirty="0">
                <a:solidFill>
                  <a:srgbClr val="FF0000"/>
                </a:solidFill>
              </a:rPr>
              <a:t>arm </a:t>
            </a:r>
            <a:r>
              <a:rPr lang="de-CH" sz="1600" dirty="0" err="1">
                <a:solidFill>
                  <a:srgbClr val="FF0000"/>
                </a:solidFill>
              </a:rPr>
              <a:t>swinging</a:t>
            </a:r>
            <a:r>
              <a:rPr lang="de-CH" sz="1600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015762BE-16E1-4E61-B860-DA1B936CE017}"/>
              </a:ext>
            </a:extLst>
          </p:cNvPr>
          <p:cNvSpPr txBox="1"/>
          <p:nvPr/>
        </p:nvSpPr>
        <p:spPr>
          <a:xfrm>
            <a:off x="3437200" y="5796553"/>
            <a:ext cx="11666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>
                <a:solidFill>
                  <a:srgbClr val="FF0000"/>
                </a:solidFill>
              </a:rPr>
              <a:t>fast </a:t>
            </a:r>
            <a:r>
              <a:rPr lang="de-CH" sz="1600" dirty="0" err="1">
                <a:solidFill>
                  <a:srgbClr val="FF0000"/>
                </a:solidFill>
              </a:rPr>
              <a:t>walking</a:t>
            </a:r>
            <a:endParaRPr lang="de-CH" sz="1600" dirty="0">
              <a:solidFill>
                <a:srgbClr val="FF0000"/>
              </a:solidFill>
            </a:endParaRP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5AE2D850-BED3-42B5-8CA2-281B9F882972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1737852" y="5642528"/>
            <a:ext cx="1699348" cy="3233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feld 23">
            <a:extLst>
              <a:ext uri="{FF2B5EF4-FFF2-40B4-BE49-F238E27FC236}">
                <a16:creationId xmlns:a16="http://schemas.microsoft.com/office/drawing/2014/main" id="{7C9B5AB7-BC00-40BA-AD2A-48463640A5BC}"/>
              </a:ext>
            </a:extLst>
          </p:cNvPr>
          <p:cNvSpPr txBox="1"/>
          <p:nvPr/>
        </p:nvSpPr>
        <p:spPr>
          <a:xfrm>
            <a:off x="3880656" y="3242503"/>
            <a:ext cx="1172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l-GR" sz="1600" dirty="0"/>
              <a:t>Δ</a:t>
            </a:r>
            <a:r>
              <a:rPr lang="de-CH" sz="1600" dirty="0"/>
              <a:t>v = 0.1 </a:t>
            </a:r>
            <a:r>
              <a:rPr lang="de-CH" sz="1600" dirty="0" err="1"/>
              <a:t>ms</a:t>
            </a:r>
            <a:br>
              <a:rPr lang="de-CH" sz="1600" dirty="0"/>
            </a:br>
            <a:r>
              <a:rPr lang="de-CH" sz="1600" dirty="0" err="1"/>
              <a:t>IvI</a:t>
            </a:r>
            <a:r>
              <a:rPr lang="de-CH" sz="1600" dirty="0"/>
              <a:t> &gt; 0.2 </a:t>
            </a:r>
            <a:r>
              <a:rPr lang="de-CH" sz="1600" dirty="0" err="1"/>
              <a:t>ms</a:t>
            </a:r>
            <a:endParaRPr lang="de-CH" sz="1600" dirty="0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95CC60B8-36BA-45A1-AA2F-EB77CB9BEF87}"/>
              </a:ext>
            </a:extLst>
          </p:cNvPr>
          <p:cNvSpPr txBox="1"/>
          <p:nvPr/>
        </p:nvSpPr>
        <p:spPr>
          <a:xfrm>
            <a:off x="628428" y="6048007"/>
            <a:ext cx="12266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CH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</a:t>
            </a:r>
            <a:r>
              <a:rPr lang="de-CH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-60…0 </a:t>
            </a:r>
            <a:r>
              <a:rPr lang="de-CH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dBc</a:t>
            </a:r>
            <a:endParaRPr lang="de-CH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5787896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</Words>
  <Application>Microsoft Macintosh PowerPoint</Application>
  <PresentationFormat>Bildschirmpräsentation (4:3)</PresentationFormat>
  <Paragraphs>30</Paragraphs>
  <Slides>3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6" baseType="lpstr">
      <vt:lpstr>Arial</vt:lpstr>
      <vt:lpstr>Calibri</vt:lpstr>
      <vt:lpstr>Larissa</vt:lpstr>
      <vt:lpstr>PowerPoint-Präsentation</vt:lpstr>
      <vt:lpstr>PowerPoint-Präsentation</vt:lpstr>
      <vt:lpstr>PowerPoint-Präsentation</vt:lpstr>
    </vt:vector>
  </TitlesOfParts>
  <Company>ZHAW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rumc</dc:creator>
  <cp:lastModifiedBy>Rennhard Patrick (renn)</cp:lastModifiedBy>
  <cp:revision>427</cp:revision>
  <dcterms:created xsi:type="dcterms:W3CDTF">2018-04-08T12:34:55Z</dcterms:created>
  <dcterms:modified xsi:type="dcterms:W3CDTF">2026-02-11T11:43:31Z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d9bad3-6dac-4e9a-89a3-89f3b8d247b2_Enabled">
    <vt:lpwstr>True</vt:lpwstr>
  </property>
  <property fmtid="{D5CDD505-2E9C-101B-9397-08002B2CF9AE}" pid="3" name="MSIP_Label_10d9bad3-6dac-4e9a-89a3-89f3b8d247b2_SiteId">
    <vt:lpwstr>5d1a9f9d-201f-4a10-b983-451cf65cbc1e</vt:lpwstr>
  </property>
  <property fmtid="{D5CDD505-2E9C-101B-9397-08002B2CF9AE}" pid="4" name="MSIP_Label_10d9bad3-6dac-4e9a-89a3-89f3b8d247b2_Owner">
    <vt:lpwstr>rumc@zhaw.ch</vt:lpwstr>
  </property>
  <property fmtid="{D5CDD505-2E9C-101B-9397-08002B2CF9AE}" pid="5" name="MSIP_Label_10d9bad3-6dac-4e9a-89a3-89f3b8d247b2_SetDate">
    <vt:lpwstr>2021-01-05T12:30:55.9372530Z</vt:lpwstr>
  </property>
  <property fmtid="{D5CDD505-2E9C-101B-9397-08002B2CF9AE}" pid="6" name="MSIP_Label_10d9bad3-6dac-4e9a-89a3-89f3b8d247b2_Name">
    <vt:lpwstr>Intern</vt:lpwstr>
  </property>
  <property fmtid="{D5CDD505-2E9C-101B-9397-08002B2CF9AE}" pid="7" name="MSIP_Label_10d9bad3-6dac-4e9a-89a3-89f3b8d247b2_Application">
    <vt:lpwstr>Microsoft Azure Information Protection</vt:lpwstr>
  </property>
  <property fmtid="{D5CDD505-2E9C-101B-9397-08002B2CF9AE}" pid="8" name="MSIP_Label_10d9bad3-6dac-4e9a-89a3-89f3b8d247b2_ActionId">
    <vt:lpwstr>6819009b-52c3-4628-87a8-afc885e1a79b</vt:lpwstr>
  </property>
  <property fmtid="{D5CDD505-2E9C-101B-9397-08002B2CF9AE}" pid="9" name="MSIP_Label_10d9bad3-6dac-4e9a-89a3-89f3b8d247b2_Extended_MSFT_Method">
    <vt:lpwstr>Automatic</vt:lpwstr>
  </property>
  <property fmtid="{D5CDD505-2E9C-101B-9397-08002B2CF9AE}" pid="10" name="Sensitivity">
    <vt:lpwstr>Intern</vt:lpwstr>
  </property>
</Properties>
</file>