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0" r:id="rId4"/>
    <p:sldId id="264" r:id="rId5"/>
    <p:sldId id="261" r:id="rId6"/>
  </p:sldIdLst>
  <p:sldSz cx="9144000" cy="6858000" type="screen4x3"/>
  <p:notesSz cx="6724650" cy="97742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>
      <p:cViewPr varScale="1">
        <p:scale>
          <a:sx n="104" d="100"/>
          <a:sy n="104" d="100"/>
        </p:scale>
        <p:origin x="1784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22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37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547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93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797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25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576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675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17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430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18.02.26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8806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>
            <a:extLst>
              <a:ext uri="{FF2B5EF4-FFF2-40B4-BE49-F238E27FC236}">
                <a16:creationId xmlns:a16="http://schemas.microsoft.com/office/drawing/2014/main" id="{8C233713-6C45-4505-AD8B-8A6E1320B7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30455" y="908050"/>
            <a:ext cx="11849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800" b="1" dirty="0"/>
              <a:t>PM4, Design, 2-</a:t>
            </a:r>
            <a:fld id="{C0B68E2A-1685-45E2-B781-7AB794E01446}" type="slidenum">
              <a:rPr lang="de-CH" altLang="de-DE" sz="800" b="1" smtClean="0"/>
              <a:pPr eaLnBrk="1" hangingPunct="1">
                <a:spcBef>
                  <a:spcPct val="0"/>
                </a:spcBef>
                <a:buFontTx/>
                <a:buNone/>
              </a:pPr>
              <a:t>‹Nr.›</a:t>
            </a:fld>
            <a:endParaRPr lang="de-CH" altLang="de-DE" sz="800" b="1" dirty="0"/>
          </a:p>
        </p:txBody>
      </p:sp>
      <p:pic>
        <p:nvPicPr>
          <p:cNvPr id="2" name="Grafik 1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EC2EB38F-30AC-B79A-32C5-B640FE85CF2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85403"/>
            <a:ext cx="638175" cy="66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8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Radar" TargetMode="External"/><Relationship Id="rId2" Type="http://schemas.openxmlformats.org/officeDocument/2006/relationships/hyperlink" Target="http://de.slideshare.net/tobiasotto/principle-of-fmcw-radars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C4DCFB8-C3BE-49B2-BAF5-71A6603F091F}"/>
              </a:ext>
            </a:extLst>
          </p:cNvPr>
          <p:cNvSpPr/>
          <p:nvPr/>
        </p:nvSpPr>
        <p:spPr>
          <a:xfrm>
            <a:off x="674043" y="4802351"/>
            <a:ext cx="6750496" cy="1823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fr-CH" b="1" dirty="0">
                <a:solidFill>
                  <a:srgbClr val="0000FF"/>
                </a:solidFill>
              </a:rPr>
              <a:t>Tobias Otto, „Principles of FMCW Radars“, TU Delft,</a:t>
            </a:r>
            <a:br>
              <a:rPr lang="fr-CH" b="1" dirty="0">
                <a:solidFill>
                  <a:srgbClr val="0000FF"/>
                </a:solidFill>
              </a:rPr>
            </a:br>
            <a:r>
              <a:rPr lang="fr-CH" dirty="0" err="1"/>
              <a:t>see</a:t>
            </a:r>
            <a:r>
              <a:rPr lang="fr-CH" b="1" dirty="0">
                <a:solidFill>
                  <a:srgbClr val="0000FF"/>
                </a:solidFill>
              </a:rPr>
              <a:t>  </a:t>
            </a:r>
            <a:r>
              <a:rPr lang="fr-CH" u="sng" dirty="0">
                <a:hlinkClick r:id="rId2"/>
              </a:rPr>
              <a:t>http://de.slideshare.net/tobiasotto/principle-of-fmcw-radars</a:t>
            </a:r>
            <a:r>
              <a:rPr lang="fr-CH" dirty="0"/>
              <a:t>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tabLst>
                <a:tab pos="361950" algn="l"/>
                <a:tab pos="444500" algn="l"/>
                <a:tab pos="623888" algn="l"/>
              </a:tabLst>
            </a:pPr>
            <a:r>
              <a:rPr lang="fr-CH" b="1" dirty="0"/>
              <a:t>	</a:t>
            </a:r>
            <a:r>
              <a:rPr lang="fr-CH" dirty="0"/>
              <a:t>slides 1-7: </a:t>
            </a:r>
            <a:r>
              <a:rPr lang="fr-CH" dirty="0" err="1"/>
              <a:t>principle</a:t>
            </a:r>
            <a:r>
              <a:rPr lang="fr-CH" dirty="0"/>
              <a:t> of FMCW radar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tabLst>
                <a:tab pos="361950" algn="l"/>
                <a:tab pos="444500" algn="l"/>
                <a:tab pos="623888" algn="l"/>
              </a:tabLst>
            </a:pPr>
            <a:r>
              <a:rPr lang="fr-CH" dirty="0"/>
              <a:t>	slide 15: block </a:t>
            </a:r>
            <a:r>
              <a:rPr lang="fr-CH" dirty="0" err="1"/>
              <a:t>diagram</a:t>
            </a:r>
            <a:r>
              <a:rPr lang="fr-CH" dirty="0"/>
              <a:t> of an FMCW radar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tabLst>
                <a:tab pos="361950" algn="l"/>
                <a:tab pos="444500" algn="l"/>
                <a:tab pos="623888" algn="l"/>
              </a:tabLst>
            </a:pPr>
            <a:r>
              <a:rPr lang="fr-CH" dirty="0"/>
              <a:t>	slide 12: FMCW radar signal </a:t>
            </a:r>
            <a:r>
              <a:rPr lang="fr-CH" dirty="0" err="1"/>
              <a:t>processing</a:t>
            </a:r>
            <a:endParaRPr lang="de-CH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515ABDE-762D-4B10-BAE5-CA5DEB049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3691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800" b="1" dirty="0">
                <a:solidFill>
                  <a:srgbClr val="003399"/>
                </a:solidFill>
              </a:rPr>
              <a:t>Option FMCW-Radar</a:t>
            </a: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E5AF6112-945B-4E81-8F13-EF6EB603A4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5" name="Text Box 31">
            <a:extLst>
              <a:ext uri="{FF2B5EF4-FFF2-40B4-BE49-F238E27FC236}">
                <a16:creationId xmlns:a16="http://schemas.microsoft.com/office/drawing/2014/main" id="{0E9DC696-F0BE-4C06-BCF5-9B43C7B90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1324213"/>
            <a:ext cx="8621271" cy="340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  <a:tab pos="444500" algn="l"/>
                <a:tab pos="623888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de-DE" sz="2000" b="1" dirty="0" err="1">
                <a:solidFill>
                  <a:schemeClr val="tx2"/>
                </a:solidFill>
              </a:rPr>
              <a:t>Classical</a:t>
            </a:r>
            <a:r>
              <a:rPr lang="de-DE" sz="2000" b="1" dirty="0">
                <a:solidFill>
                  <a:schemeClr val="tx2"/>
                </a:solidFill>
              </a:rPr>
              <a:t> RADARs </a:t>
            </a:r>
            <a:r>
              <a:rPr lang="de-DE" sz="2000" b="1" dirty="0" err="1">
                <a:solidFill>
                  <a:schemeClr val="tx2"/>
                </a:solidFill>
              </a:rPr>
              <a:t>are</a:t>
            </a:r>
            <a:r>
              <a:rPr lang="de-DE" sz="2000" b="1" dirty="0">
                <a:solidFill>
                  <a:schemeClr val="tx2"/>
                </a:solidFill>
              </a:rPr>
              <a:t> </a:t>
            </a:r>
            <a:r>
              <a:rPr lang="de-DE" sz="2000" b="1" dirty="0" err="1">
                <a:solidFill>
                  <a:schemeClr val="tx2"/>
                </a:solidFill>
              </a:rPr>
              <a:t>based</a:t>
            </a:r>
            <a:r>
              <a:rPr lang="de-DE" sz="2000" b="1" dirty="0">
                <a:solidFill>
                  <a:schemeClr val="tx2"/>
                </a:solidFill>
              </a:rPr>
              <a:t> on pulse-echo-</a:t>
            </a:r>
            <a:r>
              <a:rPr lang="de-DE" sz="2000" b="1" dirty="0" err="1">
                <a:solidFill>
                  <a:schemeClr val="tx2"/>
                </a:solidFill>
              </a:rPr>
              <a:t>technique</a:t>
            </a:r>
            <a:endParaRPr lang="de-DE" sz="2000" b="1" dirty="0">
              <a:solidFill>
                <a:schemeClr val="tx2"/>
              </a:solidFill>
            </a:endParaRPr>
          </a:p>
          <a:p>
            <a:pPr eaLnBrk="1" hangingPunct="1">
              <a:spcAft>
                <a:spcPts val="1500"/>
              </a:spcAft>
              <a:tabLst>
                <a:tab pos="361950" algn="l"/>
                <a:tab pos="542925" algn="l"/>
              </a:tabLst>
            </a:pPr>
            <a:r>
              <a:rPr lang="de-DE" sz="2000" dirty="0"/>
              <a:t>	-	</a:t>
            </a:r>
            <a:r>
              <a:rPr lang="de-DE" sz="2000" dirty="0" err="1"/>
              <a:t>distance</a:t>
            </a:r>
            <a:r>
              <a:rPr lang="de-DE" sz="2000" dirty="0"/>
              <a:t> </a:t>
            </a:r>
            <a:r>
              <a:rPr lang="de-DE" sz="2000" dirty="0" err="1"/>
              <a:t>determination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Time-of-Flight (</a:t>
            </a:r>
            <a:r>
              <a:rPr lang="de-DE" sz="2000" dirty="0" err="1"/>
              <a:t>ToF</a:t>
            </a:r>
            <a:r>
              <a:rPr lang="de-DE" sz="2000" dirty="0"/>
              <a:t>) </a:t>
            </a:r>
            <a:r>
              <a:rPr lang="de-DE" sz="2000" dirty="0" err="1"/>
              <a:t>measurement</a:t>
            </a:r>
            <a:endParaRPr lang="de-DE" sz="2000" dirty="0"/>
          </a:p>
          <a:p>
            <a:pPr eaLnBrk="1" hangingPunct="1">
              <a:spcAft>
                <a:spcPts val="1500"/>
              </a:spcAft>
              <a:tabLst>
                <a:tab pos="361950" algn="l"/>
                <a:tab pos="542925" algn="l"/>
              </a:tabLst>
            </a:pPr>
            <a:r>
              <a:rPr lang="de-DE" sz="2000" dirty="0"/>
              <a:t>	-	</a:t>
            </a:r>
            <a:r>
              <a:rPr lang="de-DE" sz="2000" dirty="0" err="1"/>
              <a:t>see</a:t>
            </a:r>
            <a:r>
              <a:rPr lang="de-DE" sz="2000" dirty="0"/>
              <a:t> </a:t>
            </a:r>
            <a:r>
              <a:rPr lang="de-DE" sz="2000" dirty="0">
                <a:hlinkClick r:id="rId3"/>
              </a:rPr>
              <a:t>https://de.wikipedia.org/wiki/Radar</a:t>
            </a:r>
            <a:r>
              <a:rPr lang="de-DE" sz="2000" dirty="0"/>
              <a:t> =&gt; „Impulsradar“ =&gt; </a:t>
            </a:r>
            <a:r>
              <a:rPr lang="de-DE" sz="2000" dirty="0" err="1"/>
              <a:t>animation</a:t>
            </a:r>
            <a:endParaRPr lang="de-DE" sz="2000" dirty="0"/>
          </a:p>
          <a:p>
            <a:pPr marL="342900" indent="-342900" eaLnBrk="1" hangingPunct="1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de-DE" sz="2000" b="1" dirty="0" err="1">
                <a:solidFill>
                  <a:schemeClr val="tx2"/>
                </a:solidFill>
              </a:rPr>
              <a:t>Disadvantages</a:t>
            </a:r>
            <a:r>
              <a:rPr lang="de-DE" sz="2000" b="1" dirty="0">
                <a:solidFill>
                  <a:schemeClr val="tx2"/>
                </a:solidFill>
              </a:rPr>
              <a:t> of pulse-echo-RADARs</a:t>
            </a:r>
          </a:p>
          <a:p>
            <a:pPr eaLnBrk="1" hangingPunct="1">
              <a:spcAft>
                <a:spcPts val="1500"/>
              </a:spcAft>
              <a:tabLst>
                <a:tab pos="361950" algn="l"/>
                <a:tab pos="542925" algn="l"/>
              </a:tabLst>
            </a:pPr>
            <a:r>
              <a:rPr lang="de-DE" sz="2000" dirty="0"/>
              <a:t>	- 	</a:t>
            </a:r>
            <a:r>
              <a:rPr lang="de-DE" sz="2000" dirty="0" err="1"/>
              <a:t>long</a:t>
            </a:r>
            <a:r>
              <a:rPr lang="de-DE" sz="2000" dirty="0"/>
              <a:t> </a:t>
            </a:r>
            <a:r>
              <a:rPr lang="de-DE" sz="2000" dirty="0" err="1"/>
              <a:t>radio</a:t>
            </a:r>
            <a:r>
              <a:rPr lang="de-DE" sz="2000" dirty="0"/>
              <a:t> </a:t>
            </a:r>
            <a:r>
              <a:rPr lang="de-DE" sz="2000" dirty="0" err="1"/>
              <a:t>range</a:t>
            </a:r>
            <a:r>
              <a:rPr lang="de-DE" sz="2000" dirty="0"/>
              <a:t> </a:t>
            </a:r>
            <a:r>
              <a:rPr lang="de-DE" sz="2000" dirty="0" err="1"/>
              <a:t>requires</a:t>
            </a:r>
            <a:r>
              <a:rPr lang="de-DE" sz="2000" dirty="0"/>
              <a:t> </a:t>
            </a:r>
            <a:r>
              <a:rPr lang="de-DE" sz="2000" b="1" dirty="0">
                <a:solidFill>
                  <a:srgbClr val="0000FF"/>
                </a:solidFill>
              </a:rPr>
              <a:t>high power </a:t>
            </a:r>
            <a:r>
              <a:rPr lang="de-DE" sz="2000" dirty="0"/>
              <a:t>(</a:t>
            </a:r>
            <a:r>
              <a:rPr lang="de-DE" sz="2000" dirty="0" err="1"/>
              <a:t>short</a:t>
            </a:r>
            <a:r>
              <a:rPr lang="de-DE" sz="2000" dirty="0"/>
              <a:t>) </a:t>
            </a:r>
            <a:r>
              <a:rPr lang="de-DE" sz="2000" dirty="0" err="1"/>
              <a:t>Tx</a:t>
            </a:r>
            <a:r>
              <a:rPr lang="de-DE" sz="2000" dirty="0"/>
              <a:t>-</a:t>
            </a:r>
            <a:r>
              <a:rPr lang="de-DE" sz="2000" b="1" dirty="0">
                <a:solidFill>
                  <a:srgbClr val="0000FF"/>
                </a:solidFill>
              </a:rPr>
              <a:t>pulses</a:t>
            </a:r>
          </a:p>
          <a:p>
            <a:pPr eaLnBrk="1" hangingPunct="1">
              <a:spcAft>
                <a:spcPts val="1500"/>
              </a:spcAft>
              <a:tabLst>
                <a:tab pos="361950" algn="l"/>
                <a:tab pos="542925" algn="l"/>
              </a:tabLst>
            </a:pPr>
            <a:r>
              <a:rPr lang="de-DE" sz="2000" dirty="0"/>
              <a:t>	-	high </a:t>
            </a:r>
            <a:r>
              <a:rPr lang="de-DE" sz="2000" dirty="0" err="1"/>
              <a:t>range</a:t>
            </a:r>
            <a:r>
              <a:rPr lang="de-DE" sz="2000" dirty="0"/>
              <a:t> </a:t>
            </a:r>
            <a:r>
              <a:rPr lang="de-DE" sz="2000" dirty="0" err="1"/>
              <a:t>resolution</a:t>
            </a:r>
            <a:r>
              <a:rPr lang="de-DE" sz="2000" dirty="0"/>
              <a:t> </a:t>
            </a:r>
            <a:r>
              <a:rPr lang="de-DE" sz="2000" dirty="0" err="1"/>
              <a:t>requires</a:t>
            </a:r>
            <a:r>
              <a:rPr lang="de-DE" sz="2000" dirty="0"/>
              <a:t> </a:t>
            </a:r>
            <a:r>
              <a:rPr lang="de-DE" sz="2000" b="1" dirty="0" err="1">
                <a:solidFill>
                  <a:srgbClr val="0000FF"/>
                </a:solidFill>
              </a:rPr>
              <a:t>very</a:t>
            </a:r>
            <a:r>
              <a:rPr lang="de-DE" sz="2000" b="1" dirty="0">
                <a:solidFill>
                  <a:srgbClr val="0000FF"/>
                </a:solidFill>
              </a:rPr>
              <a:t> </a:t>
            </a:r>
            <a:r>
              <a:rPr lang="de-DE" sz="2000" b="1" dirty="0" err="1">
                <a:solidFill>
                  <a:srgbClr val="0000FF"/>
                </a:solidFill>
              </a:rPr>
              <a:t>short</a:t>
            </a:r>
            <a:r>
              <a:rPr lang="de-DE" sz="2000" b="1" dirty="0">
                <a:solidFill>
                  <a:srgbClr val="0000FF"/>
                </a:solidFill>
              </a:rPr>
              <a:t>-time </a:t>
            </a:r>
            <a:r>
              <a:rPr lang="de-DE" sz="2000" b="1" dirty="0" err="1">
                <a:solidFill>
                  <a:srgbClr val="0000FF"/>
                </a:solidFill>
              </a:rPr>
              <a:t>pulses</a:t>
            </a:r>
            <a:endParaRPr lang="de-DE" sz="2000" b="1" dirty="0">
              <a:solidFill>
                <a:srgbClr val="0000FF"/>
              </a:solidFill>
            </a:endParaRPr>
          </a:p>
          <a:p>
            <a:pPr marL="342900" indent="-342900" eaLnBrk="1" hangingPunct="1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de-DE" sz="2000" b="1" dirty="0" err="1">
                <a:solidFill>
                  <a:schemeClr val="tx2"/>
                </a:solidFill>
              </a:rPr>
              <a:t>One</a:t>
            </a:r>
            <a:r>
              <a:rPr lang="de-DE" sz="2000" b="1" dirty="0">
                <a:solidFill>
                  <a:schemeClr val="tx2"/>
                </a:solidFill>
              </a:rPr>
              <a:t> </a:t>
            </a:r>
            <a:r>
              <a:rPr lang="de-DE" sz="2000" b="1" dirty="0" err="1">
                <a:solidFill>
                  <a:schemeClr val="tx2"/>
                </a:solidFill>
              </a:rPr>
              <a:t>solution</a:t>
            </a:r>
            <a:r>
              <a:rPr lang="de-DE" sz="2000" b="1" dirty="0">
                <a:solidFill>
                  <a:schemeClr val="tx2"/>
                </a:solidFill>
              </a:rPr>
              <a:t>: FMCW-RADAR</a:t>
            </a:r>
          </a:p>
        </p:txBody>
      </p:sp>
    </p:spTree>
    <p:extLst>
      <p:ext uri="{BB962C8B-B14F-4D97-AF65-F5344CB8AC3E}">
        <p14:creationId xmlns:p14="http://schemas.microsoft.com/office/powerpoint/2010/main" val="1269923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47">
            <a:extLst>
              <a:ext uri="{FF2B5EF4-FFF2-40B4-BE49-F238E27FC236}">
                <a16:creationId xmlns:a16="http://schemas.microsoft.com/office/drawing/2014/main" id="{56F89911-7B53-438E-97AB-299355DDF8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9" b="11620"/>
          <a:stretch/>
        </p:blipFill>
        <p:spPr>
          <a:xfrm>
            <a:off x="5877669" y="4186582"/>
            <a:ext cx="2159223" cy="712812"/>
          </a:xfrm>
          <a:prstGeom prst="rect">
            <a:avLst/>
          </a:prstGeom>
        </p:spPr>
      </p:pic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777F8219-4F5C-497C-B67B-3B8B68CC986E}"/>
              </a:ext>
            </a:extLst>
          </p:cNvPr>
          <p:cNvCxnSpPr/>
          <p:nvPr/>
        </p:nvCxnSpPr>
        <p:spPr>
          <a:xfrm>
            <a:off x="870460" y="5665246"/>
            <a:ext cx="7747439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FDCCC61A-B34D-4CC7-989D-8417A164F328}"/>
              </a:ext>
            </a:extLst>
          </p:cNvPr>
          <p:cNvCxnSpPr/>
          <p:nvPr/>
        </p:nvCxnSpPr>
        <p:spPr>
          <a:xfrm flipV="1">
            <a:off x="870460" y="3319378"/>
            <a:ext cx="614" cy="234586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F1946D6F-BE63-4650-ABFB-B6A697F79119}"/>
              </a:ext>
            </a:extLst>
          </p:cNvPr>
          <p:cNvSpPr txBox="1"/>
          <p:nvPr/>
        </p:nvSpPr>
        <p:spPr>
          <a:xfrm>
            <a:off x="8582962" y="5465258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>
                <a:latin typeface="+mn-lt"/>
                <a:cs typeface="Arial" panose="020B0604020202020204" pitchFamily="34" charset="0"/>
              </a:rPr>
              <a:t>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2706B78-2E8F-4FCC-BD2A-EC1B1A1364FD}"/>
              </a:ext>
            </a:extLst>
          </p:cNvPr>
          <p:cNvSpPr txBox="1"/>
          <p:nvPr/>
        </p:nvSpPr>
        <p:spPr>
          <a:xfrm>
            <a:off x="744276" y="3027186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A637377E-83E6-4F41-9AF0-20A237443A6E}"/>
              </a:ext>
            </a:extLst>
          </p:cNvPr>
          <p:cNvCxnSpPr/>
          <p:nvPr/>
        </p:nvCxnSpPr>
        <p:spPr>
          <a:xfrm>
            <a:off x="870460" y="5145364"/>
            <a:ext cx="7757143" cy="0"/>
          </a:xfrm>
          <a:prstGeom prst="line">
            <a:avLst/>
          </a:prstGeom>
          <a:ln w="19050">
            <a:solidFill>
              <a:srgbClr val="0066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3680D3CF-1072-40C0-8005-85B8AE2EC734}"/>
              </a:ext>
            </a:extLst>
          </p:cNvPr>
          <p:cNvCxnSpPr/>
          <p:nvPr/>
        </p:nvCxnSpPr>
        <p:spPr>
          <a:xfrm>
            <a:off x="858814" y="3585718"/>
            <a:ext cx="7850946" cy="0"/>
          </a:xfrm>
          <a:prstGeom prst="line">
            <a:avLst/>
          </a:prstGeom>
          <a:ln w="19050">
            <a:solidFill>
              <a:srgbClr val="0066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40A4A39-297C-41C7-9E54-16AD15BE4169}"/>
              </a:ext>
            </a:extLst>
          </p:cNvPr>
          <p:cNvCxnSpPr/>
          <p:nvPr/>
        </p:nvCxnSpPr>
        <p:spPr>
          <a:xfrm>
            <a:off x="492641" y="3585718"/>
            <a:ext cx="0" cy="1559646"/>
          </a:xfrm>
          <a:prstGeom prst="straightConnector1">
            <a:avLst/>
          </a:prstGeom>
          <a:ln w="19050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3838C7CF-22F6-4890-9B3F-61A9BCC6B23F}"/>
              </a:ext>
            </a:extLst>
          </p:cNvPr>
          <p:cNvSpPr txBox="1"/>
          <p:nvPr/>
        </p:nvSpPr>
        <p:spPr>
          <a:xfrm rot="16200000">
            <a:off x="-479675" y="4123715"/>
            <a:ext cx="1641668" cy="5027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 err="1">
                <a:latin typeface="+mn-lt"/>
                <a:cs typeface="Arial" panose="020B0604020202020204" pitchFamily="34" charset="0"/>
              </a:rPr>
              <a:t>B</a:t>
            </a:r>
            <a:r>
              <a:rPr lang="de-CH" sz="1600" b="1" baseline="-25000" dirty="0" err="1">
                <a:latin typeface="+mn-lt"/>
                <a:cs typeface="Arial" panose="020B0604020202020204" pitchFamily="34" charset="0"/>
              </a:rPr>
              <a:t>sweep</a:t>
            </a:r>
            <a:r>
              <a:rPr lang="de-CH" sz="1600" b="1" baseline="-25000" dirty="0">
                <a:latin typeface="+mn-lt"/>
                <a:cs typeface="Arial" panose="020B0604020202020204" pitchFamily="34" charset="0"/>
              </a:rPr>
              <a:t>  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e.g. 260 MHz</a:t>
            </a:r>
          </a:p>
          <a:p>
            <a:endParaRPr lang="de-CH" sz="1600" b="1" baseline="-250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E4C8CABF-AC7F-46BF-9ADE-1D0FAE866D65}"/>
              </a:ext>
            </a:extLst>
          </p:cNvPr>
          <p:cNvCxnSpPr/>
          <p:nvPr/>
        </p:nvCxnSpPr>
        <p:spPr>
          <a:xfrm flipV="1">
            <a:off x="1616573" y="3576193"/>
            <a:ext cx="2172460" cy="1559646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CDD8F1B1-2681-4037-AADA-588E572D79A6}"/>
              </a:ext>
            </a:extLst>
          </p:cNvPr>
          <p:cNvCxnSpPr/>
          <p:nvPr/>
        </p:nvCxnSpPr>
        <p:spPr>
          <a:xfrm flipV="1">
            <a:off x="5876564" y="3585718"/>
            <a:ext cx="2172460" cy="1559646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6C92C96E-05B9-40BD-BB68-FE8C1DF233CF}"/>
              </a:ext>
            </a:extLst>
          </p:cNvPr>
          <p:cNvCxnSpPr/>
          <p:nvPr/>
        </p:nvCxnSpPr>
        <p:spPr>
          <a:xfrm>
            <a:off x="3798558" y="3585718"/>
            <a:ext cx="2306" cy="2581245"/>
          </a:xfrm>
          <a:prstGeom prst="line">
            <a:avLst/>
          </a:prstGeom>
          <a:ln w="19050">
            <a:solidFill>
              <a:srgbClr val="0066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3811FA28-7F94-438B-9A9B-F21B7FEFB5DF}"/>
              </a:ext>
            </a:extLst>
          </p:cNvPr>
          <p:cNvCxnSpPr/>
          <p:nvPr/>
        </p:nvCxnSpPr>
        <p:spPr>
          <a:xfrm>
            <a:off x="8049024" y="3585718"/>
            <a:ext cx="0" cy="2932124"/>
          </a:xfrm>
          <a:prstGeom prst="line">
            <a:avLst/>
          </a:prstGeom>
          <a:ln w="19050">
            <a:solidFill>
              <a:srgbClr val="0066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DEC82079-2D65-413E-897E-1DF0DEC6BF9C}"/>
              </a:ext>
            </a:extLst>
          </p:cNvPr>
          <p:cNvCxnSpPr/>
          <p:nvPr/>
        </p:nvCxnSpPr>
        <p:spPr>
          <a:xfrm>
            <a:off x="5876564" y="3445755"/>
            <a:ext cx="0" cy="2995761"/>
          </a:xfrm>
          <a:prstGeom prst="line">
            <a:avLst/>
          </a:prstGeom>
          <a:ln w="19050">
            <a:solidFill>
              <a:srgbClr val="0066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B50B38E0-B810-43FA-B0D0-9E269F778843}"/>
              </a:ext>
            </a:extLst>
          </p:cNvPr>
          <p:cNvCxnSpPr/>
          <p:nvPr/>
        </p:nvCxnSpPr>
        <p:spPr>
          <a:xfrm>
            <a:off x="1626098" y="3430659"/>
            <a:ext cx="0" cy="3010857"/>
          </a:xfrm>
          <a:prstGeom prst="line">
            <a:avLst/>
          </a:prstGeom>
          <a:ln w="19050">
            <a:solidFill>
              <a:srgbClr val="00669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054E324B-B16B-44AD-8BF3-4FF6926B93D5}"/>
              </a:ext>
            </a:extLst>
          </p:cNvPr>
          <p:cNvCxnSpPr/>
          <p:nvPr/>
        </p:nvCxnSpPr>
        <p:spPr>
          <a:xfrm>
            <a:off x="1615767" y="5852792"/>
            <a:ext cx="21827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11E90CB-038A-46E3-9DB3-44CAB66B9CC5}"/>
              </a:ext>
            </a:extLst>
          </p:cNvPr>
          <p:cNvSpPr txBox="1"/>
          <p:nvPr/>
        </p:nvSpPr>
        <p:spPr>
          <a:xfrm>
            <a:off x="2051720" y="5847459"/>
            <a:ext cx="1430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 err="1">
                <a:latin typeface="+mn-lt"/>
                <a:cs typeface="Arial" panose="020B0604020202020204" pitchFamily="34" charset="0"/>
              </a:rPr>
              <a:t>T</a:t>
            </a:r>
            <a:r>
              <a:rPr lang="de-CH" sz="1600" b="1" baseline="-25000" dirty="0" err="1">
                <a:latin typeface="+mn-lt"/>
                <a:cs typeface="Arial" panose="020B0604020202020204" pitchFamily="34" charset="0"/>
              </a:rPr>
              <a:t>sweep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e.g. 1 </a:t>
            </a:r>
            <a:r>
              <a:rPr lang="de-CH" sz="1200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de-CH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de-CH" sz="1200" b="1" baseline="-250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1F9E69E-C5B2-4493-8A3A-FAD0CAF89D29}"/>
              </a:ext>
            </a:extLst>
          </p:cNvPr>
          <p:cNvCxnSpPr/>
          <p:nvPr/>
        </p:nvCxnSpPr>
        <p:spPr>
          <a:xfrm>
            <a:off x="1614453" y="6272879"/>
            <a:ext cx="4250466" cy="0"/>
          </a:xfrm>
          <a:prstGeom prst="straightConnector1">
            <a:avLst/>
          </a:prstGeom>
          <a:ln w="12700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075E1E9E-2434-40D8-A9A2-99FDC2858853}"/>
              </a:ext>
            </a:extLst>
          </p:cNvPr>
          <p:cNvSpPr txBox="1"/>
          <p:nvPr/>
        </p:nvSpPr>
        <p:spPr>
          <a:xfrm>
            <a:off x="3545890" y="6248496"/>
            <a:ext cx="509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 err="1">
                <a:latin typeface="+mn-lt"/>
                <a:cs typeface="Arial" panose="020B0604020202020204" pitchFamily="34" charset="0"/>
              </a:rPr>
              <a:t>T</a:t>
            </a:r>
            <a:r>
              <a:rPr lang="de-CH" sz="1600" b="1" baseline="-25000" dirty="0" err="1">
                <a:latin typeface="+mn-lt"/>
                <a:cs typeface="Arial" panose="020B0604020202020204" pitchFamily="34" charset="0"/>
              </a:rPr>
              <a:t>rep</a:t>
            </a:r>
            <a:endParaRPr lang="de-CH" sz="1600" b="1" baseline="-25000"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FDC248FB-712C-4B52-B6AA-6300B3FD0387}"/>
              </a:ext>
            </a:extLst>
          </p:cNvPr>
          <p:cNvCxnSpPr/>
          <p:nvPr/>
        </p:nvCxnSpPr>
        <p:spPr>
          <a:xfrm>
            <a:off x="3893013" y="5136456"/>
            <a:ext cx="1978052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9D0C7894-1286-461B-BA63-A5EC12855348}"/>
              </a:ext>
            </a:extLst>
          </p:cNvPr>
          <p:cNvSpPr/>
          <p:nvPr/>
        </p:nvSpPr>
        <p:spPr>
          <a:xfrm>
            <a:off x="3793136" y="3579676"/>
            <a:ext cx="99877" cy="1710275"/>
          </a:xfrm>
          <a:custGeom>
            <a:avLst/>
            <a:gdLst>
              <a:gd name="connsiteX0" fmla="*/ 5125 w 58391"/>
              <a:gd name="connsiteY0" fmla="*/ 0 h 1184437"/>
              <a:gd name="connsiteX1" fmla="*/ 5125 w 58391"/>
              <a:gd name="connsiteY1" fmla="*/ 1083075 h 1184437"/>
              <a:gd name="connsiteX2" fmla="*/ 58391 w 58391"/>
              <a:gd name="connsiteY2" fmla="*/ 1074198 h 118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391" h="1184437">
                <a:moveTo>
                  <a:pt x="5125" y="0"/>
                </a:moveTo>
                <a:cubicBezTo>
                  <a:pt x="686" y="452021"/>
                  <a:pt x="-3753" y="904042"/>
                  <a:pt x="5125" y="1083075"/>
                </a:cubicBezTo>
                <a:cubicBezTo>
                  <a:pt x="14003" y="1262108"/>
                  <a:pt x="36197" y="1168153"/>
                  <a:pt x="58391" y="1074198"/>
                </a:cubicBezTo>
              </a:path>
            </a:pathLst>
          </a:cu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/>
          </a:p>
        </p:txBody>
      </p:sp>
      <p:sp>
        <p:nvSpPr>
          <p:cNvPr id="22" name="Freihandform 21">
            <a:extLst>
              <a:ext uri="{FF2B5EF4-FFF2-40B4-BE49-F238E27FC236}">
                <a16:creationId xmlns:a16="http://schemas.microsoft.com/office/drawing/2014/main" id="{0706D82A-50DC-4874-A879-AB9AAC2A6569}"/>
              </a:ext>
            </a:extLst>
          </p:cNvPr>
          <p:cNvSpPr/>
          <p:nvPr/>
        </p:nvSpPr>
        <p:spPr>
          <a:xfrm>
            <a:off x="8043602" y="3585718"/>
            <a:ext cx="99877" cy="1710275"/>
          </a:xfrm>
          <a:custGeom>
            <a:avLst/>
            <a:gdLst>
              <a:gd name="connsiteX0" fmla="*/ 5125 w 58391"/>
              <a:gd name="connsiteY0" fmla="*/ 0 h 1184437"/>
              <a:gd name="connsiteX1" fmla="*/ 5125 w 58391"/>
              <a:gd name="connsiteY1" fmla="*/ 1083075 h 1184437"/>
              <a:gd name="connsiteX2" fmla="*/ 58391 w 58391"/>
              <a:gd name="connsiteY2" fmla="*/ 1074198 h 118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391" h="1184437">
                <a:moveTo>
                  <a:pt x="5125" y="0"/>
                </a:moveTo>
                <a:cubicBezTo>
                  <a:pt x="686" y="452021"/>
                  <a:pt x="-3753" y="904042"/>
                  <a:pt x="5125" y="1083075"/>
                </a:cubicBezTo>
                <a:cubicBezTo>
                  <a:pt x="14003" y="1262108"/>
                  <a:pt x="36197" y="1168153"/>
                  <a:pt x="58391" y="1074198"/>
                </a:cubicBezTo>
              </a:path>
            </a:pathLst>
          </a:cu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600"/>
          </a:p>
        </p:txBody>
      </p: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BCF2B8E6-3571-4EEA-80E1-EE6ABA499AA3}"/>
              </a:ext>
            </a:extLst>
          </p:cNvPr>
          <p:cNvCxnSpPr/>
          <p:nvPr/>
        </p:nvCxnSpPr>
        <p:spPr>
          <a:xfrm>
            <a:off x="8148002" y="5149276"/>
            <a:ext cx="248429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33B19639-A1DA-46E5-BD3E-6EF50868504D}"/>
              </a:ext>
            </a:extLst>
          </p:cNvPr>
          <p:cNvCxnSpPr/>
          <p:nvPr/>
        </p:nvCxnSpPr>
        <p:spPr>
          <a:xfrm>
            <a:off x="858814" y="5131459"/>
            <a:ext cx="756953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3F2DD57A-39A4-444B-B2F3-A41BE62E32AC}"/>
              </a:ext>
            </a:extLst>
          </p:cNvPr>
          <p:cNvCxnSpPr/>
          <p:nvPr/>
        </p:nvCxnSpPr>
        <p:spPr>
          <a:xfrm flipV="1">
            <a:off x="2111508" y="3585718"/>
            <a:ext cx="2172460" cy="1559646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AD997E5D-E425-443A-8FFF-75C65EC97A77}"/>
              </a:ext>
            </a:extLst>
          </p:cNvPr>
          <p:cNvSpPr txBox="1"/>
          <p:nvPr/>
        </p:nvSpPr>
        <p:spPr>
          <a:xfrm>
            <a:off x="1699160" y="5268171"/>
            <a:ext cx="477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t</a:t>
            </a:r>
            <a:r>
              <a:rPr lang="de-CH" sz="1600" b="1" baseline="-25000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ToF</a:t>
            </a:r>
            <a:r>
              <a:rPr lang="de-CH" sz="1600" b="1" baseline="-250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</a:t>
            </a:r>
            <a:endParaRPr lang="de-CH" sz="1600" b="1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DAAB1047-9A89-41BF-981C-ABC30E2D9AF4}"/>
              </a:ext>
            </a:extLst>
          </p:cNvPr>
          <p:cNvCxnSpPr/>
          <p:nvPr/>
        </p:nvCxnSpPr>
        <p:spPr>
          <a:xfrm flipH="1">
            <a:off x="2885902" y="3845660"/>
            <a:ext cx="5166" cy="36391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9033178E-1A48-4614-8BDA-DBD122D91487}"/>
              </a:ext>
            </a:extLst>
          </p:cNvPr>
          <p:cNvCxnSpPr/>
          <p:nvPr/>
        </p:nvCxnSpPr>
        <p:spPr>
          <a:xfrm flipH="1">
            <a:off x="2899117" y="4593344"/>
            <a:ext cx="5166" cy="363916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D9C79039-E7B0-4197-95F3-2B59DE812B50}"/>
              </a:ext>
            </a:extLst>
          </p:cNvPr>
          <p:cNvCxnSpPr/>
          <p:nvPr/>
        </p:nvCxnSpPr>
        <p:spPr>
          <a:xfrm>
            <a:off x="1616573" y="5268171"/>
            <a:ext cx="518521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43">
            <a:extLst>
              <a:ext uri="{FF2B5EF4-FFF2-40B4-BE49-F238E27FC236}">
                <a16:creationId xmlns:a16="http://schemas.microsoft.com/office/drawing/2014/main" id="{96C398ED-B963-4C2B-AA07-7CFB5D9F0B01}"/>
              </a:ext>
            </a:extLst>
          </p:cNvPr>
          <p:cNvCxnSpPr/>
          <p:nvPr/>
        </p:nvCxnSpPr>
        <p:spPr>
          <a:xfrm flipV="1">
            <a:off x="6425158" y="3591289"/>
            <a:ext cx="2172460" cy="1559646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51">
            <a:extLst>
              <a:ext uri="{FF2B5EF4-FFF2-40B4-BE49-F238E27FC236}">
                <a16:creationId xmlns:a16="http://schemas.microsoft.com/office/drawing/2014/main" id="{908D5D49-881F-4FDE-B421-907010D4121D}"/>
              </a:ext>
            </a:extLst>
          </p:cNvPr>
          <p:cNvCxnSpPr/>
          <p:nvPr/>
        </p:nvCxnSpPr>
        <p:spPr>
          <a:xfrm>
            <a:off x="1835696" y="1731042"/>
            <a:ext cx="4915588" cy="0"/>
          </a:xfrm>
          <a:prstGeom prst="line">
            <a:avLst/>
          </a:prstGeom>
          <a:ln w="57150"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52">
            <a:extLst>
              <a:ext uri="{FF2B5EF4-FFF2-40B4-BE49-F238E27FC236}">
                <a16:creationId xmlns:a16="http://schemas.microsoft.com/office/drawing/2014/main" id="{0285C360-318E-4A76-BCC0-033A28A8AC7C}"/>
              </a:ext>
            </a:extLst>
          </p:cNvPr>
          <p:cNvCxnSpPr/>
          <p:nvPr/>
        </p:nvCxnSpPr>
        <p:spPr>
          <a:xfrm>
            <a:off x="1835696" y="2101846"/>
            <a:ext cx="4915588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1F8B19D7-4F97-472F-B149-61A17C31C54E}"/>
              </a:ext>
            </a:extLst>
          </p:cNvPr>
          <p:cNvCxnSpPr/>
          <p:nvPr/>
        </p:nvCxnSpPr>
        <p:spPr>
          <a:xfrm>
            <a:off x="5864642" y="5876179"/>
            <a:ext cx="2182791" cy="0"/>
          </a:xfrm>
          <a:prstGeom prst="straightConnector1">
            <a:avLst/>
          </a:prstGeom>
          <a:ln w="28575">
            <a:solidFill>
              <a:schemeClr val="tx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59B98BC1-4123-46A9-948F-E4D35E4F10A7}"/>
              </a:ext>
            </a:extLst>
          </p:cNvPr>
          <p:cNvSpPr txBox="1"/>
          <p:nvPr/>
        </p:nvSpPr>
        <p:spPr>
          <a:xfrm>
            <a:off x="6313678" y="5851796"/>
            <a:ext cx="1354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 err="1">
                <a:latin typeface="+mn-lt"/>
                <a:cs typeface="Arial" panose="020B0604020202020204" pitchFamily="34" charset="0"/>
              </a:rPr>
              <a:t>T</a:t>
            </a:r>
            <a:r>
              <a:rPr lang="de-CH" sz="1600" b="1" baseline="-25000" dirty="0" err="1">
                <a:latin typeface="+mn-lt"/>
                <a:cs typeface="Arial" panose="020B0604020202020204" pitchFamily="34" charset="0"/>
              </a:rPr>
              <a:t>sweep</a:t>
            </a:r>
            <a:r>
              <a:rPr lang="de-CH" sz="1600" b="1" baseline="-25000" dirty="0">
                <a:latin typeface="+mn-lt"/>
                <a:cs typeface="Arial" panose="020B0604020202020204" pitchFamily="34" charset="0"/>
              </a:rPr>
              <a:t>  </a:t>
            </a:r>
            <a:r>
              <a:rPr lang="de-CH" sz="1600" b="1" dirty="0">
                <a:solidFill>
                  <a:srgbClr val="008000"/>
                </a:solidFill>
                <a:cs typeface="Arial" panose="020B0604020202020204" pitchFamily="34" charset="0"/>
              </a:rPr>
              <a:t>= N</a:t>
            </a:r>
            <a:r>
              <a:rPr lang="de-CH" sz="1600" b="1" baseline="-25000" dirty="0">
                <a:solidFill>
                  <a:srgbClr val="008000"/>
                </a:solidFill>
                <a:cs typeface="Arial" panose="020B0604020202020204" pitchFamily="34" charset="0"/>
              </a:rPr>
              <a:t>FFT·</a:t>
            </a:r>
            <a:r>
              <a:rPr lang="de-CH" sz="1600" b="1" dirty="0">
                <a:solidFill>
                  <a:srgbClr val="008000"/>
                </a:solidFill>
                <a:cs typeface="Arial" panose="020B0604020202020204" pitchFamily="34" charset="0"/>
              </a:rPr>
              <a:t>T</a:t>
            </a:r>
            <a:r>
              <a:rPr lang="de-CH" sz="1600" b="1" baseline="-25000" dirty="0">
                <a:solidFill>
                  <a:srgbClr val="008000"/>
                </a:solidFill>
                <a:cs typeface="Arial" panose="020B0604020202020204" pitchFamily="34" charset="0"/>
              </a:rPr>
              <a:t>s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D76505C-326B-4372-ADAB-4C7C81576956}"/>
              </a:ext>
            </a:extLst>
          </p:cNvPr>
          <p:cNvSpPr txBox="1"/>
          <p:nvPr/>
        </p:nvSpPr>
        <p:spPr>
          <a:xfrm>
            <a:off x="3637125" y="1340796"/>
            <a:ext cx="1022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b="1" dirty="0" err="1">
                <a:solidFill>
                  <a:srgbClr val="FF0000"/>
                </a:solidFill>
                <a:cs typeface="Arial" panose="020B0604020202020204" pitchFamily="34" charset="0"/>
              </a:rPr>
              <a:t>r</a:t>
            </a:r>
            <a:r>
              <a:rPr lang="de-CH" sz="1600" b="1" dirty="0" err="1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ange</a:t>
            </a:r>
            <a:r>
              <a:rPr lang="de-CH" sz="16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R=?</a:t>
            </a:r>
            <a:endParaRPr lang="de-CH" sz="1600" b="1" baseline="-250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F9C248F7-3B25-4B9B-B9FA-910560838D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03" b="49786"/>
          <a:stretch/>
        </p:blipFill>
        <p:spPr>
          <a:xfrm flipH="1">
            <a:off x="7308637" y="1270061"/>
            <a:ext cx="766088" cy="739239"/>
          </a:xfrm>
          <a:prstGeom prst="rect">
            <a:avLst/>
          </a:prstGeom>
        </p:spPr>
      </p:pic>
      <p:sp>
        <p:nvSpPr>
          <p:cNvPr id="41" name="Text Box 4">
            <a:extLst>
              <a:ext uri="{FF2B5EF4-FFF2-40B4-BE49-F238E27FC236}">
                <a16:creationId xmlns:a16="http://schemas.microsoft.com/office/drawing/2014/main" id="{9998CB92-4C7D-4CE5-B136-0245DF12B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48293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800" b="1" dirty="0">
                <a:solidFill>
                  <a:srgbClr val="003399"/>
                </a:solidFill>
              </a:rPr>
              <a:t>FMCW-Radar: </a:t>
            </a:r>
            <a:r>
              <a:rPr lang="de-CH" altLang="de-DE" sz="2800" b="1" dirty="0" err="1">
                <a:solidFill>
                  <a:srgbClr val="003399"/>
                </a:solidFill>
              </a:rPr>
              <a:t>how</a:t>
            </a:r>
            <a:r>
              <a:rPr lang="de-CH" altLang="de-DE" sz="2800" b="1" dirty="0">
                <a:solidFill>
                  <a:srgbClr val="003399"/>
                </a:solidFill>
              </a:rPr>
              <a:t> </a:t>
            </a:r>
            <a:r>
              <a:rPr lang="de-CH" altLang="de-DE" sz="2800" b="1" dirty="0" err="1">
                <a:solidFill>
                  <a:srgbClr val="003399"/>
                </a:solidFill>
              </a:rPr>
              <a:t>it</a:t>
            </a:r>
            <a:r>
              <a:rPr lang="de-CH" altLang="de-DE" sz="2800" b="1" dirty="0">
                <a:solidFill>
                  <a:srgbClr val="003399"/>
                </a:solidFill>
              </a:rPr>
              <a:t> </a:t>
            </a:r>
            <a:r>
              <a:rPr lang="de-CH" altLang="de-DE" sz="2800" b="1" dirty="0" err="1">
                <a:solidFill>
                  <a:srgbClr val="003399"/>
                </a:solidFill>
              </a:rPr>
              <a:t>works</a:t>
            </a:r>
            <a:endParaRPr lang="de-CH" altLang="de-DE" sz="2800" b="1" dirty="0">
              <a:solidFill>
                <a:srgbClr val="003399"/>
              </a:solidFill>
            </a:endParaRPr>
          </a:p>
        </p:txBody>
      </p:sp>
      <p:sp>
        <p:nvSpPr>
          <p:cNvPr id="42" name="Line 6">
            <a:extLst>
              <a:ext uri="{FF2B5EF4-FFF2-40B4-BE49-F238E27FC236}">
                <a16:creationId xmlns:a16="http://schemas.microsoft.com/office/drawing/2014/main" id="{97069D02-DB17-4B7F-88E3-6B2BE2DE4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714FA0D6-6CF1-4ECD-9EC4-84A72EDB4583}"/>
              </a:ext>
            </a:extLst>
          </p:cNvPr>
          <p:cNvSpPr txBox="1"/>
          <p:nvPr/>
        </p:nvSpPr>
        <p:spPr>
          <a:xfrm>
            <a:off x="7029599" y="2079282"/>
            <a:ext cx="1292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static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de-CH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Grafik 43">
            <a:extLst>
              <a:ext uri="{FF2B5EF4-FFF2-40B4-BE49-F238E27FC236}">
                <a16:creationId xmlns:a16="http://schemas.microsoft.com/office/drawing/2014/main" id="{FF5E55FE-9659-4D02-B524-F17F5D0C8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019202">
            <a:off x="423627" y="1490127"/>
            <a:ext cx="1224807" cy="923977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64AE1E9B-861D-4DFB-8902-C265C080205B}"/>
              </a:ext>
            </a:extLst>
          </p:cNvPr>
          <p:cNvSpPr txBox="1"/>
          <p:nvPr/>
        </p:nvSpPr>
        <p:spPr>
          <a:xfrm>
            <a:off x="3336884" y="2193391"/>
            <a:ext cx="1441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Aft>
                <a:spcPts val="300"/>
              </a:spcAft>
            </a:pP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Time-of-Flight</a:t>
            </a:r>
            <a:b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de-CH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ToF</a:t>
            </a:r>
            <a:r>
              <a:rPr lang="de-CH" sz="16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2∙R/c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93108B2-B688-46AB-8DCF-2A286DBDDDFF}"/>
              </a:ext>
            </a:extLst>
          </p:cNvPr>
          <p:cNvSpPr txBox="1"/>
          <p:nvPr/>
        </p:nvSpPr>
        <p:spPr>
          <a:xfrm>
            <a:off x="2938337" y="4613276"/>
            <a:ext cx="126297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CH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6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</a:t>
            </a:r>
            <a:r>
              <a:rPr lang="de-CH" sz="1600" b="1" baseline="-25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de-CH" sz="1600" b="1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s·</a:t>
            </a:r>
            <a:r>
              <a:rPr lang="de-CH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de-CH" sz="16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ToF</a:t>
            </a:r>
            <a:endParaRPr lang="de-CH" sz="1600" b="1" baseline="-25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E28FC2B-C2AC-429F-9CBE-EB233C10FA0E}"/>
              </a:ext>
            </a:extLst>
          </p:cNvPr>
          <p:cNvSpPr txBox="1"/>
          <p:nvPr/>
        </p:nvSpPr>
        <p:spPr>
          <a:xfrm>
            <a:off x="1602132" y="2954777"/>
            <a:ext cx="24208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Slope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ramp</a:t>
            </a:r>
            <a:b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16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de-CH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sweep</a:t>
            </a:r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de-CH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sweep</a:t>
            </a:r>
            <a:endParaRPr lang="de-CH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Geschweifte Klammer links 49">
            <a:extLst>
              <a:ext uri="{FF2B5EF4-FFF2-40B4-BE49-F238E27FC236}">
                <a16:creationId xmlns:a16="http://schemas.microsoft.com/office/drawing/2014/main" id="{31B2E13B-3499-4AC4-AEDD-AAC474FBF8AB}"/>
              </a:ext>
            </a:extLst>
          </p:cNvPr>
          <p:cNvSpPr/>
          <p:nvPr/>
        </p:nvSpPr>
        <p:spPr>
          <a:xfrm rot="16200000">
            <a:off x="6846101" y="5191670"/>
            <a:ext cx="233411" cy="2175621"/>
          </a:xfrm>
          <a:prstGeom prst="leftBrace">
            <a:avLst>
              <a:gd name="adj1" fmla="val 25690"/>
              <a:gd name="adj2" fmla="val 50000"/>
            </a:avLst>
          </a:prstGeom>
          <a:ln w="1905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EDFBA8F-9EFD-4E83-B629-5F09825F567B}"/>
              </a:ext>
            </a:extLst>
          </p:cNvPr>
          <p:cNvSpPr txBox="1"/>
          <p:nvPr/>
        </p:nvSpPr>
        <p:spPr>
          <a:xfrm>
            <a:off x="5094204" y="6412202"/>
            <a:ext cx="3654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CH" sz="1600" b="1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de-CH" sz="1600" b="1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e-CH" sz="1600" b="1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1600" b="1" baseline="-25000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</a:t>
            </a:r>
            <a:r>
              <a:rPr lang="de-CH" sz="1600" b="1" baseline="-25000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b="1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600" b="1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b="1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de-CH" sz="1600" b="1" baseline="-25000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TOF</a:t>
            </a:r>
            <a:r>
              <a:rPr lang="de-CH" sz="1600" b="1" baseline="-25000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b="1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de-CH" sz="1600" b="1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b="1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CH" sz="1600" b="1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  <a:endParaRPr lang="de-CH" sz="2000" b="1" baseline="-25000" dirty="0">
              <a:solidFill>
                <a:srgbClr val="0099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40FED995-18A9-4333-AD8B-3909D74B3753}"/>
              </a:ext>
            </a:extLst>
          </p:cNvPr>
          <p:cNvSpPr txBox="1"/>
          <p:nvPr/>
        </p:nvSpPr>
        <p:spPr>
          <a:xfrm>
            <a:off x="5859820" y="3895818"/>
            <a:ext cx="118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de-CH" sz="1600" dirty="0" err="1">
                <a:latin typeface="Arial" panose="020B0604020202020204" pitchFamily="34" charset="0"/>
                <a:cs typeface="Arial" panose="020B0604020202020204" pitchFamily="34" charset="0"/>
              </a:rPr>
              <a:t>modulation</a:t>
            </a:r>
            <a:endParaRPr lang="de-CH" sz="16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1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7" name="Textfeld 6"/>
          <p:cNvSpPr txBox="1"/>
          <p:nvPr/>
        </p:nvSpPr>
        <p:spPr>
          <a:xfrm>
            <a:off x="324416" y="1268760"/>
            <a:ext cx="835204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FMCW-Radar: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frequency-difference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400" b="1" baseline="-250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beat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~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</a:t>
            </a:r>
          </a:p>
          <a:p>
            <a:pPr marL="800100" lvl="1" indent="-342900"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: find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beat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= …………………………………………………</a:t>
            </a:r>
          </a:p>
          <a:p>
            <a:pPr marL="800100" lvl="1" indent="-342900"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CW-Radar: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frequency-difference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~ Doppler-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  <a:endParaRPr lang="de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-signal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multiplied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-signal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endParaRPr lang="de-CH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frequency-difference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appears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at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sensor-outputs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:  I(t) =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A·cos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(2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π·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beat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·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t-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φ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800100" lvl="1" indent="-342900"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beat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 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FFT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Range-resolution ∆R = c / (2∙B</a:t>
            </a:r>
            <a:r>
              <a:rPr lang="de-CH" sz="2400" b="1" baseline="-25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sweep</a:t>
            </a:r>
            <a:r>
              <a:rPr lang="de-CH" sz="2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800100" lvl="1" indent="-342900"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: 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sweep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= 260 MHz  =&gt; ∆R = 0.6 m </a:t>
            </a:r>
          </a:p>
          <a:p>
            <a:pPr marL="800100" lvl="1" indent="-342900">
              <a:spcAft>
                <a:spcPts val="1800"/>
              </a:spcAft>
              <a:buFont typeface="Courier New" panose="02070309020205020404" pitchFamily="49" charset="0"/>
              <a:buChar char="o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Independent of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ramp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slope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S and FFT-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FFT</a:t>
            </a:r>
            <a:endParaRPr lang="de-CH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19D1C16-6F7B-46F8-9AC6-2F840B807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46129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800" b="1" dirty="0">
                <a:solidFill>
                  <a:srgbClr val="003399"/>
                </a:solidFill>
              </a:rPr>
              <a:t>FMCW-Radar Parameters</a:t>
            </a:r>
          </a:p>
        </p:txBody>
      </p:sp>
    </p:spTree>
    <p:extLst>
      <p:ext uri="{BB962C8B-B14F-4D97-AF65-F5344CB8AC3E}">
        <p14:creationId xmlns:p14="http://schemas.microsoft.com/office/powerpoint/2010/main" val="2587000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51C760E-7841-184C-9E5A-96B0EE47843F}"/>
                  </a:ext>
                </a:extLst>
              </p:cNvPr>
              <p:cNvSpPr txBox="1"/>
              <p:nvPr/>
            </p:nvSpPr>
            <p:spPr>
              <a:xfrm>
                <a:off x="331385" y="1076933"/>
                <a:ext cx="8712645" cy="5939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	= 299 792 458 m/s 			(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speed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light)</a:t>
                </a:r>
              </a:p>
              <a:p>
                <a:pPr>
                  <a:spcAft>
                    <a:spcPts val="1200"/>
                  </a:spcAft>
                </a:pP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= 260 MHz 			(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typically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given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>
                  <a:spcAft>
                    <a:spcPts val="1200"/>
                  </a:spcAft>
                </a:pP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de-CH" sz="1600" baseline="-250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1 </a:t>
                </a: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ms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			(</a:t>
                </a: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choice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>
                  <a:spcAft>
                    <a:spcPts val="1200"/>
                  </a:spcAft>
                </a:pP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Slope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	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/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= 260 MHz / 1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ms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indirect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choice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de-CH" sz="1600" baseline="-250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>
                  <a:spcAft>
                    <a:spcPts val="1200"/>
                  </a:spcAft>
                </a:pP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de-CH" sz="1600" baseline="-250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de-CH" sz="1600" baseline="-25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64kHz 				(</a:t>
                </a:r>
                <a:r>
                  <a:rPr lang="de-CH" sz="1600" dirty="0" err="1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choice</a:t>
                </a:r>
                <a: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lang="de-CH" sz="16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de-CH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Range </a:t>
                </a:r>
                <a14:m>
                  <m:oMath xmlns:m="http://schemas.openxmlformats.org/officeDocument/2006/math">
                    <m:r>
                      <a:rPr lang="de-CH" sz="2000" b="1" i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de-CH" sz="2000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2000" b="0" i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000" b="0" i="0">
                                <a:latin typeface="Cambria Math" panose="02040503050406030204" pitchFamily="18" charset="0"/>
                              </a:rPr>
                              <m:t>beat</m:t>
                            </m:r>
                          </m:sub>
                        </m:sSub>
                        <m:r>
                          <a:rPr lang="de-CH" sz="2000" b="0" i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de-CH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2000" b="0" i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de-CH" sz="2000" b="0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de-CH" sz="2000" b="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000" b="0" i="0">
                                <a:latin typeface="Cambria Math" panose="02040503050406030204" pitchFamily="18" charset="0"/>
                              </a:rPr>
                              <m:t>sweep</m:t>
                            </m:r>
                          </m:sub>
                        </m:sSub>
                      </m:num>
                      <m:den>
                        <m:r>
                          <a:rPr lang="de-CH" sz="2000" b="0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de-CH" sz="2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de-CH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2000" b="0" i="0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2000" b="0" i="0">
                                <a:latin typeface="Cambria Math" panose="02040503050406030204" pitchFamily="18" charset="0"/>
                              </a:rPr>
                              <m:t>sweep</m:t>
                            </m:r>
                          </m:sub>
                        </m:sSub>
                      </m:den>
                    </m:f>
                    <m:r>
                      <a:rPr lang="de-CH" sz="2000" b="1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2000" b="1" i="0"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  <m:sub>
                            <m:r>
                              <a:rPr lang="de-CH" sz="2000" b="1" i="0">
                                <a:latin typeface="Cambria Math" panose="02040503050406030204" pitchFamily="18" charset="0"/>
                              </a:rPr>
                              <m:t>𝐛𝐞𝐚𝐭</m:t>
                            </m:r>
                          </m:sub>
                        </m:sSub>
                        <m:r>
                          <a:rPr lang="de-CH" sz="2000" b="1" i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de-CH" sz="2000" b="1" i="0">
                            <a:latin typeface="Cambria Math" panose="02040503050406030204" pitchFamily="18" charset="0"/>
                          </a:rPr>
                          <m:t>𝐜</m:t>
                        </m:r>
                      </m:num>
                      <m:den>
                        <m:r>
                          <a:rPr lang="de-CH" sz="2000" b="1" i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e-CH" sz="2000" b="1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CH" sz="2000" b="1" i="0">
                            <a:latin typeface="Cambria Math" panose="02040503050406030204" pitchFamily="18" charset="0"/>
                          </a:rPr>
                          <m:t>𝐬</m:t>
                        </m:r>
                      </m:den>
                    </m:f>
                  </m:oMath>
                </a14:m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« / 2»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since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it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an echo and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measurement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path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has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been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travelled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twice</a:t>
                </a:r>
                <a: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b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de-CH" sz="11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Frequency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resolution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Δ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beat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FFT</m:t>
                            </m:r>
                          </m:sub>
                        </m:sSub>
                      </m:den>
                    </m:f>
                    <m:r>
                      <a:rPr lang="en-US" sz="16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sweep</m:t>
                            </m:r>
                          </m:sub>
                        </m:sSub>
                      </m:den>
                    </m:f>
                    <m:r>
                      <a:rPr lang="en-US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= 1kHz (= FFT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resolution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if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en-US" sz="1600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∙ 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de-CH" sz="16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FFT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b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de-CH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Range </a:t>
                </a:r>
                <a:r>
                  <a:rPr lang="de-CH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resolution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600" b="1" i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𝚫</m:t>
                    </m:r>
                    <m:r>
                      <a:rPr lang="en-US" sz="1600" b="1" i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𝐑</m:t>
                    </m:r>
                    <m:r>
                      <a:rPr lang="en-US" sz="1600" i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beat</m:t>
                            </m:r>
                          </m:sub>
                        </m:sSub>
                        <m:r>
                          <a:rPr lang="en-US" sz="1600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de-CH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  <m: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sweep</m:t>
                            </m:r>
                          </m:sub>
                        </m:sSub>
                      </m:num>
                      <m:den>
                        <m:r>
                          <a:rPr lang="en-US" sz="1600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2⋅</m:t>
                        </m:r>
                        <m:sSub>
                          <m:sSubPr>
                            <m:ctrlPr>
                              <a:rPr lang="de-CH" sz="16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sweep</m:t>
                            </m:r>
                          </m:sub>
                        </m:sSub>
                      </m:den>
                    </m:f>
                    <m:r>
                      <a:rPr lang="en-US" sz="160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de-CH" sz="16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de-CH" sz="1600" b="1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𝐜</m:t>
                        </m:r>
                      </m:num>
                      <m:den>
                        <m:r>
                          <a:rPr lang="en-US" sz="1600" b="1" i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de-CH" sz="16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e-CH" sz="1600" b="1" i="0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de-CH" sz="1600" b="1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𝐁</m:t>
                            </m:r>
                          </m:e>
                          <m:sub>
                            <m:r>
                              <a:rPr lang="de-CH" sz="1600" b="1" i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𝐬𝐰𝐞𝐞𝐩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6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0.58m</a:t>
                </a:r>
                <a:b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de-CH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Max. Range: </a:t>
                </a:r>
                <a:endParaRPr lang="de-CH" sz="16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600"/>
                  </a:spcAft>
                </a:pPr>
                <a:br>
                  <a:rPr lang="de-CH" sz="16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</a:br>
                <a:r>
                  <a:rPr lang="de-CH" sz="16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de-CH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de-CH" sz="1600" b="1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max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adjusted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adjusting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sweep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  <a:r>
                  <a:rPr lang="de-CH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CH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de-CH" sz="16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endParaRPr lang="de-CH" sz="16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600"/>
                  </a:spcAft>
                </a:pPr>
                <a:endParaRPr lang="de-CH" sz="16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If</a:t>
                </a:r>
                <a:r>
                  <a:rPr lang="en-US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 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∙ 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N</a:t>
                </a:r>
                <a:r>
                  <a:rPr lang="en-US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FFT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en-US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sweep</a:t>
                </a:r>
                <a:r>
                  <a:rPr lang="en-US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baseline="-25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b="1" baseline="-25000" dirty="0" err="1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max</a:t>
                </a:r>
                <a:r>
                  <a:rPr 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∙</m:t>
                        </m:r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FFT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4 </m:t>
                        </m:r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sweep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latin typeface="Cambria Math" panose="0204050305040603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de-CH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c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∙</m:t>
                        </m:r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FFT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4 </m:t>
                        </m:r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sweep</m:t>
                            </m:r>
                          </m:sub>
                        </m:sSub>
                      </m:den>
                    </m:f>
                  </m:oMath>
                </a14:m>
                <a:endParaRPr lang="de-CH" sz="16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spcAft>
                    <a:spcPts val="600"/>
                  </a:spcAft>
                </a:pPr>
                <a:endParaRPr lang="de-CH" sz="16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51C760E-7841-184C-9E5A-96B0EE478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85" y="1076933"/>
                <a:ext cx="8712645" cy="5939446"/>
              </a:xfrm>
              <a:prstGeom prst="rect">
                <a:avLst/>
              </a:prstGeom>
              <a:blipFill>
                <a:blip r:embed="rId2"/>
                <a:stretch>
                  <a:fillRect l="-436" t="-2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4">
            <a:extLst>
              <a:ext uri="{FF2B5EF4-FFF2-40B4-BE49-F238E27FC236}">
                <a16:creationId xmlns:a16="http://schemas.microsoft.com/office/drawing/2014/main" id="{1610708C-B64A-D246-99E6-FA4943CCB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46129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800" b="1" dirty="0">
                <a:solidFill>
                  <a:srgbClr val="003399"/>
                </a:solidFill>
              </a:rPr>
              <a:t>FMCW-Radar Parameters</a:t>
            </a: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3147870D-58E5-924F-8695-04CC4BBA8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E51152F9-F702-446C-9C56-7921363F0271}"/>
                  </a:ext>
                </a:extLst>
              </p:cNvPr>
              <p:cNvSpPr/>
              <p:nvPr/>
            </p:nvSpPr>
            <p:spPr>
              <a:xfrm>
                <a:off x="2051720" y="4941168"/>
                <a:ext cx="6192688" cy="5760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CH" sz="1400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sz="1600" b="1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𝐦𝐚𝐱</m:t>
                          </m:r>
                        </m:sub>
                      </m:sSub>
                      <m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4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beat</m:t>
                              </m:r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4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de-CH" sz="1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CH" sz="140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</m:t>
                          </m:r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2 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400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400" b="1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1600" b="1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𝐬</m:t>
                              </m:r>
                            </m:sub>
                          </m:sSub>
                          <m:r>
                            <a:rPr lang="en-US" sz="1600" b="1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sz="1600" b="1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𝐜</m:t>
                          </m:r>
                        </m:num>
                        <m:den>
                          <m:r>
                            <a:rPr lang="en-US" sz="1600" b="1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en-US" sz="1600" b="1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600" b="1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𝐬</m:t>
                          </m:r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4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f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c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de-CH" sz="1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400" b="0" i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sweep</m:t>
                              </m:r>
                            </m:sub>
                          </m:sSub>
                        </m:num>
                        <m:den>
                          <m:r>
                            <a:rPr lang="en-US" sz="1600" i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4 </m:t>
                          </m:r>
                          <m:sSub>
                            <m:sSubPr>
                              <m:ctrlPr>
                                <a:rPr lang="de-CH" sz="140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sweep</m:t>
                              </m:r>
                            </m:sub>
                          </m:sSub>
                        </m:den>
                      </m:f>
                      <m: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de-CH" sz="1600" b="0" i="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8.4</m:t>
                      </m:r>
                      <m:r>
                        <m:rPr>
                          <m:sty m:val="p"/>
                        </m:rPr>
                        <a:rPr lang="en-US" sz="1600" i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de-CH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de-CH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E51152F9-F702-446C-9C56-7921363F02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20" y="4941168"/>
                <a:ext cx="6192688" cy="576063"/>
              </a:xfrm>
              <a:prstGeom prst="rect">
                <a:avLst/>
              </a:prstGeom>
              <a:blipFill>
                <a:blip r:embed="rId3"/>
                <a:stretch>
                  <a:fillRect t="-347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0C6B2935-440C-4CC8-B063-6863539B1995}"/>
              </a:ext>
            </a:extLst>
          </p:cNvPr>
          <p:cNvSpPr/>
          <p:nvPr/>
        </p:nvSpPr>
        <p:spPr>
          <a:xfrm>
            <a:off x="539552" y="6093296"/>
            <a:ext cx="6192688" cy="8640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37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>
            <a:extLst>
              <a:ext uri="{FF2B5EF4-FFF2-40B4-BE49-F238E27FC236}">
                <a16:creationId xmlns:a16="http://schemas.microsoft.com/office/drawing/2014/main" id="{9022C2EF-5C2B-4101-A1D4-20117C2691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8E2CB0B-F933-40FC-A67C-E65FAC78B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87350"/>
            <a:ext cx="63803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800" b="1" dirty="0">
                <a:solidFill>
                  <a:srgbClr val="003399"/>
                </a:solidFill>
              </a:rPr>
              <a:t>Additional FMCW-HW-</a:t>
            </a:r>
            <a:r>
              <a:rPr lang="de-CH" altLang="de-DE" sz="2800" b="1" dirty="0" err="1">
                <a:solidFill>
                  <a:srgbClr val="003399"/>
                </a:solidFill>
              </a:rPr>
              <a:t>Requirements</a:t>
            </a:r>
            <a:endParaRPr lang="de-CH" altLang="de-DE" sz="2800" b="1" dirty="0">
              <a:solidFill>
                <a:srgbClr val="003399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6F8D89B-5CD6-4051-9007-84F5F6A4AE96}"/>
              </a:ext>
            </a:extLst>
          </p:cNvPr>
          <p:cNvSpPr txBox="1"/>
          <p:nvPr/>
        </p:nvSpPr>
        <p:spPr>
          <a:xfrm>
            <a:off x="324416" y="1196752"/>
            <a:ext cx="871208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de-CH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 </a:t>
            </a:r>
            <a:r>
              <a:rPr lang="de-CH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generates</a:t>
            </a:r>
            <a:r>
              <a:rPr lang="de-CH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sawtooth</a:t>
            </a:r>
            <a:r>
              <a:rPr lang="de-CH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-signal </a:t>
            </a:r>
            <a:r>
              <a:rPr lang="de-CH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CH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VCO-input</a:t>
            </a:r>
            <a:endParaRPr lang="de-CH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Anti-Imaging-filter: RC-TP 1.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de-CH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= 10 kHz)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sufficient</a:t>
            </a:r>
            <a:endParaRPr lang="de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VCO-Input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voltage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: 0 bis 3.3 V</a:t>
            </a:r>
          </a:p>
          <a:p>
            <a:pPr marL="800100" lvl="1" indent="-3429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VCO-Input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impedance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20 kΩ</a:t>
            </a: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Sampling of </a:t>
            </a: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 I(t)  (and </a:t>
            </a: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maybe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 Q(t))</a:t>
            </a:r>
            <a:endParaRPr lang="de-CH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Support of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CH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100 kHz </a:t>
            </a:r>
          </a:p>
          <a:p>
            <a:pPr marL="800100" lvl="1" indent="-342900">
              <a:spcAft>
                <a:spcPts val="2400"/>
              </a:spcAft>
              <a:buFont typeface="Courier New" panose="02070309020205020404" pitchFamily="49" charset="0"/>
              <a:buChar char="o"/>
            </a:pP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of analog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-Amplifier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50 kHz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Gain-Bandwidth-Product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CH" sz="2000">
                <a:latin typeface="Arial" panose="020B0604020202020204" pitchFamily="34" charset="0"/>
                <a:cs typeface="Arial" panose="020B0604020202020204" pitchFamily="34" charset="0"/>
              </a:rPr>
              <a:t> PM4-OpAmp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2 MHz</a:t>
            </a:r>
            <a:b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=&gt; 2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amplifier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stages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000" dirty="0" err="1"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de-CH" sz="20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r>
              <a:rPr lang="de-CH" sz="2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 of f-</a:t>
            </a: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ramp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 and FFT-block </a:t>
            </a: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 «</a:t>
            </a:r>
            <a:r>
              <a:rPr lang="de-CH" sz="2400" dirty="0" err="1">
                <a:latin typeface="Arial" panose="020B0604020202020204" pitchFamily="34" charset="0"/>
                <a:cs typeface="Arial" panose="020B0604020202020204" pitchFamily="34" charset="0"/>
              </a:rPr>
              <a:t>synchronized</a:t>
            </a:r>
            <a:r>
              <a:rPr lang="de-CH" sz="24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92124878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554</Words>
  <Application>Microsoft Macintosh PowerPoint</Application>
  <PresentationFormat>Bildschirmpräsentation (4:3)</PresentationFormat>
  <Paragraphs>56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Courier New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ZHAW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rumc</dc:creator>
  <cp:lastModifiedBy>Rennhard Patrick (renn)</cp:lastModifiedBy>
  <cp:revision>193</cp:revision>
  <cp:lastPrinted>2021-04-13T14:19:58Z</cp:lastPrinted>
  <dcterms:created xsi:type="dcterms:W3CDTF">2018-04-08T12:34:55Z</dcterms:created>
  <dcterms:modified xsi:type="dcterms:W3CDTF">2026-02-18T14:56:29Z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2022-02-09T10:35:41Z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e228da89-f6f5-4b9e-b038-28f0ca95b5b5</vt:lpwstr>
  </property>
  <property fmtid="{D5CDD505-2E9C-101B-9397-08002B2CF9AE}" pid="8" name="MSIP_Label_10d9bad3-6dac-4e9a-89a3-89f3b8d247b2_ContentBits">
    <vt:lpwstr>0</vt:lpwstr>
  </property>
</Properties>
</file>