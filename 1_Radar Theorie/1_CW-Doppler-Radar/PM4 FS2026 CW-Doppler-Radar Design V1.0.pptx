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9" r:id="rId2"/>
    <p:sldId id="265" r:id="rId3"/>
    <p:sldId id="278" r:id="rId4"/>
    <p:sldId id="257" r:id="rId5"/>
    <p:sldId id="266" r:id="rId6"/>
    <p:sldId id="287" r:id="rId7"/>
    <p:sldId id="281" r:id="rId8"/>
    <p:sldId id="267" r:id="rId9"/>
    <p:sldId id="288" r:id="rId10"/>
    <p:sldId id="270" r:id="rId11"/>
    <p:sldId id="283" r:id="rId12"/>
    <p:sldId id="264" r:id="rId13"/>
    <p:sldId id="289" r:id="rId14"/>
    <p:sldId id="261" r:id="rId15"/>
    <p:sldId id="268" r:id="rId16"/>
    <p:sldId id="271" r:id="rId17"/>
    <p:sldId id="262" r:id="rId18"/>
    <p:sldId id="277" r:id="rId19"/>
    <p:sldId id="290" r:id="rId2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pf Marcel (rumc)" initials="RM(" lastIdx="1" clrIdx="0">
    <p:extLst>
      <p:ext uri="{19B8F6BF-5375-455C-9EA6-DF929625EA0E}">
        <p15:presenceInfo xmlns:p15="http://schemas.microsoft.com/office/powerpoint/2012/main" userId="S::rumc@zhaw.ch::7745aea9-dd29-4b9b-a86f-ebb18ea17ad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406"/>
  </p:normalViewPr>
  <p:slideViewPr>
    <p:cSldViewPr>
      <p:cViewPr varScale="1">
        <p:scale>
          <a:sx n="95" d="100"/>
          <a:sy n="95" d="100"/>
        </p:scale>
        <p:origin x="101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BED25-4132-4B1A-8DFA-B678DFDBD3ED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64503-2E64-42B7-B0AD-16DD4301840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963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564503-2E64-42B7-B0AD-16DD4301840D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492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564503-2E64-42B7-B0AD-16DD4301840D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02006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22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379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547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793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797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25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7576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675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173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430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8806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>
            <a:extLst>
              <a:ext uri="{FF2B5EF4-FFF2-40B4-BE49-F238E27FC236}">
                <a16:creationId xmlns:a16="http://schemas.microsoft.com/office/drawing/2014/main" id="{1CEEBC55-B3F2-4E2C-ADC2-37B1E0C1A2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30455" y="908050"/>
            <a:ext cx="106471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800" b="1" dirty="0"/>
              <a:t>PM4, Design, </a:t>
            </a:r>
            <a:fld id="{C0B68E2A-1685-45E2-B781-7AB794E01446}" type="slidenum">
              <a:rPr lang="de-CH" altLang="de-DE" sz="800" b="1" smtClean="0"/>
              <a:pPr eaLnBrk="1" hangingPunct="1">
                <a:spcBef>
                  <a:spcPct val="0"/>
                </a:spcBef>
                <a:buFontTx/>
                <a:buNone/>
              </a:pPr>
              <a:t>‹Nr.›</a:t>
            </a:fld>
            <a:endParaRPr lang="de-CH" altLang="de-DE" sz="800" b="1" dirty="0"/>
          </a:p>
        </p:txBody>
      </p:sp>
      <p:pic>
        <p:nvPicPr>
          <p:cNvPr id="4" name="Grafik 3" descr="Ein Bild, das Schrift, Grafiken, Grafikdesign, Logo enthält.&#10;&#10;KI-generierte Inhalte können fehlerhaft sein.">
            <a:extLst>
              <a:ext uri="{FF2B5EF4-FFF2-40B4-BE49-F238E27FC236}">
                <a16:creationId xmlns:a16="http://schemas.microsoft.com/office/drawing/2014/main" id="{E04CDC2D-1713-D2E4-00AF-DC4B30F3203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85403"/>
            <a:ext cx="638175" cy="66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8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adartutorial.eu/01.basics/The%20Radar%20Range%20Equation.en.html" TargetMode="External"/><Relationship Id="rId13" Type="http://schemas.openxmlformats.org/officeDocument/2006/relationships/hyperlink" Target="https://rfbeam.ch/wp-content/uploads/dlm_uploads/2022/11/K-LC5_Datasheet.pdf" TargetMode="External"/><Relationship Id="rId3" Type="http://schemas.openxmlformats.org/officeDocument/2006/relationships/hyperlink" Target="https://en.wikipedia.org/wiki/Radar#Radar_signal_processing" TargetMode="External"/><Relationship Id="rId7" Type="http://schemas.openxmlformats.org/officeDocument/2006/relationships/hyperlink" Target="https://www.radartutorial.eu/02.basics/Continuous%20Wave%20Radar.en.html" TargetMode="External"/><Relationship Id="rId12" Type="http://schemas.openxmlformats.org/officeDocument/2006/relationships/hyperlink" Target="https://rfbeam.ch/product/k-lc5-radar-transceiver/" TargetMode="External"/><Relationship Id="rId2" Type="http://schemas.openxmlformats.org/officeDocument/2006/relationships/hyperlink" Target="https://en.wikipedia.org/wiki/Radar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adartutorial.eu/11.coherent/co06.en.html" TargetMode="External"/><Relationship Id="rId11" Type="http://schemas.openxmlformats.org/officeDocument/2006/relationships/hyperlink" Target="https://rfbeam.ch/applications/" TargetMode="External"/><Relationship Id="rId5" Type="http://schemas.openxmlformats.org/officeDocument/2006/relationships/hyperlink" Target="https://www.radartutorial.eu/" TargetMode="External"/><Relationship Id="rId10" Type="http://schemas.openxmlformats.org/officeDocument/2006/relationships/hyperlink" Target="https://www.rfbeam.ch/" TargetMode="External"/><Relationship Id="rId4" Type="http://schemas.openxmlformats.org/officeDocument/2006/relationships/hyperlink" Target="https://en.wikipedia.org/wiki/Radar#Radar_range_equation" TargetMode="External"/><Relationship Id="rId9" Type="http://schemas.openxmlformats.org/officeDocument/2006/relationships/hyperlink" Target="https://www.radartutorial.eu/01.basics/Radar%20Cross%20Section.en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fbeam.ch/applications/" TargetMode="Externa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12" Type="http://schemas.openxmlformats.org/officeDocument/2006/relationships/image" Target="../media/image1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13.png"/><Relationship Id="rId5" Type="http://schemas.openxmlformats.org/officeDocument/2006/relationships/image" Target="../media/image3.jpeg"/><Relationship Id="rId10" Type="http://schemas.openxmlformats.org/officeDocument/2006/relationships/hyperlink" Target="https://www.radartutorial.eu/02.basics/Continuous%20Wave%20Radar.en.html" TargetMode="External"/><Relationship Id="rId4" Type="http://schemas.openxmlformats.org/officeDocument/2006/relationships/image" Target="../media/image6.jpeg"/><Relationship Id="rId9" Type="http://schemas.openxmlformats.org/officeDocument/2006/relationships/hyperlink" Target="https://www.radartutorial.eu/11.coherent/co06.en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adartutorial.eu/01.basics/Radar%20Cross%20Section.en.html" TargetMode="External"/><Relationship Id="rId3" Type="http://schemas.openxmlformats.org/officeDocument/2006/relationships/image" Target="../media/image19.jpeg"/><Relationship Id="rId7" Type="http://schemas.openxmlformats.org/officeDocument/2006/relationships/image" Target="../media/image2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hyperlink" Target="https://www.radartutorial.eu/01.basics/The%20Radar%20Range%20Equation.en.html" TargetMode="External"/><Relationship Id="rId9" Type="http://schemas.openxmlformats.org/officeDocument/2006/relationships/hyperlink" Target="https://rfbeam.ch/wp-content/uploads/dlm_uploads/2022/11/K-LC5_Datasheet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fbeam.ch/wp-content/uploads/dlm_uploads/2022/11/K-LC5_Datasheet.pdf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radartutorial.eu/01.basics/Radar%20Cross%20Section.en.htm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hyperlink" Target="https://rfbeam.ch/wp-content/uploads/dlm_uploads/2022/11/K-LC5_Datasheet.pdf" TargetMode="External"/><Relationship Id="rId4" Type="http://schemas.openxmlformats.org/officeDocument/2006/relationships/hyperlink" Target="https://rfbeam.ch/product/k-lc5-radar-transceiver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65A025A3-4C68-40F5-B131-F37A76E2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630047">
            <a:off x="4410060" y="5777395"/>
            <a:ext cx="977061" cy="743604"/>
          </a:xfrm>
          <a:prstGeom prst="rect">
            <a:avLst/>
          </a:prstGeom>
        </p:spPr>
      </p:pic>
      <p:sp>
        <p:nvSpPr>
          <p:cNvPr id="2" name="Line 6">
            <a:extLst>
              <a:ext uri="{FF2B5EF4-FFF2-40B4-BE49-F238E27FC236}">
                <a16:creationId xmlns:a16="http://schemas.microsoft.com/office/drawing/2014/main" id="{EEA1DDDE-B215-432F-99EE-698889200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74FF142-6852-4C71-B6E1-455137612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94" y="1196752"/>
            <a:ext cx="4926798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de-CH" altLang="de-DE" sz="2000" b="1" dirty="0">
                <a:solidFill>
                  <a:srgbClr val="003399"/>
                </a:solidFill>
              </a:rPr>
              <a:t>Project Goals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2000" dirty="0">
                <a:solidFill>
                  <a:srgbClr val="FF0000"/>
                </a:solidFill>
              </a:rPr>
              <a:t>Design a radar </a:t>
            </a:r>
            <a:r>
              <a:rPr lang="de-CH" altLang="de-DE" sz="2000" dirty="0" err="1">
                <a:solidFill>
                  <a:srgbClr val="FF0000"/>
                </a:solidFill>
              </a:rPr>
              <a:t>sensor</a:t>
            </a:r>
            <a:endParaRPr lang="de-CH" altLang="de-DE" sz="2000" dirty="0">
              <a:solidFill>
                <a:srgbClr val="FF0000"/>
              </a:solidFill>
            </a:endParaRP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 err="1"/>
              <a:t>start</a:t>
            </a:r>
            <a:r>
              <a:rPr lang="de-CH" altLang="de-DE" sz="1600" dirty="0"/>
              <a:t> </a:t>
            </a:r>
            <a:r>
              <a:rPr lang="de-CH" altLang="de-DE" sz="1600" dirty="0" err="1"/>
              <a:t>with</a:t>
            </a:r>
            <a:r>
              <a:rPr lang="de-CH" altLang="de-DE" sz="1600" dirty="0"/>
              <a:t> a </a:t>
            </a:r>
            <a:r>
              <a:rPr lang="de-CH" altLang="de-DE" sz="1600" dirty="0" err="1"/>
              <a:t>standard</a:t>
            </a:r>
            <a:r>
              <a:rPr lang="de-CH" altLang="de-DE" sz="1600" dirty="0"/>
              <a:t> </a:t>
            </a:r>
            <a:r>
              <a:rPr lang="de-CH" altLang="de-DE" sz="1600" dirty="0" err="1"/>
              <a:t>use</a:t>
            </a:r>
            <a:r>
              <a:rPr lang="de-CH" altLang="de-DE" sz="1600" dirty="0"/>
              <a:t> </a:t>
            </a:r>
            <a:r>
              <a:rPr lang="de-CH" altLang="de-DE" sz="1600" dirty="0" err="1"/>
              <a:t>case</a:t>
            </a:r>
            <a:r>
              <a:rPr lang="de-CH" altLang="de-DE" sz="1600" dirty="0"/>
              <a:t> (</a:t>
            </a:r>
            <a:r>
              <a:rPr lang="de-CH" altLang="de-DE" sz="1600" dirty="0" err="1"/>
              <a:t>see</a:t>
            </a:r>
            <a:r>
              <a:rPr lang="de-CH" altLang="de-DE" sz="1600" dirty="0"/>
              <a:t> </a:t>
            </a:r>
            <a:r>
              <a:rPr lang="de-CH" altLang="de-DE" sz="1600" dirty="0" err="1"/>
              <a:t>below</a:t>
            </a:r>
            <a:r>
              <a:rPr lang="de-CH" altLang="de-DE" sz="1600" dirty="0"/>
              <a:t>) </a:t>
            </a:r>
            <a:br>
              <a:rPr lang="de-CH" altLang="de-DE" sz="1600" dirty="0"/>
            </a:br>
            <a:r>
              <a:rPr lang="de-CH" altLang="de-DE" sz="1600" dirty="0"/>
              <a:t>and/</a:t>
            </a:r>
            <a:r>
              <a:rPr lang="de-CH" altLang="de-DE" sz="1600" dirty="0" err="1"/>
              <a:t>or</a:t>
            </a:r>
            <a:r>
              <a:rPr lang="de-CH" altLang="de-DE" sz="1600" dirty="0"/>
              <a:t> an </a:t>
            </a:r>
            <a:r>
              <a:rPr lang="de-CH" altLang="de-DE" sz="1600" dirty="0" err="1"/>
              <a:t>idea</a:t>
            </a:r>
            <a:r>
              <a:rPr lang="de-CH" altLang="de-DE" sz="1600" dirty="0"/>
              <a:t> </a:t>
            </a:r>
            <a:r>
              <a:rPr lang="de-CH" altLang="de-DE" sz="1600" dirty="0" err="1"/>
              <a:t>of</a:t>
            </a:r>
            <a:r>
              <a:rPr lang="de-CH" altLang="de-DE" sz="1600" dirty="0"/>
              <a:t> </a:t>
            </a:r>
            <a:r>
              <a:rPr lang="de-CH" altLang="de-DE" sz="1600" dirty="0" err="1"/>
              <a:t>your</a:t>
            </a:r>
            <a:r>
              <a:rPr lang="de-CH" altLang="de-DE" sz="1600" dirty="0"/>
              <a:t> own</a:t>
            </a: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 err="1"/>
              <a:t>document</a:t>
            </a:r>
            <a:r>
              <a:rPr lang="de-CH" altLang="de-DE" sz="1600" dirty="0"/>
              <a:t> </a:t>
            </a:r>
            <a:r>
              <a:rPr lang="de-CH" altLang="de-DE" sz="1600" dirty="0" err="1"/>
              <a:t>your</a:t>
            </a:r>
            <a:r>
              <a:rPr lang="de-CH" altLang="de-DE" sz="1600" dirty="0"/>
              <a:t> HW/DSP-</a:t>
            </a:r>
            <a:r>
              <a:rPr lang="de-CH" altLang="de-DE" sz="1600" dirty="0" err="1"/>
              <a:t>concept</a:t>
            </a:r>
            <a:endParaRPr lang="de-CH" altLang="de-DE" sz="1600" dirty="0"/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de-CH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Realize</a:t>
            </a:r>
            <a:r>
              <a:rPr lang="de-CH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de-CH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your</a:t>
            </a:r>
            <a:r>
              <a:rPr lang="de-CH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de-CH" sz="2000" dirty="0">
                <a:latin typeface="Arial" panose="020B0604020202020204" pitchFamily="34" charset="0"/>
                <a:ea typeface="Calibri" panose="020F0502020204030204" pitchFamily="34" charset="0"/>
              </a:rPr>
              <a:t>prototype</a:t>
            </a:r>
            <a:endParaRPr lang="de-CH" sz="20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Hardware</a:t>
            </a: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Firmware/Software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de-CH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Test the </a:t>
            </a:r>
            <a:r>
              <a:rPr lang="de-CH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performance</a:t>
            </a:r>
            <a:r>
              <a:rPr lang="de-CH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of </a:t>
            </a:r>
            <a:r>
              <a:rPr lang="de-CH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your</a:t>
            </a:r>
            <a:r>
              <a:rPr lang="de-CH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prototype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de-CH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Document</a:t>
            </a:r>
            <a:r>
              <a:rPr lang="de-CH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and </a:t>
            </a:r>
            <a:r>
              <a:rPr lang="de-CH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present</a:t>
            </a:r>
            <a:r>
              <a:rPr lang="de-CH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de-CH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your</a:t>
            </a:r>
            <a:r>
              <a:rPr lang="de-CH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prototype</a:t>
            </a:r>
            <a:endParaRPr lang="de-CH" altLang="de-DE" sz="20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519D1E1-3DEE-4D74-9FE4-5408698EB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664"/>
            <a:ext cx="61480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PM4 FS2026:  CW-Doppler-Radar Sensor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7C8F221-92B2-4C2C-AEEC-7FA1EE3D08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0800000">
            <a:off x="7784031" y="4523492"/>
            <a:ext cx="226293" cy="1524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5419714-2DDF-41C6-875D-38A73C036D0F}"/>
              </a:ext>
            </a:extLst>
          </p:cNvPr>
          <p:cNvSpPr txBox="1"/>
          <p:nvPr/>
        </p:nvSpPr>
        <p:spPr>
          <a:xfrm>
            <a:off x="7160091" y="3037088"/>
            <a:ext cx="696023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</a:p>
          <a:p>
            <a:pPr algn="ctr">
              <a:spcAft>
                <a:spcPts val="3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radial</a:t>
            </a:r>
            <a:b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9D33FC8-CFAC-47D2-A60D-A42B8482E5CE}"/>
              </a:ext>
            </a:extLst>
          </p:cNvPr>
          <p:cNvCxnSpPr>
            <a:cxnSpLocks/>
          </p:cNvCxnSpPr>
          <p:nvPr/>
        </p:nvCxnSpPr>
        <p:spPr>
          <a:xfrm flipV="1">
            <a:off x="7477918" y="2479939"/>
            <a:ext cx="0" cy="568716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C:\Users\rumc\Desktop\vector-cartoon-car-character.jpg">
            <a:extLst>
              <a:ext uri="{FF2B5EF4-FFF2-40B4-BE49-F238E27FC236}">
                <a16:creationId xmlns:a16="http://schemas.microsoft.com/office/drawing/2014/main" id="{9F07EC35-3923-414A-834E-F47497E806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6" t="4898" r="50648" b="55785"/>
          <a:stretch/>
        </p:blipFill>
        <p:spPr bwMode="auto">
          <a:xfrm>
            <a:off x="7160333" y="1654197"/>
            <a:ext cx="692908" cy="54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B77CA49-AC0A-4C4D-B62F-F71890FF7FA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0800000">
            <a:off x="7506787" y="2255539"/>
            <a:ext cx="333202" cy="22439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E23D3C0-2B23-478D-8CB6-275494140F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>
            <a:off x="7131770" y="2207881"/>
            <a:ext cx="333202" cy="224399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6D07B3C-6C27-41AC-AFC4-24A4F4A35877}"/>
              </a:ext>
            </a:extLst>
          </p:cNvPr>
          <p:cNvCxnSpPr>
            <a:cxnSpLocks/>
          </p:cNvCxnSpPr>
          <p:nvPr/>
        </p:nvCxnSpPr>
        <p:spPr>
          <a:xfrm>
            <a:off x="8330674" y="2255539"/>
            <a:ext cx="0" cy="2375355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1E083B5E-C26D-4B03-BE74-4E71E06445CC}"/>
              </a:ext>
            </a:extLst>
          </p:cNvPr>
          <p:cNvSpPr txBox="1"/>
          <p:nvPr/>
        </p:nvSpPr>
        <p:spPr>
          <a:xfrm rot="16200000">
            <a:off x="7827329" y="3263432"/>
            <a:ext cx="729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74AA90-5DD1-4910-8536-63D5DF07AD2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>
            <a:off x="7099667" y="4206566"/>
            <a:ext cx="646979" cy="435716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D6F7345D-B553-4B5A-B53E-1FA58564887F}"/>
              </a:ext>
            </a:extLst>
          </p:cNvPr>
          <p:cNvSpPr txBox="1"/>
          <p:nvPr/>
        </p:nvSpPr>
        <p:spPr>
          <a:xfrm>
            <a:off x="7050655" y="5548006"/>
            <a:ext cx="173827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radar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spcAft>
                <a:spcPts val="3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K-LC5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937571B-3F1C-4492-B12F-4B4DB89FF92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86"/>
          <a:stretch/>
        </p:blipFill>
        <p:spPr>
          <a:xfrm>
            <a:off x="251520" y="5717991"/>
            <a:ext cx="3121152" cy="739239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77F7DD1-A41B-4E3A-9570-55303BC02E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6200000">
            <a:off x="3982875" y="6055588"/>
            <a:ext cx="646979" cy="435716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263F51F7-1719-4C44-8D9B-89DCC5D1CF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5400000">
            <a:off x="4334875" y="5754938"/>
            <a:ext cx="226293" cy="15240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6766964-28F3-468A-A11C-92FCECAE24BA}"/>
              </a:ext>
            </a:extLst>
          </p:cNvPr>
          <p:cNvSpPr txBox="1"/>
          <p:nvPr/>
        </p:nvSpPr>
        <p:spPr>
          <a:xfrm>
            <a:off x="4898590" y="5899128"/>
            <a:ext cx="173827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radar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spcAft>
                <a:spcPts val="3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K-LC5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9FB6FD29-4F47-8C49-9B68-38DFA5282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99843">
            <a:off x="7184858" y="4717648"/>
            <a:ext cx="977061" cy="74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">
            <a:extLst>
              <a:ext uri="{FF2B5EF4-FFF2-40B4-BE49-F238E27FC236}">
                <a16:creationId xmlns:a16="http://schemas.microsoft.com/office/drawing/2014/main" id="{4A66D629-4DA4-4DE1-BAA1-6C6B436C3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2D33A55-72F3-47CF-9F5C-8ABD6F3DA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664"/>
            <a:ext cx="18469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References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233BF85-960C-45A5-9836-B6FF698FE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94" y="1099185"/>
            <a:ext cx="7935506" cy="53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2000" dirty="0"/>
              <a:t>General </a:t>
            </a:r>
            <a:r>
              <a:rPr lang="de-CH" altLang="de-DE" sz="2000" dirty="0" err="1"/>
              <a:t>information</a:t>
            </a:r>
            <a:r>
              <a:rPr lang="de-CH" altLang="de-DE" sz="2000" dirty="0"/>
              <a:t> </a:t>
            </a:r>
            <a:r>
              <a:rPr lang="de-CH" altLang="de-DE" sz="2000" dirty="0" err="1"/>
              <a:t>can</a:t>
            </a:r>
            <a:r>
              <a:rPr lang="de-CH" altLang="de-DE" sz="2000" dirty="0"/>
              <a:t> </a:t>
            </a:r>
            <a:r>
              <a:rPr lang="de-CH" altLang="de-DE" sz="2000" dirty="0" err="1"/>
              <a:t>be</a:t>
            </a:r>
            <a:r>
              <a:rPr lang="de-CH" altLang="de-DE" sz="2000" dirty="0"/>
              <a:t> </a:t>
            </a:r>
            <a:r>
              <a:rPr lang="de-CH" altLang="de-DE" sz="2000" dirty="0" err="1"/>
              <a:t>simply</a:t>
            </a:r>
            <a:r>
              <a:rPr lang="de-CH" altLang="de-DE" sz="2000" dirty="0"/>
              <a:t> </a:t>
            </a:r>
            <a:r>
              <a:rPr lang="de-CH" altLang="de-DE" sz="2000" dirty="0" err="1"/>
              <a:t>found</a:t>
            </a:r>
            <a:r>
              <a:rPr lang="de-CH" altLang="de-DE" sz="2000" dirty="0"/>
              <a:t> on </a:t>
            </a:r>
            <a:r>
              <a:rPr lang="de-CH" altLang="de-DE" sz="2000" dirty="0">
                <a:hlinkClick r:id="rId2"/>
              </a:rPr>
              <a:t>Wikipedia</a:t>
            </a:r>
            <a:r>
              <a:rPr lang="de-CH" altLang="de-DE" sz="2000" dirty="0"/>
              <a:t>: </a:t>
            </a:r>
          </a:p>
          <a:p>
            <a:pPr marL="714375" lvl="1" indent="-352425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>
                <a:solidFill>
                  <a:srgbClr val="0000FF"/>
                </a:solidFill>
                <a:hlinkClick r:id="rId3"/>
              </a:rPr>
              <a:t>Distance and Spead Measurement</a:t>
            </a:r>
            <a:r>
              <a:rPr lang="de-CH" altLang="de-DE" sz="1600" dirty="0">
                <a:solidFill>
                  <a:srgbClr val="0000FF"/>
                </a:solidFill>
              </a:rPr>
              <a:t>, </a:t>
            </a:r>
            <a:r>
              <a:rPr lang="de-CH" altLang="de-DE" sz="1600" dirty="0">
                <a:solidFill>
                  <a:srgbClr val="0000FF"/>
                </a:solidFill>
                <a:hlinkClick r:id="rId4"/>
              </a:rPr>
              <a:t>Radar Range Equation</a:t>
            </a:r>
            <a:r>
              <a:rPr lang="de-CH" altLang="de-DE" sz="1600" dirty="0">
                <a:solidFill>
                  <a:srgbClr val="0000FF"/>
                </a:solidFill>
              </a:rPr>
              <a:t>, … </a:t>
            </a:r>
            <a:br>
              <a:rPr lang="de-CH" altLang="de-DE" sz="1600" dirty="0">
                <a:solidFill>
                  <a:srgbClr val="0000FF"/>
                </a:solidFill>
              </a:rPr>
            </a:br>
            <a:endParaRPr lang="de-CH" altLang="de-DE" sz="1600" dirty="0"/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2000" dirty="0"/>
              <a:t>Further </a:t>
            </a:r>
            <a:r>
              <a:rPr lang="de-CH" altLang="de-DE" sz="2000" dirty="0" err="1"/>
              <a:t>technical</a:t>
            </a:r>
            <a:r>
              <a:rPr lang="de-CH" altLang="de-DE" sz="2000" dirty="0"/>
              <a:t> </a:t>
            </a:r>
            <a:r>
              <a:rPr lang="de-CH" altLang="de-DE" sz="2000" dirty="0" err="1"/>
              <a:t>information</a:t>
            </a:r>
            <a:r>
              <a:rPr lang="de-CH" altLang="de-DE" sz="2000" dirty="0"/>
              <a:t> </a:t>
            </a:r>
            <a:r>
              <a:rPr lang="de-CH" altLang="de-DE" sz="2000" dirty="0" err="1"/>
              <a:t>can</a:t>
            </a:r>
            <a:r>
              <a:rPr lang="de-CH" altLang="de-DE" sz="2000" dirty="0"/>
              <a:t> </a:t>
            </a:r>
            <a:r>
              <a:rPr lang="de-CH" altLang="de-DE" sz="2000" dirty="0" err="1"/>
              <a:t>be</a:t>
            </a:r>
            <a:r>
              <a:rPr lang="de-CH" altLang="de-DE" sz="2000" dirty="0"/>
              <a:t> </a:t>
            </a:r>
            <a:r>
              <a:rPr lang="de-CH" altLang="de-DE" sz="2000" dirty="0" err="1"/>
              <a:t>found</a:t>
            </a:r>
            <a:r>
              <a:rPr lang="de-CH" altLang="de-DE" sz="2000" dirty="0"/>
              <a:t> on the </a:t>
            </a:r>
            <a:r>
              <a:rPr lang="de-CH" altLang="de-DE" sz="2000" dirty="0">
                <a:hlinkClick r:id="rId5"/>
              </a:rPr>
              <a:t>Radar Tutorial</a:t>
            </a:r>
            <a:r>
              <a:rPr lang="de-CH" altLang="de-DE" sz="2000" dirty="0"/>
              <a:t>: </a:t>
            </a:r>
            <a:endParaRPr lang="de-CH" altLang="de-DE" sz="1600" dirty="0">
              <a:hlinkClick r:id="rId6"/>
            </a:endParaRP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>
                <a:hlinkClick r:id="rId6"/>
              </a:rPr>
              <a:t>Doppler-Effect</a:t>
            </a:r>
            <a:r>
              <a:rPr lang="de-CH" altLang="de-DE" sz="1600" dirty="0"/>
              <a:t> (</a:t>
            </a:r>
            <a:r>
              <a:rPr lang="de-CH" altLang="de-DE" sz="1600" dirty="0" err="1"/>
              <a:t>see</a:t>
            </a:r>
            <a:r>
              <a:rPr lang="de-CH" altLang="de-DE" sz="1600" dirty="0"/>
              <a:t> Figure 1 </a:t>
            </a:r>
            <a:r>
              <a:rPr lang="de-CH" altLang="de-DE" sz="1600" dirty="0" err="1"/>
              <a:t>first</a:t>
            </a:r>
            <a:r>
              <a:rPr lang="de-CH" altLang="de-DE" sz="1600" dirty="0"/>
              <a:t>)</a:t>
            </a:r>
            <a:endParaRPr lang="de-CH" altLang="de-DE" sz="1600" dirty="0">
              <a:solidFill>
                <a:srgbClr val="800080"/>
              </a:solidFill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>
                <a:solidFill>
                  <a:srgbClr val="0000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CW-Doppler-Radar</a:t>
            </a:r>
            <a:br>
              <a:rPr lang="de-CH" altLang="de-DE" sz="1600" dirty="0"/>
            </a:br>
            <a:r>
              <a:rPr lang="de-CH" altLang="de-DE" sz="1600" dirty="0"/>
              <a:t>(</a:t>
            </a:r>
            <a:r>
              <a:rPr lang="de-CH" altLang="de-DE" sz="1600" dirty="0" err="1"/>
              <a:t>only</a:t>
            </a:r>
            <a:r>
              <a:rPr lang="de-CH" altLang="de-DE" sz="1600" dirty="0"/>
              <a:t> </a:t>
            </a:r>
            <a:r>
              <a:rPr lang="de-CH" altLang="de-DE" sz="1600" dirty="0" err="1"/>
              <a:t>sections</a:t>
            </a:r>
            <a:r>
              <a:rPr lang="de-CH" altLang="de-DE" sz="1600" dirty="0"/>
              <a:t> Doppler Radar, </a:t>
            </a:r>
            <a:r>
              <a:rPr lang="de-CH" altLang="de-DE" sz="1600" dirty="0" err="1"/>
              <a:t>Function</a:t>
            </a:r>
            <a:r>
              <a:rPr lang="de-CH" altLang="de-DE" sz="1600" dirty="0"/>
              <a:t>, Block </a:t>
            </a:r>
            <a:r>
              <a:rPr lang="de-CH" altLang="de-DE" sz="1600" dirty="0" err="1"/>
              <a:t>diagram</a:t>
            </a:r>
            <a:r>
              <a:rPr lang="de-CH" altLang="de-DE" sz="1600" dirty="0"/>
              <a:t> of CW radar Figure 3)</a:t>
            </a: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>
                <a:hlinkClick r:id="rId8"/>
              </a:rPr>
              <a:t>Radar Range Equation</a:t>
            </a:r>
            <a:endParaRPr lang="de-CH" altLang="de-DE" sz="1600" dirty="0"/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>
                <a:solidFill>
                  <a:srgbClr val="0000FF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Radar-Cross-Section</a:t>
            </a:r>
            <a:br>
              <a:rPr lang="de-CH" altLang="de-DE" sz="1200" dirty="0"/>
            </a:br>
            <a:endParaRPr lang="de-CH" altLang="de-DE" sz="1200" dirty="0"/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2000" dirty="0" err="1"/>
              <a:t>RFbeam</a:t>
            </a:r>
            <a:r>
              <a:rPr lang="de-CH" altLang="de-DE" sz="2000" dirty="0"/>
              <a:t>, St. Gallen:  </a:t>
            </a:r>
            <a:r>
              <a:rPr lang="de-CH" altLang="de-DE" sz="2000" dirty="0">
                <a:hlinkClick r:id="rId10"/>
              </a:rPr>
              <a:t>https://www.rfbeam.ch/</a:t>
            </a:r>
            <a:r>
              <a:rPr lang="de-CH" altLang="de-DE" sz="2000" dirty="0"/>
              <a:t> </a:t>
            </a: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>
                <a:solidFill>
                  <a:srgbClr val="0000FF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 cases</a:t>
            </a:r>
            <a:endParaRPr lang="de-CH" altLang="de-DE" sz="1600" dirty="0">
              <a:solidFill>
                <a:srgbClr val="0000FF"/>
              </a:solidFill>
            </a:endParaRPr>
          </a:p>
          <a:p>
            <a:pPr marL="712788" lvl="1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/>
              <a:t>Radar </a:t>
            </a:r>
            <a:r>
              <a:rPr lang="de-CH" altLang="de-DE" sz="1600" dirty="0" err="1"/>
              <a:t>sensor</a:t>
            </a:r>
            <a:r>
              <a:rPr lang="de-CH" altLang="de-DE" sz="1600" dirty="0"/>
              <a:t> </a:t>
            </a:r>
            <a:r>
              <a:rPr lang="de-CH" altLang="de-DE" sz="1600" dirty="0" err="1"/>
              <a:t>used</a:t>
            </a:r>
            <a:r>
              <a:rPr lang="de-CH" altLang="de-DE" sz="1600" dirty="0"/>
              <a:t> in PM4:</a:t>
            </a:r>
          </a:p>
          <a:p>
            <a:pPr marL="1112838" lvl="2" indent="-342900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>
                <a:solidFill>
                  <a:srgbClr val="0000FF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Radar Sensor K-LC5 </a:t>
            </a:r>
            <a:r>
              <a:rPr lang="de-CH" altLang="de-DE" sz="1600" dirty="0"/>
              <a:t>, </a:t>
            </a:r>
            <a:r>
              <a:rPr lang="de-CH" altLang="de-DE" sz="1600" dirty="0">
                <a:solidFill>
                  <a:srgbClr val="0000FF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sheet K-LC5 </a:t>
            </a:r>
            <a:br>
              <a:rPr lang="de-CH" altLang="de-DE" sz="1200" dirty="0"/>
            </a:br>
            <a:endParaRPr lang="de-CH" altLang="de-DE" sz="1200" dirty="0"/>
          </a:p>
        </p:txBody>
      </p:sp>
    </p:spTree>
    <p:extLst>
      <p:ext uri="{BB962C8B-B14F-4D97-AF65-F5344CB8AC3E}">
        <p14:creationId xmlns:p14="http://schemas.microsoft.com/office/powerpoint/2010/main" val="315761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65AA32E7-B83B-4441-AD06-9C543B1B0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287048"/>
            <a:ext cx="4991431" cy="497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2000" dirty="0"/>
              <a:t>1.	CW-Doppler-Radar: </a:t>
            </a:r>
            <a:r>
              <a:rPr lang="de-CH" altLang="de-DE" sz="2000" dirty="0" err="1"/>
              <a:t>motion</a:t>
            </a:r>
            <a:r>
              <a:rPr lang="de-CH" altLang="de-DE" sz="2000" dirty="0"/>
              <a:t> </a:t>
            </a:r>
            <a:r>
              <a:rPr lang="de-CH" altLang="de-DE" sz="2000" dirty="0" err="1"/>
              <a:t>sensor</a:t>
            </a:r>
            <a:endParaRPr lang="de-CH" altLang="de-DE" sz="2000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1800" dirty="0"/>
              <a:t>	- </a:t>
            </a:r>
            <a:r>
              <a:rPr lang="de-CH" altLang="de-DE" sz="1800" dirty="0" err="1"/>
              <a:t>for</a:t>
            </a:r>
            <a:r>
              <a:rPr lang="de-CH" altLang="de-DE" sz="1800" dirty="0"/>
              <a:t> </a:t>
            </a:r>
            <a:r>
              <a:rPr lang="de-CH" altLang="de-DE" sz="1800" dirty="0" err="1"/>
              <a:t>movement</a:t>
            </a:r>
            <a:r>
              <a:rPr lang="de-CH" altLang="de-DE" sz="1800" dirty="0"/>
              <a:t> </a:t>
            </a:r>
            <a:r>
              <a:rPr lang="de-CH" altLang="de-DE" sz="1800" dirty="0" err="1"/>
              <a:t>detection</a:t>
            </a:r>
            <a:endParaRPr lang="de-CH" altLang="de-DE" sz="1800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1800" dirty="0"/>
              <a:t>	- indoor </a:t>
            </a:r>
            <a:r>
              <a:rPr lang="de-CH" altLang="de-DE" sz="1800" dirty="0" err="1"/>
              <a:t>automation</a:t>
            </a:r>
            <a:endParaRPr lang="de-CH" altLang="de-DE" sz="1800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1800" dirty="0"/>
              <a:t>	- </a:t>
            </a:r>
            <a:r>
              <a:rPr lang="de-CH" altLang="de-DE" sz="1800" dirty="0" err="1"/>
              <a:t>intrusion</a:t>
            </a:r>
            <a:r>
              <a:rPr lang="de-CH" altLang="de-DE" sz="1800" dirty="0"/>
              <a:t> </a:t>
            </a:r>
            <a:r>
              <a:rPr lang="de-CH" altLang="de-DE" sz="1800" dirty="0" err="1"/>
              <a:t>alarm</a:t>
            </a:r>
            <a:endParaRPr lang="de-CH" altLang="de-DE" sz="1800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1800" dirty="0">
                <a:solidFill>
                  <a:srgbClr val="FF0000"/>
                </a:solidFill>
              </a:rPr>
              <a:t>	</a:t>
            </a:r>
            <a:r>
              <a:rPr lang="de-CH" altLang="de-DE" sz="1800" dirty="0" err="1">
                <a:solidFill>
                  <a:srgbClr val="FF0000"/>
                </a:solidFill>
              </a:rPr>
              <a:t>challenge</a:t>
            </a:r>
            <a:r>
              <a:rPr lang="de-CH" altLang="de-DE" sz="1800" dirty="0">
                <a:solidFill>
                  <a:srgbClr val="FF0000"/>
                </a:solidFill>
              </a:rPr>
              <a:t>:</a:t>
            </a:r>
            <a:r>
              <a:rPr lang="de-CH" altLang="de-DE" sz="1800" dirty="0"/>
              <a:t> human </a:t>
            </a:r>
            <a:r>
              <a:rPr lang="de-CH" altLang="de-DE" sz="1800" dirty="0" err="1"/>
              <a:t>presence</a:t>
            </a:r>
            <a:r>
              <a:rPr lang="de-CH" altLang="de-DE" sz="1800" dirty="0"/>
              <a:t> </a:t>
            </a:r>
            <a:r>
              <a:rPr lang="de-CH" altLang="de-DE" sz="1800" dirty="0" err="1"/>
              <a:t>detection</a:t>
            </a:r>
            <a:r>
              <a:rPr lang="de-CH" altLang="de-DE" sz="1800" dirty="0"/>
              <a:t> </a:t>
            </a:r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br>
              <a:rPr lang="de-CH" altLang="de-DE" sz="2000" dirty="0"/>
            </a:br>
            <a:r>
              <a:rPr lang="de-CH" altLang="de-DE" sz="2000" dirty="0"/>
              <a:t>2. 	CW-Doppler-Radar: </a:t>
            </a:r>
            <a:r>
              <a:rPr lang="de-CH" altLang="de-DE" sz="2000" dirty="0" err="1"/>
              <a:t>speed</a:t>
            </a:r>
            <a:r>
              <a:rPr lang="de-CH" altLang="de-DE" sz="2000" dirty="0"/>
              <a:t> </a:t>
            </a:r>
            <a:r>
              <a:rPr lang="de-CH" altLang="de-DE" sz="2000" dirty="0" err="1"/>
              <a:t>sensor</a:t>
            </a:r>
            <a:r>
              <a:rPr lang="de-CH" altLang="de-DE" sz="2000" dirty="0"/>
              <a:t> </a:t>
            </a:r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2000" dirty="0"/>
              <a:t>	</a:t>
            </a:r>
            <a:r>
              <a:rPr lang="de-CH" altLang="de-DE" sz="1800" dirty="0"/>
              <a:t>- </a:t>
            </a:r>
            <a:r>
              <a:rPr lang="de-CH" altLang="de-DE" sz="1800" dirty="0" err="1"/>
              <a:t>traffic</a:t>
            </a:r>
            <a:r>
              <a:rPr lang="de-CH" altLang="de-DE" sz="1800" dirty="0"/>
              <a:t> </a:t>
            </a:r>
            <a:r>
              <a:rPr lang="de-CH" altLang="de-DE" sz="1800" dirty="0" err="1"/>
              <a:t>monitoring</a:t>
            </a:r>
            <a:endParaRPr lang="de-CH" altLang="de-DE" sz="1800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1800" dirty="0"/>
              <a:t>	- </a:t>
            </a:r>
            <a:r>
              <a:rPr lang="de-CH" altLang="de-DE" sz="1800" dirty="0" err="1"/>
              <a:t>sports</a:t>
            </a:r>
            <a:r>
              <a:rPr lang="de-CH" altLang="de-DE" sz="1800" dirty="0"/>
              <a:t> (</a:t>
            </a:r>
            <a:r>
              <a:rPr lang="de-CH" altLang="de-DE" sz="1800" dirty="0" err="1">
                <a:solidFill>
                  <a:srgbClr val="FF0000"/>
                </a:solidFill>
              </a:rPr>
              <a:t>challenge</a:t>
            </a:r>
            <a:r>
              <a:rPr lang="de-CH" altLang="de-DE" sz="1800" dirty="0">
                <a:solidFill>
                  <a:srgbClr val="FF0000"/>
                </a:solidFill>
              </a:rPr>
              <a:t>:</a:t>
            </a:r>
            <a:r>
              <a:rPr lang="de-CH" altLang="de-DE" sz="1800" dirty="0"/>
              <a:t> </a:t>
            </a:r>
            <a:r>
              <a:rPr lang="de-CH" altLang="de-DE" sz="1800" dirty="0" err="1"/>
              <a:t>reflectivity</a:t>
            </a:r>
            <a:r>
              <a:rPr lang="de-CH" altLang="de-DE" sz="1800" dirty="0"/>
              <a:t> </a:t>
            </a:r>
            <a:r>
              <a:rPr lang="de-CH" altLang="de-DE" sz="1800" dirty="0" err="1"/>
              <a:t>of</a:t>
            </a:r>
            <a:r>
              <a:rPr lang="de-CH" altLang="de-DE" sz="1800" dirty="0"/>
              <a:t> </a:t>
            </a:r>
            <a:r>
              <a:rPr lang="de-CH" altLang="de-DE" sz="1800" dirty="0" err="1"/>
              <a:t>target</a:t>
            </a:r>
            <a:r>
              <a:rPr lang="de-CH" altLang="de-DE" sz="1800" dirty="0"/>
              <a:t>)</a:t>
            </a:r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endParaRPr lang="de-CH" altLang="de-DE" sz="1800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2000" dirty="0"/>
              <a:t>3. 	FMCW-Radar: </a:t>
            </a:r>
            <a:r>
              <a:rPr lang="de-CH" altLang="de-DE" sz="2000" dirty="0" err="1"/>
              <a:t>range</a:t>
            </a:r>
            <a:r>
              <a:rPr lang="de-CH" altLang="de-DE" sz="2000" dirty="0"/>
              <a:t> </a:t>
            </a:r>
            <a:r>
              <a:rPr lang="de-CH" altLang="de-DE" sz="2000" dirty="0" err="1"/>
              <a:t>sensor</a:t>
            </a:r>
            <a:br>
              <a:rPr lang="de-CH" altLang="de-DE" sz="1800" dirty="0"/>
            </a:br>
            <a:r>
              <a:rPr lang="de-CH" altLang="de-DE" sz="1800" dirty="0"/>
              <a:t>	- </a:t>
            </a:r>
            <a:r>
              <a:rPr lang="de-CH" altLang="de-DE" sz="1800" dirty="0" err="1"/>
              <a:t>please</a:t>
            </a:r>
            <a:r>
              <a:rPr lang="de-CH" altLang="de-DE" sz="1800" dirty="0"/>
              <a:t> </a:t>
            </a:r>
            <a:r>
              <a:rPr lang="de-CH" altLang="de-DE" sz="1800" dirty="0" err="1"/>
              <a:t>see</a:t>
            </a:r>
            <a:r>
              <a:rPr lang="de-CH" altLang="de-DE" sz="1800" dirty="0"/>
              <a:t> </a:t>
            </a:r>
            <a:r>
              <a:rPr lang="de-CH" altLang="de-DE" sz="1800" dirty="0" err="1"/>
              <a:t>corresponding</a:t>
            </a:r>
            <a:r>
              <a:rPr lang="de-CH" altLang="de-DE" sz="1800" dirty="0"/>
              <a:t> </a:t>
            </a:r>
            <a:r>
              <a:rPr lang="de-CH" altLang="de-DE" sz="1800" dirty="0" err="1"/>
              <a:t>document</a:t>
            </a:r>
            <a:endParaRPr lang="de-CH" altLang="de-DE" sz="1800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1800" dirty="0"/>
              <a:t>	- </a:t>
            </a:r>
            <a:r>
              <a:rPr lang="de-CH" altLang="de-DE" sz="1800" dirty="0" err="1"/>
              <a:t>range</a:t>
            </a:r>
            <a:r>
              <a:rPr lang="de-CH" altLang="de-DE" sz="1800" dirty="0"/>
              <a:t> (i.e. </a:t>
            </a:r>
            <a:r>
              <a:rPr lang="de-CH" altLang="de-DE" sz="1800" dirty="0" err="1"/>
              <a:t>distance</a:t>
            </a:r>
            <a:r>
              <a:rPr lang="de-CH" altLang="de-DE" sz="1800" dirty="0"/>
              <a:t>) </a:t>
            </a:r>
            <a:r>
              <a:rPr lang="de-CH" altLang="de-DE" sz="1800" dirty="0" err="1"/>
              <a:t>measurements</a:t>
            </a:r>
            <a:endParaRPr lang="de-CH" altLang="de-DE" sz="1800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  <a:tabLst>
                <a:tab pos="357188" algn="l"/>
              </a:tabLst>
            </a:pPr>
            <a:r>
              <a:rPr lang="de-CH" altLang="de-DE" sz="1800" dirty="0"/>
              <a:t>	- </a:t>
            </a:r>
            <a:r>
              <a:rPr lang="de-CH" altLang="de-DE" sz="1800" dirty="0" err="1">
                <a:solidFill>
                  <a:srgbClr val="FF0000"/>
                </a:solidFill>
              </a:rPr>
              <a:t>more</a:t>
            </a:r>
            <a:r>
              <a:rPr lang="de-CH" altLang="de-DE" sz="1800" dirty="0">
                <a:solidFill>
                  <a:srgbClr val="FF0000"/>
                </a:solidFill>
              </a:rPr>
              <a:t> </a:t>
            </a:r>
            <a:r>
              <a:rPr lang="de-CH" altLang="de-DE" sz="1800" dirty="0" err="1">
                <a:solidFill>
                  <a:srgbClr val="FF0000"/>
                </a:solidFill>
              </a:rPr>
              <a:t>challenging</a:t>
            </a:r>
            <a:r>
              <a:rPr lang="de-CH" altLang="de-DE" sz="1800" dirty="0">
                <a:solidFill>
                  <a:srgbClr val="FF0000"/>
                </a:solidFill>
              </a:rPr>
              <a:t> </a:t>
            </a:r>
            <a:r>
              <a:rPr lang="de-CH" altLang="de-DE" sz="1800" dirty="0" err="1"/>
              <a:t>than</a:t>
            </a:r>
            <a:r>
              <a:rPr lang="de-CH" altLang="de-DE" sz="1800" dirty="0"/>
              <a:t> CW-Doppler-Radar</a:t>
            </a: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3B052CAC-E566-4433-9C49-40B7087EC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DA59316-DAB3-44E3-9E7F-A9D5C0439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664"/>
            <a:ext cx="25811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Some</a:t>
            </a:r>
            <a:r>
              <a:rPr lang="de-CH" altLang="de-DE" sz="2400" b="1" dirty="0">
                <a:solidFill>
                  <a:srgbClr val="003399"/>
                </a:solidFill>
              </a:rPr>
              <a:t> </a:t>
            </a:r>
            <a:r>
              <a:rPr lang="de-CH" altLang="de-DE" sz="2400" b="1" dirty="0" err="1">
                <a:solidFill>
                  <a:srgbClr val="003399"/>
                </a:solidFill>
              </a:rPr>
              <a:t>use</a:t>
            </a:r>
            <a:r>
              <a:rPr lang="de-CH" altLang="de-DE" sz="2400" b="1" dirty="0">
                <a:solidFill>
                  <a:srgbClr val="003399"/>
                </a:solidFill>
              </a:rPr>
              <a:t> </a:t>
            </a:r>
            <a:r>
              <a:rPr lang="de-CH" altLang="de-DE" sz="2400" b="1" dirty="0" err="1">
                <a:solidFill>
                  <a:srgbClr val="003399"/>
                </a:solidFill>
              </a:rPr>
              <a:t>cases</a:t>
            </a:r>
            <a:endParaRPr lang="de-CH" altLang="de-DE" sz="2400" b="1" dirty="0">
              <a:solidFill>
                <a:srgbClr val="003399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9817BFA-2E43-451E-8E03-9B125FDBCC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1" y="3098547"/>
            <a:ext cx="2383084" cy="16852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1FC999B-4A16-42AA-B26E-C1A5916F3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300" y="1238698"/>
            <a:ext cx="2376264" cy="1663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201C5EEA-2795-4297-9DD8-587CEDD0E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972" y="4980227"/>
            <a:ext cx="2376264" cy="16633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0E94B7F8-6965-4D43-A63E-9D9DF58739F4}"/>
              </a:ext>
            </a:extLst>
          </p:cNvPr>
          <p:cNvSpPr txBox="1"/>
          <p:nvPr/>
        </p:nvSpPr>
        <p:spPr>
          <a:xfrm>
            <a:off x="7318023" y="6305058"/>
            <a:ext cx="12596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use case 2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EACA97C-2043-4505-9899-5E19F5B3B5A0}"/>
              </a:ext>
            </a:extLst>
          </p:cNvPr>
          <p:cNvSpPr txBox="1"/>
          <p:nvPr/>
        </p:nvSpPr>
        <p:spPr>
          <a:xfrm>
            <a:off x="7342262" y="2563529"/>
            <a:ext cx="1235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use case 1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7C86E49-8500-40F2-98F2-5B27FB265F08}"/>
              </a:ext>
            </a:extLst>
          </p:cNvPr>
          <p:cNvSpPr txBox="1"/>
          <p:nvPr/>
        </p:nvSpPr>
        <p:spPr>
          <a:xfrm>
            <a:off x="6126481" y="4451331"/>
            <a:ext cx="1235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use case 1 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D22E319-B585-48C7-A912-B103707990E9}"/>
              </a:ext>
            </a:extLst>
          </p:cNvPr>
          <p:cNvSpPr txBox="1"/>
          <p:nvPr/>
        </p:nvSpPr>
        <p:spPr>
          <a:xfrm>
            <a:off x="323528" y="630505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https://rfbeam.ch/applications/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6295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3B4CA677-6D86-45A9-8213-616A8CCE7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18" y="4404277"/>
            <a:ext cx="4572000" cy="2087217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F4B1AD5C-28C8-4A98-B21A-8D60E0128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88" y="4716198"/>
            <a:ext cx="977061" cy="743604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D387772A-7350-4B20-AB18-F6DBA013B7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>
            <a:off x="1396777" y="3924697"/>
            <a:ext cx="646979" cy="435716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250567CF-F7E3-4148-AAFF-BF3FCAC59E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0800000">
            <a:off x="2081141" y="4241623"/>
            <a:ext cx="226293" cy="152400"/>
          </a:xfrm>
          <a:prstGeom prst="rect">
            <a:avLst/>
          </a:prstGeom>
        </p:spPr>
      </p:pic>
      <p:sp>
        <p:nvSpPr>
          <p:cNvPr id="52" name="Textfeld 51">
            <a:extLst>
              <a:ext uri="{FF2B5EF4-FFF2-40B4-BE49-F238E27FC236}">
                <a16:creationId xmlns:a16="http://schemas.microsoft.com/office/drawing/2014/main" id="{59280DB2-A4AF-4BD0-B40D-A3FFA362A72D}"/>
              </a:ext>
            </a:extLst>
          </p:cNvPr>
          <p:cNvSpPr txBox="1"/>
          <p:nvPr/>
        </p:nvSpPr>
        <p:spPr>
          <a:xfrm>
            <a:off x="1457201" y="2755219"/>
            <a:ext cx="696023" cy="684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</a:p>
          <a:p>
            <a:pPr algn="ctr">
              <a:spcAft>
                <a:spcPts val="3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radial</a:t>
            </a:r>
            <a:b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48C6AA1-A70F-4E08-91EF-6AE64D7D522B}"/>
              </a:ext>
            </a:extLst>
          </p:cNvPr>
          <p:cNvCxnSpPr>
            <a:cxnSpLocks/>
          </p:cNvCxnSpPr>
          <p:nvPr/>
        </p:nvCxnSpPr>
        <p:spPr>
          <a:xfrm flipV="1">
            <a:off x="1775028" y="2198070"/>
            <a:ext cx="0" cy="568716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3" descr="C:\Users\rumc\Desktop\vector-cartoon-car-character.jpg">
            <a:extLst>
              <a:ext uri="{FF2B5EF4-FFF2-40B4-BE49-F238E27FC236}">
                <a16:creationId xmlns:a16="http://schemas.microsoft.com/office/drawing/2014/main" id="{0B57F026-AB1E-47FC-B110-FDCF3EFEE0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6" t="4898" r="50648" b="55785"/>
          <a:stretch/>
        </p:blipFill>
        <p:spPr bwMode="auto">
          <a:xfrm>
            <a:off x="1457443" y="1372328"/>
            <a:ext cx="692908" cy="54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634F935E-D647-48A3-B94D-484633C6132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0800000">
            <a:off x="1871191" y="1973669"/>
            <a:ext cx="262436" cy="176741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E75707A2-EFF3-4029-898D-0F52C2A871C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>
            <a:off x="1428880" y="1926012"/>
            <a:ext cx="333202" cy="224399"/>
          </a:xfrm>
          <a:prstGeom prst="rect">
            <a:avLst/>
          </a:prstGeom>
        </p:spPr>
      </p:pic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2FD999F-95C6-4FDE-B5D5-679574E12AFB}"/>
              </a:ext>
            </a:extLst>
          </p:cNvPr>
          <p:cNvCxnSpPr>
            <a:cxnSpLocks/>
          </p:cNvCxnSpPr>
          <p:nvPr/>
        </p:nvCxnSpPr>
        <p:spPr>
          <a:xfrm>
            <a:off x="1001759" y="1973670"/>
            <a:ext cx="0" cy="2375355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57">
            <a:extLst>
              <a:ext uri="{FF2B5EF4-FFF2-40B4-BE49-F238E27FC236}">
                <a16:creationId xmlns:a16="http://schemas.microsoft.com/office/drawing/2014/main" id="{77824C39-36C6-4300-8609-75D1BA4740DB}"/>
              </a:ext>
            </a:extLst>
          </p:cNvPr>
          <p:cNvSpPr txBox="1"/>
          <p:nvPr/>
        </p:nvSpPr>
        <p:spPr>
          <a:xfrm rot="16200000">
            <a:off x="498414" y="2981563"/>
            <a:ext cx="729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ABBB96C6-CC53-4275-85DB-61624F69537B}"/>
              </a:ext>
            </a:extLst>
          </p:cNvPr>
          <p:cNvSpPr txBox="1"/>
          <p:nvPr/>
        </p:nvSpPr>
        <p:spPr>
          <a:xfrm>
            <a:off x="2634079" y="6010640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2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de-CH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E426EF1D-5276-4B42-BD54-6CE655BE0FC9}"/>
              </a:ext>
            </a:extLst>
          </p:cNvPr>
          <p:cNvSpPr txBox="1"/>
          <p:nvPr/>
        </p:nvSpPr>
        <p:spPr>
          <a:xfrm>
            <a:off x="4221859" y="4571603"/>
            <a:ext cx="3499420" cy="56169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(in-phase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e-CH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I(t) = </a:t>
            </a:r>
            <a:r>
              <a:rPr lang="de-CH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A·cos</a:t>
            </a:r>
            <a:r>
              <a:rPr lang="de-CH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</a:t>
            </a:r>
            <a:r>
              <a:rPr lang="el-G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4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l-G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</a:t>
            </a:r>
            <a:r>
              <a:rPr lang="el-G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de-CH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de-CH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</a:p>
          <a:p>
            <a:pPr>
              <a:spcAft>
                <a:spcPts val="3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=&gt; I(t) =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(t)·cos(2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t)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-pass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filtered</a:t>
            </a:r>
            <a:endParaRPr lang="de-CH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9D84A63D-23AB-405E-8FFE-53FF8082338B}"/>
              </a:ext>
            </a:extLst>
          </p:cNvPr>
          <p:cNvSpPr txBox="1"/>
          <p:nvPr/>
        </p:nvSpPr>
        <p:spPr>
          <a:xfrm>
            <a:off x="323528" y="4336090"/>
            <a:ext cx="1356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x(t) = cos(2</a:t>
            </a:r>
            <a:r>
              <a:rPr lang="el-G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2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l-G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t)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5FA2539-1F4B-4AF1-AAD7-DC90C0D6C8D4}"/>
              </a:ext>
            </a:extLst>
          </p:cNvPr>
          <p:cNvSpPr txBox="1"/>
          <p:nvPr/>
        </p:nvSpPr>
        <p:spPr>
          <a:xfrm>
            <a:off x="1397080" y="6351131"/>
            <a:ext cx="2071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VCO: </a:t>
            </a:r>
            <a:r>
              <a:rPr lang="de-CH" sz="1000" dirty="0" err="1">
                <a:latin typeface="Arial" panose="020B0604020202020204" pitchFamily="34" charset="0"/>
                <a:cs typeface="Arial" panose="020B0604020202020204" pitchFamily="34" charset="0"/>
              </a:rPr>
              <a:t>voltage</a:t>
            </a:r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dirty="0" err="1">
                <a:latin typeface="Arial" panose="020B0604020202020204" pitchFamily="34" charset="0"/>
                <a:cs typeface="Arial" panose="020B0604020202020204" pitchFamily="34" charset="0"/>
              </a:rPr>
              <a:t>controlled</a:t>
            </a:r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dirty="0" err="1">
                <a:latin typeface="Arial" panose="020B0604020202020204" pitchFamily="34" charset="0"/>
                <a:cs typeface="Arial" panose="020B0604020202020204" pitchFamily="34" charset="0"/>
              </a:rPr>
              <a:t>oscillator</a:t>
            </a:r>
            <a:endParaRPr lang="de-CH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LNA: Low Noise Amplifier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DD1BBFF4-AAEE-4F86-A002-B3C4E1293F57}"/>
              </a:ext>
            </a:extLst>
          </p:cNvPr>
          <p:cNvSpPr txBox="1"/>
          <p:nvPr/>
        </p:nvSpPr>
        <p:spPr>
          <a:xfrm>
            <a:off x="4212715" y="5832696"/>
            <a:ext cx="4181401" cy="96949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CW-Doppler-Radar: DC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br>
              <a:rPr lang="de-CH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different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avoid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interference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FMCW-Radar: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sawtooth</a:t>
            </a:r>
            <a:br>
              <a:rPr lang="de-CH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(DAC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reconstruction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9A15486D-7E05-4987-AB83-1EF26F16B4DB}"/>
              </a:ext>
            </a:extLst>
          </p:cNvPr>
          <p:cNvSpPr txBox="1"/>
          <p:nvPr/>
        </p:nvSpPr>
        <p:spPr>
          <a:xfrm>
            <a:off x="2291546" y="4336090"/>
            <a:ext cx="1795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y(t) =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A·cos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</a:t>
            </a:r>
            <a:r>
              <a:rPr lang="el-G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2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+f</a:t>
            </a:r>
            <a:r>
              <a:rPr lang="de-CH" sz="12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l-G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t)</a:t>
            </a:r>
          </a:p>
          <a:p>
            <a:pPr algn="ctr"/>
            <a:endParaRPr lang="de-CH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AAC18930-1E05-49FC-9F21-FD051766D05E}"/>
              </a:ext>
            </a:extLst>
          </p:cNvPr>
          <p:cNvSpPr txBox="1"/>
          <p:nvPr/>
        </p:nvSpPr>
        <p:spPr>
          <a:xfrm>
            <a:off x="2529912" y="1314995"/>
            <a:ext cx="2690160" cy="242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de-CH" altLang="de-DE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Doppler-Effect</a:t>
            </a:r>
            <a:endParaRPr lang="de-CH" altLang="de-DE" sz="1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endParaRPr lang="de-CH" sz="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Doppler-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endParaRPr lang="de-C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endParaRPr lang="de-CH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endParaRPr lang="de-CH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wave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Aft>
                <a:spcPts val="300"/>
              </a:spcAft>
            </a:pPr>
            <a:endParaRPr lang="de-CH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endParaRPr lang="de-CH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c: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light (~ 3·10</a:t>
            </a:r>
            <a:r>
              <a:rPr lang="de-CH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m/s)</a:t>
            </a:r>
          </a:p>
          <a:p>
            <a:pPr>
              <a:spcAft>
                <a:spcPts val="300"/>
              </a:spcAft>
            </a:pP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transmit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( 24 GHz)</a:t>
            </a:r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2547752A-E058-4B00-9598-ADD6FC311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463429"/>
              </p:ext>
            </p:extLst>
          </p:nvPr>
        </p:nvGraphicFramePr>
        <p:xfrm>
          <a:off x="5436098" y="1302030"/>
          <a:ext cx="3215224" cy="238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320">
                  <a:extLst>
                    <a:ext uri="{9D8B030D-6E8A-4147-A177-3AD203B41FA5}">
                      <a16:colId xmlns:a16="http://schemas.microsoft.com/office/drawing/2014/main" val="2102091510"/>
                    </a:ext>
                  </a:extLst>
                </a:gridCol>
                <a:gridCol w="1070404">
                  <a:extLst>
                    <a:ext uri="{9D8B030D-6E8A-4147-A177-3AD203B41FA5}">
                      <a16:colId xmlns:a16="http://schemas.microsoft.com/office/drawing/2014/main" val="1113629431"/>
                    </a:ext>
                  </a:extLst>
                </a:gridCol>
                <a:gridCol w="1125500">
                  <a:extLst>
                    <a:ext uri="{9D8B030D-6E8A-4147-A177-3AD203B41FA5}">
                      <a16:colId xmlns:a16="http://schemas.microsoft.com/office/drawing/2014/main" val="1579115909"/>
                    </a:ext>
                  </a:extLst>
                </a:gridCol>
              </a:tblGrid>
              <a:tr h="371730"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v / (m/s)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v / (km/h)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 err="1"/>
                        <a:t>f</a:t>
                      </a:r>
                      <a:r>
                        <a:rPr lang="de-CH" sz="1600" baseline="-25000" dirty="0" err="1"/>
                        <a:t>d</a:t>
                      </a:r>
                      <a:r>
                        <a:rPr lang="de-CH" sz="1600" dirty="0"/>
                        <a:t> /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308500"/>
                  </a:ext>
                </a:extLst>
              </a:tr>
              <a:tr h="232533"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244308"/>
                  </a:ext>
                </a:extLst>
              </a:tr>
              <a:tr h="232533"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44.4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40711"/>
                  </a:ext>
                </a:extLst>
              </a:tr>
              <a:tr h="232533"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609426"/>
                  </a:ext>
                </a:extLst>
              </a:tr>
              <a:tr h="232533"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10627"/>
                  </a:ext>
                </a:extLst>
              </a:tr>
              <a:tr h="232533"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1600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791022"/>
                  </a:ext>
                </a:extLst>
              </a:tr>
              <a:tr h="232533"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/>
                        <a:t>4444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34798"/>
                  </a:ext>
                </a:extLst>
              </a:tr>
            </a:tbl>
          </a:graphicData>
        </a:graphic>
      </p:graphicFrame>
      <p:sp>
        <p:nvSpPr>
          <p:cNvPr id="29" name="Text Box 4">
            <a:extLst>
              <a:ext uri="{FF2B5EF4-FFF2-40B4-BE49-F238E27FC236}">
                <a16:creationId xmlns:a16="http://schemas.microsoft.com/office/drawing/2014/main" id="{B05EA683-AF36-497F-9F78-8CC8104C5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5047"/>
            <a:ext cx="50163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CW-Doppler-Radar: </a:t>
            </a:r>
            <a:r>
              <a:rPr lang="de-CH" altLang="de-DE" sz="2400" b="1" dirty="0" err="1">
                <a:solidFill>
                  <a:srgbClr val="003399"/>
                </a:solidFill>
              </a:rPr>
              <a:t>How</a:t>
            </a:r>
            <a:r>
              <a:rPr lang="de-CH" altLang="de-DE" sz="2400" b="1" dirty="0">
                <a:solidFill>
                  <a:srgbClr val="003399"/>
                </a:solidFill>
              </a:rPr>
              <a:t> </a:t>
            </a:r>
            <a:r>
              <a:rPr lang="de-CH" altLang="de-DE" sz="2400" b="1" dirty="0" err="1">
                <a:solidFill>
                  <a:srgbClr val="003399"/>
                </a:solidFill>
              </a:rPr>
              <a:t>it</a:t>
            </a:r>
            <a:r>
              <a:rPr lang="de-CH" altLang="de-DE" sz="2400" b="1" dirty="0">
                <a:solidFill>
                  <a:srgbClr val="003399"/>
                </a:solidFill>
              </a:rPr>
              <a:t> </a:t>
            </a:r>
            <a:r>
              <a:rPr lang="de-CH" altLang="de-DE" sz="2400" b="1" dirty="0" err="1">
                <a:solidFill>
                  <a:srgbClr val="003399"/>
                </a:solidFill>
              </a:rPr>
              <a:t>works</a:t>
            </a:r>
            <a:endParaRPr lang="de-CH" altLang="de-DE" sz="2400" b="1" dirty="0">
              <a:solidFill>
                <a:srgbClr val="003399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E0BA812-936D-4C7A-AF68-4B2575275D72}"/>
              </a:ext>
            </a:extLst>
          </p:cNvPr>
          <p:cNvSpPr txBox="1"/>
          <p:nvPr/>
        </p:nvSpPr>
        <p:spPr>
          <a:xfrm>
            <a:off x="4210446" y="5306055"/>
            <a:ext cx="4230645" cy="56169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quadrature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-phase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e-CH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Q(t) = </a:t>
            </a:r>
            <a:r>
              <a:rPr lang="de-CH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A·sin</a:t>
            </a:r>
            <a:r>
              <a:rPr lang="de-CH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</a:t>
            </a:r>
            <a:r>
              <a:rPr lang="el-G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4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l-G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</a:t>
            </a:r>
            <a:r>
              <a:rPr lang="el-G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de-CH" sz="1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de-CH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3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=&gt; Q(t) =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(t)·(-sin(2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t))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-pass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filtered</a:t>
            </a:r>
            <a:endParaRPr lang="de-CH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D52FB41-FA17-40C8-9F6A-F21BDEEF146A}"/>
              </a:ext>
            </a:extLst>
          </p:cNvPr>
          <p:cNvSpPr txBox="1"/>
          <p:nvPr/>
        </p:nvSpPr>
        <p:spPr>
          <a:xfrm>
            <a:off x="329071" y="74899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altLang="de-DE" sz="12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CW-Doppler-Radar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CCA03FB-7798-440B-87D9-D9A339D32596}"/>
              </a:ext>
            </a:extLst>
          </p:cNvPr>
          <p:cNvSpPr txBox="1"/>
          <p:nvPr/>
        </p:nvSpPr>
        <p:spPr>
          <a:xfrm>
            <a:off x="2217298" y="4746271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cos(2</a:t>
            </a:r>
            <a:r>
              <a:rPr lang="el-GR" sz="1000" dirty="0"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1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l-GR" sz="1000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t)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FDB9A5C-4E63-403B-8F2C-E1B75DAA7172}"/>
              </a:ext>
            </a:extLst>
          </p:cNvPr>
          <p:cNvSpPr txBox="1"/>
          <p:nvPr/>
        </p:nvSpPr>
        <p:spPr>
          <a:xfrm>
            <a:off x="713057" y="1549395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58BF245-4154-2E7F-F2DB-125B31D1B684}"/>
                  </a:ext>
                </a:extLst>
              </p:cNvPr>
              <p:cNvSpPr txBox="1"/>
              <p:nvPr/>
            </p:nvSpPr>
            <p:spPr>
              <a:xfrm>
                <a:off x="2777523" y="2020401"/>
                <a:ext cx="1074397" cy="2880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CH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de-CH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de-CH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type m:val="skw"/>
                          <m:ctrlPr>
                            <a:rPr lang="de-CH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CH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de-DE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58BF245-4154-2E7F-F2DB-125B31D1B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523" y="2020401"/>
                <a:ext cx="1074397" cy="288028"/>
              </a:xfrm>
              <a:prstGeom prst="rect">
                <a:avLst/>
              </a:prstGeom>
              <a:blipFill>
                <a:blip r:embed="rId11"/>
                <a:stretch>
                  <a:fillRect l="-5814" t="-175000" r="-20930" b="-254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5229C39-03ED-3129-AD1A-D96923A8F979}"/>
                  </a:ext>
                </a:extLst>
              </p:cNvPr>
              <p:cNvSpPr txBox="1"/>
              <p:nvPr/>
            </p:nvSpPr>
            <p:spPr>
              <a:xfrm>
                <a:off x="2772587" y="2799755"/>
                <a:ext cx="765722" cy="331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de-CH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de-CH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CH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5229C39-03ED-3129-AD1A-D96923A8F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587" y="2799755"/>
                <a:ext cx="765722" cy="331694"/>
              </a:xfrm>
              <a:prstGeom prst="rect">
                <a:avLst/>
              </a:prstGeom>
              <a:blipFill>
                <a:blip r:embed="rId12"/>
                <a:stretch>
                  <a:fillRect l="-6557" t="-151852" r="-22951" b="-2185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4E782D1-94F9-C910-EB2D-BCDE689AB4B5}"/>
                  </a:ext>
                </a:extLst>
              </p:cNvPr>
              <p:cNvSpPr txBox="1"/>
              <p:nvPr/>
            </p:nvSpPr>
            <p:spPr>
              <a:xfrm>
                <a:off x="2772587" y="3874337"/>
                <a:ext cx="4574329" cy="38241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CH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de-CH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de-CH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CH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24 </m:t>
                        </m:r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𝐺𝐻𝑧</m:t>
                        </m:r>
                      </m:num>
                      <m:den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de-CH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skw"/>
                            <m:ctrlP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den>
                    </m:f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den>
                    </m:f>
                    <m:r>
                      <a:rPr lang="de-CH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r>
                      <a:rPr lang="de-CH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160 </m:t>
                    </m:r>
                    <m:r>
                      <a:rPr lang="de-CH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𝐻𝑧</m:t>
                    </m:r>
                  </m:oMath>
                </a14:m>
                <a:endParaRPr lang="de-DE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4E782D1-94F9-C910-EB2D-BCDE689AB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587" y="3874337"/>
                <a:ext cx="4574329" cy="382412"/>
              </a:xfrm>
              <a:prstGeom prst="rect">
                <a:avLst/>
              </a:prstGeom>
              <a:blipFill>
                <a:blip r:embed="rId13"/>
                <a:stretch>
                  <a:fillRect l="-1657" t="-21875" r="-552" b="-12187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3270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">
            <a:extLst>
              <a:ext uri="{FF2B5EF4-FFF2-40B4-BE49-F238E27FC236}">
                <a16:creationId xmlns:a16="http://schemas.microsoft.com/office/drawing/2014/main" id="{9D3D4739-CCF9-4123-BA60-E8753247D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418EEC2-5601-4AD2-AFE0-E787A94E0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3876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Review </a:t>
            </a:r>
            <a:r>
              <a:rPr lang="de-CH" altLang="de-DE" sz="2400" b="1" dirty="0" err="1">
                <a:solidFill>
                  <a:srgbClr val="003399"/>
                </a:solidFill>
              </a:rPr>
              <a:t>of</a:t>
            </a:r>
            <a:r>
              <a:rPr lang="de-CH" altLang="de-DE" sz="2400" b="1" dirty="0">
                <a:solidFill>
                  <a:srgbClr val="003399"/>
                </a:solidFill>
              </a:rPr>
              <a:t> Fourier Theory</a:t>
            </a:r>
            <a:endParaRPr lang="de-CH" altLang="de-DE" sz="1600" b="1" dirty="0">
              <a:solidFill>
                <a:srgbClr val="003399"/>
              </a:solidFill>
              <a:highlight>
                <a:srgbClr val="FFFF00"/>
              </a:highlight>
            </a:endParaRPr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F80E852C-1A39-40EA-AE54-003232BA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85" y="1916832"/>
            <a:ext cx="79255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 err="1"/>
              <a:t>multiplication</a:t>
            </a:r>
            <a:r>
              <a:rPr lang="de-CH" sz="2000" dirty="0"/>
              <a:t> </a:t>
            </a:r>
            <a:r>
              <a:rPr lang="de-CH" sz="2000" dirty="0" err="1"/>
              <a:t>with</a:t>
            </a:r>
            <a:r>
              <a:rPr lang="de-CH" sz="2000" dirty="0"/>
              <a:t> e</a:t>
            </a:r>
            <a:r>
              <a:rPr lang="de-CH" sz="2000" baseline="30000" dirty="0"/>
              <a:t>j2π</a:t>
            </a:r>
            <a:r>
              <a:rPr lang="de-CH" sz="2000" baseline="30000" dirty="0" err="1"/>
              <a:t>f</a:t>
            </a:r>
            <a:r>
              <a:rPr lang="de-CH" sz="1200" baseline="30000" dirty="0" err="1"/>
              <a:t>c</a:t>
            </a:r>
            <a:r>
              <a:rPr lang="de-CH" sz="2000" baseline="30000" dirty="0" err="1"/>
              <a:t>·t</a:t>
            </a:r>
            <a:r>
              <a:rPr lang="de-CH" sz="2000" dirty="0"/>
              <a:t>  ○-●  </a:t>
            </a:r>
            <a:r>
              <a:rPr lang="de-CH" sz="2000" dirty="0" err="1"/>
              <a:t>frequency</a:t>
            </a:r>
            <a:r>
              <a:rPr lang="de-CH" sz="2000" dirty="0"/>
              <a:t> </a:t>
            </a:r>
            <a:r>
              <a:rPr lang="de-CH" sz="2000" dirty="0" err="1"/>
              <a:t>translation</a:t>
            </a:r>
            <a:r>
              <a:rPr lang="de-CH" sz="2000" dirty="0"/>
              <a:t> </a:t>
            </a:r>
            <a:r>
              <a:rPr lang="de-CH" sz="2000" dirty="0" err="1"/>
              <a:t>with</a:t>
            </a:r>
            <a:r>
              <a:rPr lang="de-CH" sz="2000" dirty="0"/>
              <a:t> </a:t>
            </a:r>
            <a:r>
              <a:rPr lang="de-CH" sz="2000" dirty="0">
                <a:solidFill>
                  <a:srgbClr val="008000"/>
                </a:solidFill>
              </a:rPr>
              <a:t>+</a:t>
            </a:r>
            <a:r>
              <a:rPr lang="de-CH" sz="2000" dirty="0" err="1">
                <a:solidFill>
                  <a:srgbClr val="008000"/>
                </a:solidFill>
              </a:rPr>
              <a:t>f</a:t>
            </a:r>
            <a:r>
              <a:rPr lang="de-CH" sz="2000" baseline="-25000" dirty="0" err="1">
                <a:solidFill>
                  <a:srgbClr val="008000"/>
                </a:solidFill>
              </a:rPr>
              <a:t>c</a:t>
            </a:r>
            <a:r>
              <a:rPr lang="de-CH" sz="2000" baseline="-25000" dirty="0">
                <a:solidFill>
                  <a:srgbClr val="008000"/>
                </a:solidFill>
              </a:rPr>
              <a:t> </a:t>
            </a:r>
            <a:r>
              <a:rPr lang="de-CH" sz="1600" dirty="0"/>
              <a:t>(</a:t>
            </a:r>
            <a:r>
              <a:rPr lang="de-CH" sz="1600" dirty="0" err="1"/>
              <a:t>to</a:t>
            </a:r>
            <a:r>
              <a:rPr lang="de-CH" sz="1600" dirty="0"/>
              <a:t> the </a:t>
            </a:r>
            <a:r>
              <a:rPr lang="de-CH" sz="1600" dirty="0" err="1"/>
              <a:t>right</a:t>
            </a:r>
            <a:r>
              <a:rPr lang="de-CH" sz="1600" dirty="0"/>
              <a:t>)</a:t>
            </a:r>
            <a:endParaRPr lang="de-DE" sz="1600" dirty="0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A98CE9E7-E5E5-466D-8FF4-102F74C58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68" y="1556436"/>
            <a:ext cx="4227439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0" hangingPunct="0"/>
            <a:r>
              <a:rPr lang="de-CH" sz="2000" dirty="0"/>
              <a:t>x(t) = y(t) · e</a:t>
            </a:r>
            <a:r>
              <a:rPr lang="de-CH" sz="2000" baseline="30000" dirty="0"/>
              <a:t>j2π</a:t>
            </a:r>
            <a:r>
              <a:rPr lang="de-CH" sz="2000" baseline="30000" dirty="0" err="1"/>
              <a:t>f</a:t>
            </a:r>
            <a:r>
              <a:rPr lang="de-CH" sz="1200" baseline="30000" dirty="0" err="1"/>
              <a:t>c</a:t>
            </a:r>
            <a:r>
              <a:rPr lang="de-CH" sz="2000" baseline="30000" dirty="0" err="1"/>
              <a:t>·t</a:t>
            </a:r>
            <a:r>
              <a:rPr lang="de-CH" sz="2000" dirty="0"/>
              <a:t>   ○-●   X(f) = Y(f-</a:t>
            </a:r>
            <a:r>
              <a:rPr lang="de-CH" sz="2000" dirty="0" err="1"/>
              <a:t>f</a:t>
            </a:r>
            <a:r>
              <a:rPr lang="de-CH" sz="2000" baseline="-25000" dirty="0" err="1"/>
              <a:t>c</a:t>
            </a:r>
            <a:r>
              <a:rPr lang="de-CH" sz="2000" dirty="0"/>
              <a:t>)</a:t>
            </a:r>
            <a:endParaRPr lang="de-DE" sz="2000" dirty="0"/>
          </a:p>
        </p:txBody>
      </p:sp>
      <p:sp>
        <p:nvSpPr>
          <p:cNvPr id="10" name="Rectangle 38">
            <a:extLst>
              <a:ext uri="{FF2B5EF4-FFF2-40B4-BE49-F238E27FC236}">
                <a16:creationId xmlns:a16="http://schemas.microsoft.com/office/drawing/2014/main" id="{E2B69C2D-5BF5-4963-AD9C-C1287F5D9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24744"/>
            <a:ext cx="26500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 err="1">
                <a:solidFill>
                  <a:srgbClr val="0000FF"/>
                </a:solidFill>
              </a:rPr>
              <a:t>Frequency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translation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12" name="Text Box 34">
            <a:extLst>
              <a:ext uri="{FF2B5EF4-FFF2-40B4-BE49-F238E27FC236}">
                <a16:creationId xmlns:a16="http://schemas.microsoft.com/office/drawing/2014/main" id="{5D52ACFC-57EA-451A-A8A0-92265FA28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689" y="2420888"/>
            <a:ext cx="53285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64A6"/>
              </a:buClr>
              <a:buSzPct val="100000"/>
              <a:buFont typeface="Arial" panose="020B0604020202020204" pitchFamily="34" charset="0"/>
              <a:buChar char="●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4A6"/>
              </a:buClr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de-CH" altLang="de-DE" sz="2000" dirty="0"/>
              <a:t>cos(</a:t>
            </a:r>
            <a:r>
              <a:rPr lang="el-GR" altLang="de-DE" sz="2000" dirty="0"/>
              <a:t>ω</a:t>
            </a:r>
            <a:r>
              <a:rPr lang="de-CH" altLang="de-DE" sz="2000" baseline="-25000" dirty="0"/>
              <a:t>c</a:t>
            </a:r>
            <a:r>
              <a:rPr lang="el-GR" altLang="de-DE" sz="2000" dirty="0"/>
              <a:t>·</a:t>
            </a:r>
            <a:r>
              <a:rPr lang="de-CH" altLang="de-DE" sz="2000" dirty="0"/>
              <a:t>t) = (</a:t>
            </a:r>
            <a:r>
              <a:rPr lang="de-CH" altLang="de-DE" sz="2000" dirty="0" err="1"/>
              <a:t>e</a:t>
            </a:r>
            <a:r>
              <a:rPr lang="de-CH" altLang="de-DE" sz="2000" baseline="30000" dirty="0" err="1"/>
              <a:t>j</a:t>
            </a:r>
            <a:r>
              <a:rPr lang="de-CH" altLang="de-DE" sz="2000" baseline="30000" dirty="0"/>
              <a:t>·</a:t>
            </a:r>
            <a:r>
              <a:rPr lang="el-GR" altLang="de-DE" sz="2000" baseline="30000" dirty="0"/>
              <a:t>ω</a:t>
            </a:r>
            <a:r>
              <a:rPr lang="de-CH" altLang="de-DE" sz="2000" baseline="30000" dirty="0"/>
              <a:t>c</a:t>
            </a:r>
            <a:r>
              <a:rPr lang="el-GR" altLang="de-DE" sz="2000" baseline="30000" dirty="0"/>
              <a:t>·</a:t>
            </a:r>
            <a:r>
              <a:rPr lang="de-CH" altLang="de-DE" sz="2000" baseline="30000" dirty="0"/>
              <a:t>t </a:t>
            </a:r>
            <a:r>
              <a:rPr lang="de-CH" altLang="de-DE" sz="2000" dirty="0"/>
              <a:t>+ e</a:t>
            </a:r>
            <a:r>
              <a:rPr lang="de-CH" altLang="de-DE" sz="2000" baseline="30000" dirty="0"/>
              <a:t>-j·</a:t>
            </a:r>
            <a:r>
              <a:rPr lang="el-GR" altLang="de-DE" sz="2000" baseline="30000" dirty="0"/>
              <a:t>ω</a:t>
            </a:r>
            <a:r>
              <a:rPr lang="de-CH" altLang="de-DE" sz="2000" baseline="30000" dirty="0"/>
              <a:t>c</a:t>
            </a:r>
            <a:r>
              <a:rPr lang="el-GR" altLang="de-DE" sz="2000" baseline="30000" dirty="0"/>
              <a:t>·</a:t>
            </a:r>
            <a:r>
              <a:rPr lang="de-CH" altLang="de-DE" sz="2000" baseline="30000" dirty="0"/>
              <a:t>t</a:t>
            </a:r>
            <a:r>
              <a:rPr lang="de-CH" altLang="de-DE" sz="2000" dirty="0"/>
              <a:t>) / 2</a:t>
            </a:r>
            <a:endParaRPr lang="de-DE" altLang="de-DE" sz="2000" dirty="0"/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A2445D02-C5D1-4B6A-83C7-55306CE78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434605"/>
            <a:ext cx="7478329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>
                <a:solidFill>
                  <a:srgbClr val="0000FF"/>
                </a:solidFill>
              </a:rPr>
              <a:t>Euler-</a:t>
            </a:r>
            <a:r>
              <a:rPr lang="de-CH" sz="2000" dirty="0" err="1">
                <a:solidFill>
                  <a:srgbClr val="0000FF"/>
                </a:solidFill>
              </a:rPr>
              <a:t>formula</a:t>
            </a:r>
            <a:r>
              <a:rPr lang="de-CH" sz="2000" dirty="0">
                <a:solidFill>
                  <a:srgbClr val="0000FF"/>
                </a:solidFill>
              </a:rPr>
              <a:t>:</a:t>
            </a:r>
          </a:p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 err="1">
                <a:solidFill>
                  <a:srgbClr val="0000FF"/>
                </a:solidFill>
              </a:rPr>
              <a:t>Multiplication</a:t>
            </a:r>
            <a:r>
              <a:rPr lang="de-CH" sz="2000" dirty="0">
                <a:solidFill>
                  <a:srgbClr val="0000FF"/>
                </a:solidFill>
              </a:rPr>
              <a:t> of the </a:t>
            </a:r>
            <a:r>
              <a:rPr lang="de-CH" sz="2000" dirty="0" err="1">
                <a:solidFill>
                  <a:srgbClr val="0000FF"/>
                </a:solidFill>
              </a:rPr>
              <a:t>received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signal</a:t>
            </a:r>
            <a:r>
              <a:rPr lang="de-CH" sz="2000" dirty="0">
                <a:solidFill>
                  <a:srgbClr val="0000FF"/>
                </a:solidFill>
              </a:rPr>
              <a:t> y(t) </a:t>
            </a:r>
            <a:r>
              <a:rPr lang="de-CH" sz="2000" dirty="0" err="1">
                <a:solidFill>
                  <a:srgbClr val="0000FF"/>
                </a:solidFill>
              </a:rPr>
              <a:t>with</a:t>
            </a:r>
            <a:r>
              <a:rPr lang="de-CH" sz="2000" dirty="0">
                <a:solidFill>
                  <a:srgbClr val="0000FF"/>
                </a:solidFill>
              </a:rPr>
              <a:t> cos(</a:t>
            </a:r>
            <a:r>
              <a:rPr lang="de-CH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l-GR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l-GR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de-CH" sz="2000" dirty="0">
                <a:solidFill>
                  <a:srgbClr val="0000FF"/>
                </a:solidFill>
              </a:rPr>
              <a:t>) </a:t>
            </a:r>
            <a:br>
              <a:rPr lang="de-CH" sz="2000" dirty="0">
                <a:solidFill>
                  <a:srgbClr val="0000FF"/>
                </a:solidFill>
              </a:rPr>
            </a:br>
            <a:r>
              <a:rPr lang="de-CH" sz="2000" dirty="0" err="1">
                <a:solidFill>
                  <a:srgbClr val="0000FF"/>
                </a:solidFill>
              </a:rPr>
              <a:t>causes</a:t>
            </a:r>
            <a:r>
              <a:rPr lang="de-CH" sz="2000" dirty="0">
                <a:solidFill>
                  <a:srgbClr val="0000FF"/>
                </a:solidFill>
              </a:rPr>
              <a:t> a </a:t>
            </a:r>
            <a:r>
              <a:rPr lang="de-CH" sz="2000" dirty="0" err="1">
                <a:solidFill>
                  <a:srgbClr val="0000FF"/>
                </a:solidFill>
              </a:rPr>
              <a:t>frequency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translation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by</a:t>
            </a:r>
            <a:r>
              <a:rPr lang="de-CH" sz="2000" dirty="0">
                <a:solidFill>
                  <a:srgbClr val="0000FF"/>
                </a:solidFill>
              </a:rPr>
              <a:t> ±</a:t>
            </a:r>
            <a:r>
              <a:rPr lang="de-CH" sz="2000" dirty="0" err="1">
                <a:solidFill>
                  <a:srgbClr val="0000FF"/>
                </a:solidFill>
              </a:rPr>
              <a:t>f</a:t>
            </a:r>
            <a:r>
              <a:rPr lang="de-CH" sz="2000" baseline="-25000" dirty="0" err="1">
                <a:solidFill>
                  <a:srgbClr val="0000FF"/>
                </a:solidFill>
              </a:rPr>
              <a:t>c</a:t>
            </a:r>
            <a:r>
              <a:rPr lang="de-CH" sz="2000" baseline="-25000" dirty="0">
                <a:solidFill>
                  <a:srgbClr val="0000FF"/>
                </a:solidFill>
              </a:rPr>
              <a:t> </a:t>
            </a:r>
            <a:r>
              <a:rPr lang="de-CH" sz="2000" dirty="0"/>
              <a:t>(</a:t>
            </a:r>
            <a:r>
              <a:rPr lang="de-CH" sz="2000" dirty="0" err="1"/>
              <a:t>see</a:t>
            </a:r>
            <a:r>
              <a:rPr lang="de-CH" sz="2000" dirty="0"/>
              <a:t> the </a:t>
            </a:r>
            <a:r>
              <a:rPr lang="de-CH" sz="2000" dirty="0" err="1"/>
              <a:t>following</a:t>
            </a:r>
            <a:r>
              <a:rPr lang="de-CH" sz="2000" dirty="0"/>
              <a:t> </a:t>
            </a:r>
            <a:r>
              <a:rPr lang="de-CH" sz="2000" dirty="0" err="1"/>
              <a:t>spectra</a:t>
            </a:r>
            <a:r>
              <a:rPr lang="de-CH" sz="2000" dirty="0"/>
              <a:t>) </a:t>
            </a:r>
            <a:endParaRPr lang="de-DE" sz="2000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8D647FD-6EA0-4D7F-B920-2D2579773BDE}"/>
              </a:ext>
            </a:extLst>
          </p:cNvPr>
          <p:cNvCxnSpPr>
            <a:cxnSpLocks/>
          </p:cNvCxnSpPr>
          <p:nvPr/>
        </p:nvCxnSpPr>
        <p:spPr>
          <a:xfrm>
            <a:off x="1323319" y="4664451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E16316C-A63C-4F70-8976-5AD5945AB09B}"/>
              </a:ext>
            </a:extLst>
          </p:cNvPr>
          <p:cNvCxnSpPr>
            <a:cxnSpLocks/>
          </p:cNvCxnSpPr>
          <p:nvPr/>
        </p:nvCxnSpPr>
        <p:spPr>
          <a:xfrm flipV="1">
            <a:off x="4464139" y="4016379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E2FD641C-5CB5-4F78-8723-D64DBBB64206}"/>
              </a:ext>
            </a:extLst>
          </p:cNvPr>
          <p:cNvSpPr txBox="1"/>
          <p:nvPr/>
        </p:nvSpPr>
        <p:spPr>
          <a:xfrm>
            <a:off x="4182240" y="3709025"/>
            <a:ext cx="577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IY(f)I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F15C902-BE94-4A94-949E-1268CA1E191C}"/>
              </a:ext>
            </a:extLst>
          </p:cNvPr>
          <p:cNvCxnSpPr/>
          <p:nvPr/>
        </p:nvCxnSpPr>
        <p:spPr>
          <a:xfrm>
            <a:off x="5833051" y="4600067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6AA4AE43-12F1-438E-BFC2-08E3C31AB3C8}"/>
              </a:ext>
            </a:extLst>
          </p:cNvPr>
          <p:cNvSpPr txBox="1"/>
          <p:nvPr/>
        </p:nvSpPr>
        <p:spPr>
          <a:xfrm>
            <a:off x="5703787" y="4660870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FDFF0965-C779-4A0F-9CCD-67CB2B34DB0E}"/>
              </a:ext>
            </a:extLst>
          </p:cNvPr>
          <p:cNvCxnSpPr/>
          <p:nvPr/>
        </p:nvCxnSpPr>
        <p:spPr>
          <a:xfrm>
            <a:off x="7201203" y="460997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E77BB0D0-65E6-487C-ACB7-8B4C8995D089}"/>
              </a:ext>
            </a:extLst>
          </p:cNvPr>
          <p:cNvCxnSpPr/>
          <p:nvPr/>
        </p:nvCxnSpPr>
        <p:spPr>
          <a:xfrm>
            <a:off x="1728595" y="4592827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64ADDF9-2629-4170-B1C7-39F8AD68970B}"/>
              </a:ext>
            </a:extLst>
          </p:cNvPr>
          <p:cNvCxnSpPr/>
          <p:nvPr/>
        </p:nvCxnSpPr>
        <p:spPr>
          <a:xfrm>
            <a:off x="3096747" y="460273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3D01185-55CB-43AD-B0B6-FED389C4B14B}"/>
              </a:ext>
            </a:extLst>
          </p:cNvPr>
          <p:cNvCxnSpPr>
            <a:cxnSpLocks/>
          </p:cNvCxnSpPr>
          <p:nvPr/>
        </p:nvCxnSpPr>
        <p:spPr>
          <a:xfrm>
            <a:off x="1323319" y="6320635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B45AF81E-5CC9-4031-A95D-0F9A85A602D2}"/>
              </a:ext>
            </a:extLst>
          </p:cNvPr>
          <p:cNvCxnSpPr>
            <a:cxnSpLocks/>
          </p:cNvCxnSpPr>
          <p:nvPr/>
        </p:nvCxnSpPr>
        <p:spPr>
          <a:xfrm flipV="1">
            <a:off x="4464139" y="5672563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DDED927-AE85-414D-8610-81B2A6292DBF}"/>
              </a:ext>
            </a:extLst>
          </p:cNvPr>
          <p:cNvCxnSpPr/>
          <p:nvPr/>
        </p:nvCxnSpPr>
        <p:spPr>
          <a:xfrm>
            <a:off x="5833051" y="625625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15E4DCE3-3107-437A-B012-3F72B8AED271}"/>
              </a:ext>
            </a:extLst>
          </p:cNvPr>
          <p:cNvSpPr txBox="1"/>
          <p:nvPr/>
        </p:nvSpPr>
        <p:spPr>
          <a:xfrm>
            <a:off x="5703787" y="6317054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5AE0ECBC-E38F-4627-A6CB-F105C7CE1328}"/>
              </a:ext>
            </a:extLst>
          </p:cNvPr>
          <p:cNvCxnSpPr/>
          <p:nvPr/>
        </p:nvCxnSpPr>
        <p:spPr>
          <a:xfrm>
            <a:off x="7201203" y="626615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F69C3B50-BEE8-4152-8724-148B2B0BC7A3}"/>
              </a:ext>
            </a:extLst>
          </p:cNvPr>
          <p:cNvCxnSpPr/>
          <p:nvPr/>
        </p:nvCxnSpPr>
        <p:spPr>
          <a:xfrm>
            <a:off x="1728595" y="624901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2941A46E-F012-440D-99BD-2DC5EFB5D589}"/>
              </a:ext>
            </a:extLst>
          </p:cNvPr>
          <p:cNvCxnSpPr/>
          <p:nvPr/>
        </p:nvCxnSpPr>
        <p:spPr>
          <a:xfrm>
            <a:off x="3096747" y="625891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3F0C9F53-4E37-44DE-8F36-0FCD1B110E4D}"/>
              </a:ext>
            </a:extLst>
          </p:cNvPr>
          <p:cNvCxnSpPr>
            <a:cxnSpLocks/>
          </p:cNvCxnSpPr>
          <p:nvPr/>
        </p:nvCxnSpPr>
        <p:spPr>
          <a:xfrm>
            <a:off x="5742755" y="4016379"/>
            <a:ext cx="0" cy="6484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9B08BA13-EEAD-483C-B26E-87D387E5FFFC}"/>
              </a:ext>
            </a:extLst>
          </p:cNvPr>
          <p:cNvCxnSpPr>
            <a:cxnSpLocks/>
          </p:cNvCxnSpPr>
          <p:nvPr/>
        </p:nvCxnSpPr>
        <p:spPr>
          <a:xfrm>
            <a:off x="3205331" y="4016379"/>
            <a:ext cx="0" cy="657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A948B543-03A6-43AD-8994-3515CC78BC12}"/>
              </a:ext>
            </a:extLst>
          </p:cNvPr>
          <p:cNvCxnSpPr/>
          <p:nvPr/>
        </p:nvCxnSpPr>
        <p:spPr>
          <a:xfrm>
            <a:off x="4567901" y="5921198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90A54A24-0535-4413-ABF6-83B5CA10EF30}"/>
              </a:ext>
            </a:extLst>
          </p:cNvPr>
          <p:cNvCxnSpPr/>
          <p:nvPr/>
        </p:nvCxnSpPr>
        <p:spPr>
          <a:xfrm>
            <a:off x="4374603" y="5921198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ACA5F52-FE2B-4BE8-B275-A615746B9340}"/>
              </a:ext>
            </a:extLst>
          </p:cNvPr>
          <p:cNvCxnSpPr/>
          <p:nvPr/>
        </p:nvCxnSpPr>
        <p:spPr>
          <a:xfrm>
            <a:off x="3205331" y="4736076"/>
            <a:ext cx="1362570" cy="1130642"/>
          </a:xfrm>
          <a:prstGeom prst="straightConnector1">
            <a:avLst/>
          </a:prstGeom>
          <a:ln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3FCF3AE-B024-4072-9E9D-51443811EA04}"/>
              </a:ext>
            </a:extLst>
          </p:cNvPr>
          <p:cNvCxnSpPr/>
          <p:nvPr/>
        </p:nvCxnSpPr>
        <p:spPr>
          <a:xfrm>
            <a:off x="7093763" y="5921198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52526731-3CE3-49F9-AB1E-8572B431B559}"/>
              </a:ext>
            </a:extLst>
          </p:cNvPr>
          <p:cNvCxnSpPr/>
          <p:nvPr/>
        </p:nvCxnSpPr>
        <p:spPr>
          <a:xfrm>
            <a:off x="1800603" y="5921198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88EA7281-CD5E-4A93-BB3D-9261682BCE4B}"/>
              </a:ext>
            </a:extLst>
          </p:cNvPr>
          <p:cNvCxnSpPr>
            <a:cxnSpLocks/>
          </p:cNvCxnSpPr>
          <p:nvPr/>
        </p:nvCxnSpPr>
        <p:spPr>
          <a:xfrm flipH="1">
            <a:off x="1800603" y="4732875"/>
            <a:ext cx="1386441" cy="11338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17EBF107-43AE-4F85-8EA9-6FA7FA82E6B4}"/>
              </a:ext>
            </a:extLst>
          </p:cNvPr>
          <p:cNvSpPr txBox="1"/>
          <p:nvPr/>
        </p:nvSpPr>
        <p:spPr>
          <a:xfrm>
            <a:off x="7737273" y="4494034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7C9EF78-3A4C-4C49-815E-5BBABA86B2BD}"/>
              </a:ext>
            </a:extLst>
          </p:cNvPr>
          <p:cNvSpPr txBox="1"/>
          <p:nvPr/>
        </p:nvSpPr>
        <p:spPr>
          <a:xfrm>
            <a:off x="7725682" y="6143625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7B7501DC-E760-47CE-B016-E2A74B80CD99}"/>
              </a:ext>
            </a:extLst>
          </p:cNvPr>
          <p:cNvCxnSpPr/>
          <p:nvPr/>
        </p:nvCxnSpPr>
        <p:spPr>
          <a:xfrm>
            <a:off x="5712743" y="4695083"/>
            <a:ext cx="1362570" cy="1130642"/>
          </a:xfrm>
          <a:prstGeom prst="straightConnector1">
            <a:avLst/>
          </a:prstGeom>
          <a:ln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DF8A269E-1202-4929-A188-2ED6BB1471FD}"/>
              </a:ext>
            </a:extLst>
          </p:cNvPr>
          <p:cNvCxnSpPr>
            <a:cxnSpLocks/>
          </p:cNvCxnSpPr>
          <p:nvPr/>
        </p:nvCxnSpPr>
        <p:spPr>
          <a:xfrm flipH="1">
            <a:off x="4322930" y="4700547"/>
            <a:ext cx="1380857" cy="11594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59D1BAB2-9861-4AB0-A80B-FE0AA3025C03}"/>
              </a:ext>
            </a:extLst>
          </p:cNvPr>
          <p:cNvSpPr txBox="1"/>
          <p:nvPr/>
        </p:nvSpPr>
        <p:spPr>
          <a:xfrm>
            <a:off x="2089636" y="5063889"/>
            <a:ext cx="502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-</a:t>
            </a:r>
            <a:r>
              <a:rPr lang="de-CH" sz="1600" dirty="0" err="1">
                <a:solidFill>
                  <a:srgbClr val="FF0000"/>
                </a:solidFill>
              </a:rPr>
              <a:t>f</a:t>
            </a:r>
            <a:r>
              <a:rPr lang="de-CH" sz="1600" baseline="-25000" dirty="0" err="1">
                <a:solidFill>
                  <a:srgbClr val="FF0000"/>
                </a:solidFill>
              </a:rPr>
              <a:t>c</a:t>
            </a:r>
            <a:r>
              <a:rPr lang="de-CH" sz="1800" baseline="-25000" dirty="0">
                <a:solidFill>
                  <a:srgbClr val="FF0000"/>
                </a:solidFill>
              </a:rPr>
              <a:t> 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12351978-64BF-4455-A2A3-1C220B2E43B6}"/>
              </a:ext>
            </a:extLst>
          </p:cNvPr>
          <p:cNvSpPr txBox="1"/>
          <p:nvPr/>
        </p:nvSpPr>
        <p:spPr>
          <a:xfrm>
            <a:off x="4586188" y="5074122"/>
            <a:ext cx="502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-</a:t>
            </a:r>
            <a:r>
              <a:rPr lang="de-CH" sz="1600" dirty="0" err="1">
                <a:solidFill>
                  <a:srgbClr val="FF0000"/>
                </a:solidFill>
              </a:rPr>
              <a:t>f</a:t>
            </a:r>
            <a:r>
              <a:rPr lang="de-CH" sz="1600" baseline="-25000" dirty="0" err="1">
                <a:solidFill>
                  <a:srgbClr val="FF0000"/>
                </a:solidFill>
              </a:rPr>
              <a:t>c</a:t>
            </a:r>
            <a:r>
              <a:rPr lang="de-CH" sz="1800" baseline="-25000" dirty="0">
                <a:solidFill>
                  <a:srgbClr val="FF0000"/>
                </a:solidFill>
              </a:rPr>
              <a:t> 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CCE54A41-06C5-488B-8BEF-592EAF278416}"/>
              </a:ext>
            </a:extLst>
          </p:cNvPr>
          <p:cNvSpPr txBox="1"/>
          <p:nvPr/>
        </p:nvSpPr>
        <p:spPr>
          <a:xfrm>
            <a:off x="3887656" y="5095600"/>
            <a:ext cx="502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dirty="0">
                <a:solidFill>
                  <a:srgbClr val="008000"/>
                </a:solidFill>
              </a:rPr>
              <a:t>+</a:t>
            </a:r>
            <a:r>
              <a:rPr lang="de-CH" sz="1600" dirty="0" err="1">
                <a:solidFill>
                  <a:srgbClr val="008000"/>
                </a:solidFill>
              </a:rPr>
              <a:t>f</a:t>
            </a:r>
            <a:r>
              <a:rPr lang="de-CH" sz="1600" baseline="-25000" dirty="0" err="1">
                <a:solidFill>
                  <a:srgbClr val="008000"/>
                </a:solidFill>
              </a:rPr>
              <a:t>c</a:t>
            </a:r>
            <a:r>
              <a:rPr lang="de-CH" sz="1800" baseline="-25000" dirty="0">
                <a:solidFill>
                  <a:srgbClr val="008000"/>
                </a:solidFill>
              </a:rPr>
              <a:t> </a:t>
            </a:r>
            <a:endParaRPr lang="de-CH" dirty="0">
              <a:solidFill>
                <a:srgbClr val="008000"/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D3F214D-CE17-445B-BA99-C39A7570466F}"/>
              </a:ext>
            </a:extLst>
          </p:cNvPr>
          <p:cNvSpPr txBox="1"/>
          <p:nvPr/>
        </p:nvSpPr>
        <p:spPr>
          <a:xfrm>
            <a:off x="6533472" y="5121393"/>
            <a:ext cx="502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dirty="0">
                <a:solidFill>
                  <a:srgbClr val="008000"/>
                </a:solidFill>
              </a:rPr>
              <a:t>+</a:t>
            </a:r>
            <a:r>
              <a:rPr lang="de-CH" sz="1600" dirty="0" err="1">
                <a:solidFill>
                  <a:srgbClr val="008000"/>
                </a:solidFill>
              </a:rPr>
              <a:t>f</a:t>
            </a:r>
            <a:r>
              <a:rPr lang="de-CH" sz="1600" baseline="-25000" dirty="0" err="1">
                <a:solidFill>
                  <a:srgbClr val="008000"/>
                </a:solidFill>
              </a:rPr>
              <a:t>c</a:t>
            </a:r>
            <a:r>
              <a:rPr lang="de-CH" sz="1800" baseline="-25000" dirty="0">
                <a:solidFill>
                  <a:srgbClr val="008000"/>
                </a:solidFill>
              </a:rPr>
              <a:t> </a:t>
            </a:r>
            <a:endParaRPr lang="de-CH" dirty="0">
              <a:solidFill>
                <a:srgbClr val="008000"/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A27B2C20-FA14-4EB0-9B92-4A9AD9BD061D}"/>
              </a:ext>
            </a:extLst>
          </p:cNvPr>
          <p:cNvSpPr txBox="1"/>
          <p:nvPr/>
        </p:nvSpPr>
        <p:spPr>
          <a:xfrm>
            <a:off x="4449259" y="6293693"/>
            <a:ext cx="694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Doppler</a:t>
            </a:r>
            <a:endParaRPr lang="de-CH" sz="1600" baseline="-25000" dirty="0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3E098F22-A1F5-48A6-BAEB-BB196D5D5425}"/>
              </a:ext>
            </a:extLst>
          </p:cNvPr>
          <p:cNvSpPr txBox="1"/>
          <p:nvPr/>
        </p:nvSpPr>
        <p:spPr>
          <a:xfrm>
            <a:off x="6902979" y="580786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/>
              <a:t>X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622855C-9C4D-45C9-80B7-154FC9D5719B}"/>
              </a:ext>
            </a:extLst>
          </p:cNvPr>
          <p:cNvSpPr txBox="1"/>
          <p:nvPr/>
        </p:nvSpPr>
        <p:spPr>
          <a:xfrm>
            <a:off x="1607415" y="580786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/>
              <a:t>X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23A9226D-3C9F-4537-B7FA-5EA1D953848F}"/>
              </a:ext>
            </a:extLst>
          </p:cNvPr>
          <p:cNvSpPr txBox="1"/>
          <p:nvPr/>
        </p:nvSpPr>
        <p:spPr>
          <a:xfrm>
            <a:off x="7142118" y="5921034"/>
            <a:ext cx="788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filtered</a:t>
            </a:r>
            <a:endParaRPr lang="de-CH" sz="1600" baseline="-25000" dirty="0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DC6C19B4-B0B7-4A32-AF8E-C53041E52036}"/>
              </a:ext>
            </a:extLst>
          </p:cNvPr>
          <p:cNvSpPr txBox="1"/>
          <p:nvPr/>
        </p:nvSpPr>
        <p:spPr>
          <a:xfrm>
            <a:off x="4184699" y="5384539"/>
            <a:ext cx="529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II(f)I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2F1C1EF1-00E9-402B-AE53-96DAFFAD0308}"/>
              </a:ext>
            </a:extLst>
          </p:cNvPr>
          <p:cNvSpPr txBox="1"/>
          <p:nvPr/>
        </p:nvSpPr>
        <p:spPr>
          <a:xfrm>
            <a:off x="5354849" y="3702130"/>
            <a:ext cx="99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r>
              <a:rPr lang="de-CH" sz="1600" dirty="0"/>
              <a:t> - </a:t>
            </a:r>
            <a:r>
              <a:rPr lang="de-CH" sz="1600" dirty="0" err="1"/>
              <a:t>f</a:t>
            </a:r>
            <a:r>
              <a:rPr lang="de-CH" sz="1600" baseline="-25000" dirty="0" err="1"/>
              <a:t>Doppler</a:t>
            </a:r>
            <a:endParaRPr lang="de-CH" sz="1600" baseline="-25000" dirty="0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2AE306DD-364B-40A4-BC59-C30F8492EAAF}"/>
              </a:ext>
            </a:extLst>
          </p:cNvPr>
          <p:cNvSpPr txBox="1"/>
          <p:nvPr/>
        </p:nvSpPr>
        <p:spPr>
          <a:xfrm>
            <a:off x="5788231" y="4097764"/>
            <a:ext cx="3425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moves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away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the radar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(v&lt;0) </a:t>
            </a:r>
            <a:b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causes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a negative Doppler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802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">
            <a:extLst>
              <a:ext uri="{FF2B5EF4-FFF2-40B4-BE49-F238E27FC236}">
                <a16:creationId xmlns:a16="http://schemas.microsoft.com/office/drawing/2014/main" id="{D0BD61AA-56EB-4CCD-9E21-C866346E5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CC7E60DC-51D4-4504-9BDE-3895DC1B7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1709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Exercise</a:t>
            </a:r>
            <a:r>
              <a:rPr lang="de-CH" altLang="de-DE" sz="2400" b="1" dirty="0">
                <a:solidFill>
                  <a:srgbClr val="003399"/>
                </a:solidFill>
              </a:rPr>
              <a:t> 1</a:t>
            </a:r>
            <a:endParaRPr lang="de-CH" altLang="de-DE" sz="1600" b="1" dirty="0">
              <a:solidFill>
                <a:srgbClr val="003399"/>
              </a:solidFill>
              <a:highlight>
                <a:srgbClr val="FFFF00"/>
              </a:highlight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4858AE5-441F-4FFC-A41F-6CCD9CB56036}"/>
              </a:ext>
            </a:extLst>
          </p:cNvPr>
          <p:cNvSpPr txBox="1"/>
          <p:nvPr/>
        </p:nvSpPr>
        <p:spPr>
          <a:xfrm>
            <a:off x="339936" y="1124744"/>
            <a:ext cx="7218643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Assume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moves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towards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the radar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(v&gt;0) 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and,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thus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causes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a positive Doppler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&gt;0)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the following diagram, sketch the magnitude spectra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IY(f)I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reflected radar signal y(t) and </a:t>
            </a:r>
            <a:endParaRPr lang="de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II(f)I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analog radar-sensor output signal I(t)</a:t>
            </a:r>
            <a:endParaRPr lang="de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38">
            <a:extLst>
              <a:ext uri="{FF2B5EF4-FFF2-40B4-BE49-F238E27FC236}">
                <a16:creationId xmlns:a16="http://schemas.microsoft.com/office/drawing/2014/main" id="{19D6728F-F5FB-4867-8179-A91B5419F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093296"/>
            <a:ext cx="86389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1600" dirty="0">
                <a:solidFill>
                  <a:srgbClr val="FF0000"/>
                </a:solidFill>
              </a:rPr>
              <a:t>Please </a:t>
            </a:r>
            <a:r>
              <a:rPr lang="de-CH" sz="1600" dirty="0" err="1">
                <a:solidFill>
                  <a:srgbClr val="FF0000"/>
                </a:solidFill>
              </a:rPr>
              <a:t>verify</a:t>
            </a:r>
            <a:r>
              <a:rPr lang="de-CH" sz="1600" dirty="0">
                <a:solidFill>
                  <a:srgbClr val="FF0000"/>
                </a:solidFill>
              </a:rPr>
              <a:t> </a:t>
            </a:r>
            <a:r>
              <a:rPr lang="de-CH" sz="1600" dirty="0" err="1">
                <a:solidFill>
                  <a:srgbClr val="FF0000"/>
                </a:solidFill>
              </a:rPr>
              <a:t>that</a:t>
            </a:r>
            <a:r>
              <a:rPr lang="de-CH" sz="1600" dirty="0">
                <a:solidFill>
                  <a:srgbClr val="FF0000"/>
                </a:solidFill>
              </a:rPr>
              <a:t> the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Doppler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 and,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hence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distinguished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!</a:t>
            </a:r>
            <a:endParaRPr lang="de-CH" sz="16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07D976F-8A32-4295-A54A-904F020E5DEA}"/>
              </a:ext>
            </a:extLst>
          </p:cNvPr>
          <p:cNvCxnSpPr>
            <a:cxnSpLocks/>
          </p:cNvCxnSpPr>
          <p:nvPr/>
        </p:nvCxnSpPr>
        <p:spPr>
          <a:xfrm>
            <a:off x="755576" y="4024386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9AB4072C-0292-4CC9-B236-C78B13AD072E}"/>
              </a:ext>
            </a:extLst>
          </p:cNvPr>
          <p:cNvCxnSpPr>
            <a:cxnSpLocks/>
          </p:cNvCxnSpPr>
          <p:nvPr/>
        </p:nvCxnSpPr>
        <p:spPr>
          <a:xfrm flipV="1">
            <a:off x="3896396" y="3376314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2E91E420-1042-426B-9C79-FDF1B75F8C06}"/>
              </a:ext>
            </a:extLst>
          </p:cNvPr>
          <p:cNvSpPr txBox="1"/>
          <p:nvPr/>
        </p:nvSpPr>
        <p:spPr>
          <a:xfrm>
            <a:off x="3614497" y="3068960"/>
            <a:ext cx="577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IY(f)I</a:t>
            </a: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86D6C1D4-439D-4B13-9934-4D24186AC43B}"/>
              </a:ext>
            </a:extLst>
          </p:cNvPr>
          <p:cNvCxnSpPr/>
          <p:nvPr/>
        </p:nvCxnSpPr>
        <p:spPr>
          <a:xfrm>
            <a:off x="5265308" y="3960002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92A2E1F2-F4E4-4F4C-83E2-32BBB6B573EC}"/>
              </a:ext>
            </a:extLst>
          </p:cNvPr>
          <p:cNvSpPr txBox="1"/>
          <p:nvPr/>
        </p:nvSpPr>
        <p:spPr>
          <a:xfrm>
            <a:off x="5136044" y="4020805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F8BF437-8934-48FF-A4B0-120D20D1651D}"/>
              </a:ext>
            </a:extLst>
          </p:cNvPr>
          <p:cNvCxnSpPr/>
          <p:nvPr/>
        </p:nvCxnSpPr>
        <p:spPr>
          <a:xfrm>
            <a:off x="6633460" y="3969906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BC874C5-726E-428F-A02D-E6D642289A46}"/>
              </a:ext>
            </a:extLst>
          </p:cNvPr>
          <p:cNvCxnSpPr/>
          <p:nvPr/>
        </p:nvCxnSpPr>
        <p:spPr>
          <a:xfrm>
            <a:off x="1160852" y="3952762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DFA242F-A44C-4B67-B8E9-4846D4173F1E}"/>
              </a:ext>
            </a:extLst>
          </p:cNvPr>
          <p:cNvCxnSpPr/>
          <p:nvPr/>
        </p:nvCxnSpPr>
        <p:spPr>
          <a:xfrm>
            <a:off x="2529004" y="3962666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7D33FCF-0A99-44E3-BA6E-C5A9D13BCF97}"/>
              </a:ext>
            </a:extLst>
          </p:cNvPr>
          <p:cNvCxnSpPr>
            <a:cxnSpLocks/>
          </p:cNvCxnSpPr>
          <p:nvPr/>
        </p:nvCxnSpPr>
        <p:spPr>
          <a:xfrm>
            <a:off x="755576" y="5373208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8736B35A-E694-4D03-B057-5A6DEF1A8579}"/>
              </a:ext>
            </a:extLst>
          </p:cNvPr>
          <p:cNvCxnSpPr>
            <a:cxnSpLocks/>
          </p:cNvCxnSpPr>
          <p:nvPr/>
        </p:nvCxnSpPr>
        <p:spPr>
          <a:xfrm flipV="1">
            <a:off x="3896396" y="4725136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440FC84-08FA-4995-A4A0-7932F20BEEC4}"/>
              </a:ext>
            </a:extLst>
          </p:cNvPr>
          <p:cNvCxnSpPr/>
          <p:nvPr/>
        </p:nvCxnSpPr>
        <p:spPr>
          <a:xfrm>
            <a:off x="5265308" y="5308824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415E6A4B-316A-41A1-964A-AEAB73C76DC3}"/>
              </a:ext>
            </a:extLst>
          </p:cNvPr>
          <p:cNvSpPr txBox="1"/>
          <p:nvPr/>
        </p:nvSpPr>
        <p:spPr>
          <a:xfrm>
            <a:off x="5136044" y="5369627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CB4F8EC6-C93D-4E35-A41D-BC1880637533}"/>
              </a:ext>
            </a:extLst>
          </p:cNvPr>
          <p:cNvCxnSpPr/>
          <p:nvPr/>
        </p:nvCxnSpPr>
        <p:spPr>
          <a:xfrm>
            <a:off x="6633460" y="5318728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BC7498E-2554-4C00-ACC1-7D3D0C7B8F24}"/>
              </a:ext>
            </a:extLst>
          </p:cNvPr>
          <p:cNvCxnSpPr/>
          <p:nvPr/>
        </p:nvCxnSpPr>
        <p:spPr>
          <a:xfrm>
            <a:off x="1160852" y="5301584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D62DEE20-0072-424A-8DA2-946DB628BC8D}"/>
              </a:ext>
            </a:extLst>
          </p:cNvPr>
          <p:cNvCxnSpPr/>
          <p:nvPr/>
        </p:nvCxnSpPr>
        <p:spPr>
          <a:xfrm>
            <a:off x="2529004" y="5311488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C3557EB1-419F-4257-9C40-D32E33A8FD69}"/>
              </a:ext>
            </a:extLst>
          </p:cNvPr>
          <p:cNvSpPr txBox="1"/>
          <p:nvPr/>
        </p:nvSpPr>
        <p:spPr>
          <a:xfrm>
            <a:off x="7169530" y="3853969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ED7F150-A8F0-4AAD-B919-3FD81323285D}"/>
              </a:ext>
            </a:extLst>
          </p:cNvPr>
          <p:cNvSpPr txBox="1"/>
          <p:nvPr/>
        </p:nvSpPr>
        <p:spPr>
          <a:xfrm>
            <a:off x="7157939" y="5196198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287E9F09-40E6-4348-9B4C-65DF4D296886}"/>
              </a:ext>
            </a:extLst>
          </p:cNvPr>
          <p:cNvSpPr txBox="1"/>
          <p:nvPr/>
        </p:nvSpPr>
        <p:spPr>
          <a:xfrm>
            <a:off x="3881516" y="5385178"/>
            <a:ext cx="313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44B8ABC-9676-4CD9-8217-021A875B91B9}"/>
              </a:ext>
            </a:extLst>
          </p:cNvPr>
          <p:cNvSpPr txBox="1"/>
          <p:nvPr/>
        </p:nvSpPr>
        <p:spPr>
          <a:xfrm>
            <a:off x="3616956" y="4437112"/>
            <a:ext cx="529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II(f)I</a:t>
            </a:r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FD00182-2357-4EEB-B364-470B54310CCD}"/>
              </a:ext>
            </a:extLst>
          </p:cNvPr>
          <p:cNvCxnSpPr/>
          <p:nvPr/>
        </p:nvCxnSpPr>
        <p:spPr>
          <a:xfrm>
            <a:off x="4005664" y="5313117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32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DA2AB13A-0C4A-470F-A9B9-6E74E521DB45}"/>
              </a:ext>
            </a:extLst>
          </p:cNvPr>
          <p:cNvSpPr/>
          <p:nvPr/>
        </p:nvSpPr>
        <p:spPr>
          <a:xfrm>
            <a:off x="3607310" y="3629668"/>
            <a:ext cx="325175" cy="133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65B36BB2-4E55-4EC7-858D-B4EF0DD3F414}"/>
              </a:ext>
            </a:extLst>
          </p:cNvPr>
          <p:cNvSpPr/>
          <p:nvPr/>
        </p:nvSpPr>
        <p:spPr>
          <a:xfrm>
            <a:off x="3940773" y="3629668"/>
            <a:ext cx="325175" cy="1337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0D3BAB71-C9B6-41DE-8444-E94730FA7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11623"/>
            <a:ext cx="59785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de-CH" sz="2400" b="1" dirty="0">
                <a:solidFill>
                  <a:srgbClr val="003399"/>
                </a:solidFill>
              </a:rPr>
              <a:t>FFT-</a:t>
            </a:r>
            <a:r>
              <a:rPr lang="de-CH" sz="2400" b="1" dirty="0" err="1">
                <a:solidFill>
                  <a:srgbClr val="003399"/>
                </a:solidFill>
              </a:rPr>
              <a:t>based</a:t>
            </a:r>
            <a:r>
              <a:rPr lang="de-CH" sz="2400" b="1" dirty="0">
                <a:solidFill>
                  <a:srgbClr val="003399"/>
                </a:solidFill>
              </a:rPr>
              <a:t> Doppler </a:t>
            </a:r>
            <a:r>
              <a:rPr lang="de-CH" sz="2400" b="1" dirty="0" err="1">
                <a:solidFill>
                  <a:srgbClr val="003399"/>
                </a:solidFill>
              </a:rPr>
              <a:t>frequency</a:t>
            </a:r>
            <a:r>
              <a:rPr lang="de-CH" sz="2400" b="1" dirty="0">
                <a:solidFill>
                  <a:srgbClr val="003399"/>
                </a:solidFill>
              </a:rPr>
              <a:t> </a:t>
            </a:r>
            <a:r>
              <a:rPr lang="de-CH" sz="2400" b="1" dirty="0" err="1">
                <a:solidFill>
                  <a:srgbClr val="003399"/>
                </a:solidFill>
              </a:rPr>
              <a:t>detection</a:t>
            </a:r>
            <a:endParaRPr lang="de-DE" sz="2400" b="1" dirty="0">
              <a:solidFill>
                <a:srgbClr val="003399"/>
              </a:solidFill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9C1B7549-0FA3-4179-ABB3-39265EE56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CF3B689-18BE-4018-B29D-1D2305D02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7108"/>
            <a:ext cx="1853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>
                <a:solidFill>
                  <a:srgbClr val="0000FF"/>
                </a:solidFill>
              </a:rPr>
              <a:t>Review of FFT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0AC2A20-3338-4E16-9B89-8B43804DE5DB}"/>
              </a:ext>
            </a:extLst>
          </p:cNvPr>
          <p:cNvCxnSpPr>
            <a:cxnSpLocks/>
          </p:cNvCxnSpPr>
          <p:nvPr/>
        </p:nvCxnSpPr>
        <p:spPr>
          <a:xfrm>
            <a:off x="802773" y="3779661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72BF99C-C0D3-47F7-99E2-9664412C1366}"/>
              </a:ext>
            </a:extLst>
          </p:cNvPr>
          <p:cNvCxnSpPr>
            <a:cxnSpLocks/>
          </p:cNvCxnSpPr>
          <p:nvPr/>
        </p:nvCxnSpPr>
        <p:spPr>
          <a:xfrm flipV="1">
            <a:off x="3943593" y="3131589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455459E-F5E3-4D4C-9EE8-0D3E51D60D3A}"/>
              </a:ext>
            </a:extLst>
          </p:cNvPr>
          <p:cNvCxnSpPr/>
          <p:nvPr/>
        </p:nvCxnSpPr>
        <p:spPr>
          <a:xfrm>
            <a:off x="5312505" y="3715277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1EF0987C-36F4-46C9-8F73-BD50CC0E8294}"/>
              </a:ext>
            </a:extLst>
          </p:cNvPr>
          <p:cNvSpPr txBox="1"/>
          <p:nvPr/>
        </p:nvSpPr>
        <p:spPr>
          <a:xfrm>
            <a:off x="5183241" y="3776080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9209B72-7ADC-4DFF-9244-58CD12205E02}"/>
              </a:ext>
            </a:extLst>
          </p:cNvPr>
          <p:cNvCxnSpPr/>
          <p:nvPr/>
        </p:nvCxnSpPr>
        <p:spPr>
          <a:xfrm>
            <a:off x="6680657" y="372518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3E2F3F0-D69C-42A2-B50C-B448631232CE}"/>
              </a:ext>
            </a:extLst>
          </p:cNvPr>
          <p:cNvCxnSpPr/>
          <p:nvPr/>
        </p:nvCxnSpPr>
        <p:spPr>
          <a:xfrm>
            <a:off x="1208049" y="3708037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5F0C6136-0894-4F15-9DBD-096726C5143D}"/>
              </a:ext>
            </a:extLst>
          </p:cNvPr>
          <p:cNvCxnSpPr/>
          <p:nvPr/>
        </p:nvCxnSpPr>
        <p:spPr>
          <a:xfrm>
            <a:off x="2576201" y="371794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E19EAE4-E347-4F6F-BDDD-AFE94E91A013}"/>
              </a:ext>
            </a:extLst>
          </p:cNvPr>
          <p:cNvCxnSpPr/>
          <p:nvPr/>
        </p:nvCxnSpPr>
        <p:spPr>
          <a:xfrm>
            <a:off x="4047355" y="3380224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26303421-FD85-4F59-A023-492BEC976F68}"/>
              </a:ext>
            </a:extLst>
          </p:cNvPr>
          <p:cNvCxnSpPr/>
          <p:nvPr/>
        </p:nvCxnSpPr>
        <p:spPr>
          <a:xfrm>
            <a:off x="3835007" y="3380224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7DD6B749-A2DA-4A0C-8EEF-53592B87975A}"/>
              </a:ext>
            </a:extLst>
          </p:cNvPr>
          <p:cNvCxnSpPr/>
          <p:nvPr/>
        </p:nvCxnSpPr>
        <p:spPr>
          <a:xfrm>
            <a:off x="6573217" y="3380224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AE84025-E152-48B6-B0FB-133B0E8EDA60}"/>
              </a:ext>
            </a:extLst>
          </p:cNvPr>
          <p:cNvCxnSpPr/>
          <p:nvPr/>
        </p:nvCxnSpPr>
        <p:spPr>
          <a:xfrm>
            <a:off x="1280057" y="3380224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489C38B4-A38A-4F91-8FF9-8A29D372F06B}"/>
              </a:ext>
            </a:extLst>
          </p:cNvPr>
          <p:cNvSpPr txBox="1"/>
          <p:nvPr/>
        </p:nvSpPr>
        <p:spPr>
          <a:xfrm>
            <a:off x="7205136" y="3602651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DC5B5BB-6EA8-431F-9227-DBC65D844BA3}"/>
              </a:ext>
            </a:extLst>
          </p:cNvPr>
          <p:cNvSpPr txBox="1"/>
          <p:nvPr/>
        </p:nvSpPr>
        <p:spPr>
          <a:xfrm>
            <a:off x="3928713" y="3752719"/>
            <a:ext cx="313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475CB86-45C3-4599-A1E6-276B9D5F0670}"/>
              </a:ext>
            </a:extLst>
          </p:cNvPr>
          <p:cNvSpPr txBox="1"/>
          <p:nvPr/>
        </p:nvSpPr>
        <p:spPr>
          <a:xfrm>
            <a:off x="6382433" y="3266894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/>
              <a:t>X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828EAD5-0544-4240-BECC-77E9D6D528AA}"/>
              </a:ext>
            </a:extLst>
          </p:cNvPr>
          <p:cNvSpPr txBox="1"/>
          <p:nvPr/>
        </p:nvSpPr>
        <p:spPr>
          <a:xfrm>
            <a:off x="1086869" y="3266894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/>
              <a:t>X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95000E8-2EA4-4851-AEC8-3EAC5D85AF9C}"/>
              </a:ext>
            </a:extLst>
          </p:cNvPr>
          <p:cNvSpPr txBox="1"/>
          <p:nvPr/>
        </p:nvSpPr>
        <p:spPr>
          <a:xfrm>
            <a:off x="6614005" y="3390004"/>
            <a:ext cx="788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filtered</a:t>
            </a:r>
            <a:endParaRPr lang="de-CH" sz="1600" baseline="-25000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EC42A8A-E01C-4080-810D-7A746C55780B}"/>
              </a:ext>
            </a:extLst>
          </p:cNvPr>
          <p:cNvSpPr txBox="1"/>
          <p:nvPr/>
        </p:nvSpPr>
        <p:spPr>
          <a:xfrm>
            <a:off x="3664153" y="2810148"/>
            <a:ext cx="529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II(f)I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2B445DA-AD8D-465D-A102-1B16C80D84B4}"/>
              </a:ext>
            </a:extLst>
          </p:cNvPr>
          <p:cNvCxnSpPr>
            <a:cxnSpLocks/>
          </p:cNvCxnSpPr>
          <p:nvPr/>
        </p:nvCxnSpPr>
        <p:spPr>
          <a:xfrm>
            <a:off x="1790889" y="6266531"/>
            <a:ext cx="19760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36093FA2-538E-4523-B3A2-05206B73DEFF}"/>
              </a:ext>
            </a:extLst>
          </p:cNvPr>
          <p:cNvCxnSpPr>
            <a:cxnSpLocks/>
          </p:cNvCxnSpPr>
          <p:nvPr/>
        </p:nvCxnSpPr>
        <p:spPr>
          <a:xfrm flipV="1">
            <a:off x="2084681" y="5618459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2B7743D3-DB92-4D7C-92FF-C2ACB1491169}"/>
              </a:ext>
            </a:extLst>
          </p:cNvPr>
          <p:cNvCxnSpPr/>
          <p:nvPr/>
        </p:nvCxnSpPr>
        <p:spPr>
          <a:xfrm>
            <a:off x="3444449" y="6202147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347F7D19-483C-4562-B16D-C9D396BABD73}"/>
              </a:ext>
            </a:extLst>
          </p:cNvPr>
          <p:cNvSpPr txBox="1"/>
          <p:nvPr/>
        </p:nvSpPr>
        <p:spPr>
          <a:xfrm>
            <a:off x="3326799" y="6258798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s</a:t>
            </a:r>
            <a:endParaRPr lang="de-CH" sz="1600" baseline="-25000" dirty="0"/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449CD36D-1E25-4F68-A738-3835D8DF1974}"/>
              </a:ext>
            </a:extLst>
          </p:cNvPr>
          <p:cNvCxnSpPr/>
          <p:nvPr/>
        </p:nvCxnSpPr>
        <p:spPr>
          <a:xfrm>
            <a:off x="3262864" y="5866714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1703CA9C-FB67-40B6-8682-FCCDDBB18931}"/>
              </a:ext>
            </a:extLst>
          </p:cNvPr>
          <p:cNvSpPr txBox="1"/>
          <p:nvPr/>
        </p:nvSpPr>
        <p:spPr>
          <a:xfrm>
            <a:off x="3748752" y="6096874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7129A03A-6FA3-40CB-A01B-1877205E92EF}"/>
              </a:ext>
            </a:extLst>
          </p:cNvPr>
          <p:cNvSpPr txBox="1"/>
          <p:nvPr/>
        </p:nvSpPr>
        <p:spPr>
          <a:xfrm>
            <a:off x="3024597" y="5546452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s</a:t>
            </a:r>
            <a:r>
              <a:rPr lang="de-CH" sz="1600" dirty="0" err="1"/>
              <a:t>-f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D3834318-ED5F-4E69-845C-84776F2CCE2D}"/>
              </a:ext>
            </a:extLst>
          </p:cNvPr>
          <p:cNvSpPr/>
          <p:nvPr/>
        </p:nvSpPr>
        <p:spPr>
          <a:xfrm>
            <a:off x="2758809" y="6138644"/>
            <a:ext cx="676426" cy="128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1A9395E-C59B-46E3-BE42-1294769EFAE3}"/>
              </a:ext>
            </a:extLst>
          </p:cNvPr>
          <p:cNvSpPr/>
          <p:nvPr/>
        </p:nvSpPr>
        <p:spPr>
          <a:xfrm>
            <a:off x="2094791" y="6138644"/>
            <a:ext cx="676426" cy="128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33EE2285-2EFC-44AB-9550-E6BF09987AD3}"/>
              </a:ext>
            </a:extLst>
          </p:cNvPr>
          <p:cNvSpPr txBox="1"/>
          <p:nvPr/>
        </p:nvSpPr>
        <p:spPr>
          <a:xfrm>
            <a:off x="4279432" y="2997412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/2</a:t>
            </a:r>
            <a:endParaRPr lang="de-CH" sz="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0AFF5703-0AA8-4317-964D-671A2A5C301D}"/>
              </a:ext>
            </a:extLst>
          </p:cNvPr>
          <p:cNvCxnSpPr/>
          <p:nvPr/>
        </p:nvCxnSpPr>
        <p:spPr>
          <a:xfrm>
            <a:off x="2267744" y="5860456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1954CBD8-0E7E-4105-9202-A0AB35F6D1E5}"/>
              </a:ext>
            </a:extLst>
          </p:cNvPr>
          <p:cNvSpPr txBox="1"/>
          <p:nvPr/>
        </p:nvSpPr>
        <p:spPr>
          <a:xfrm>
            <a:off x="2134228" y="5569894"/>
            <a:ext cx="313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62" name="Rectangle 38">
            <a:extLst>
              <a:ext uri="{FF2B5EF4-FFF2-40B4-BE49-F238E27FC236}">
                <a16:creationId xmlns:a16="http://schemas.microsoft.com/office/drawing/2014/main" id="{46640408-0F8E-45FE-87EA-50F56E779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85" y="1628800"/>
            <a:ext cx="826861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/>
              <a:t>The FFT </a:t>
            </a:r>
            <a:r>
              <a:rPr lang="de-CH" sz="2000" dirty="0" err="1"/>
              <a:t>transforms</a:t>
            </a:r>
            <a:r>
              <a:rPr lang="de-CH" sz="2000" dirty="0"/>
              <a:t> N </a:t>
            </a:r>
            <a:r>
              <a:rPr lang="de-CH" sz="2000" dirty="0" err="1"/>
              <a:t>samples</a:t>
            </a:r>
            <a:r>
              <a:rPr lang="de-CH" sz="2000" dirty="0"/>
              <a:t> in the time-</a:t>
            </a:r>
            <a:r>
              <a:rPr lang="de-CH" sz="2000" dirty="0" err="1"/>
              <a:t>period</a:t>
            </a:r>
            <a:r>
              <a:rPr lang="de-CH" sz="2000" dirty="0"/>
              <a:t> [0,…,NT</a:t>
            </a:r>
            <a:r>
              <a:rPr lang="de-CH" sz="2000" baseline="-25000" dirty="0"/>
              <a:t>s</a:t>
            </a:r>
            <a:r>
              <a:rPr lang="de-CH" sz="2000" dirty="0"/>
              <a:t>) </a:t>
            </a:r>
            <a:r>
              <a:rPr lang="de-CH" sz="2000" dirty="0" err="1"/>
              <a:t>into</a:t>
            </a:r>
            <a:br>
              <a:rPr lang="de-CH" sz="2000" dirty="0"/>
            </a:br>
            <a:r>
              <a:rPr lang="de-CH" sz="2000" dirty="0"/>
              <a:t>N </a:t>
            </a:r>
            <a:r>
              <a:rPr lang="de-CH" sz="2000" dirty="0" err="1"/>
              <a:t>uniformly</a:t>
            </a:r>
            <a:r>
              <a:rPr lang="de-CH" sz="2000" dirty="0"/>
              <a:t> </a:t>
            </a:r>
            <a:r>
              <a:rPr lang="de-CH" sz="2000" dirty="0" err="1"/>
              <a:t>distributed</a:t>
            </a:r>
            <a:r>
              <a:rPr lang="de-CH" sz="2000" dirty="0"/>
              <a:t> (</a:t>
            </a:r>
            <a:r>
              <a:rPr lang="de-CH" sz="2000" dirty="0" err="1"/>
              <a:t>complex</a:t>
            </a:r>
            <a:r>
              <a:rPr lang="de-CH" sz="2000" dirty="0"/>
              <a:t>) </a:t>
            </a:r>
            <a:r>
              <a:rPr lang="de-CH" sz="2000" dirty="0" err="1"/>
              <a:t>spectral-values</a:t>
            </a:r>
            <a:r>
              <a:rPr lang="de-CH" sz="2000" dirty="0"/>
              <a:t> in the </a:t>
            </a:r>
            <a:r>
              <a:rPr lang="de-CH" sz="2000" dirty="0" err="1"/>
              <a:t>range</a:t>
            </a:r>
            <a:r>
              <a:rPr lang="de-CH" sz="2000" dirty="0"/>
              <a:t> [0,…,</a:t>
            </a:r>
            <a:r>
              <a:rPr lang="de-CH" sz="2000" dirty="0" err="1"/>
              <a:t>f</a:t>
            </a:r>
            <a:r>
              <a:rPr lang="de-CH" sz="2000" baseline="-25000" dirty="0" err="1"/>
              <a:t>s</a:t>
            </a:r>
            <a:r>
              <a:rPr lang="de-CH" sz="2000" dirty="0"/>
              <a:t>). </a:t>
            </a:r>
            <a:endParaRPr lang="de-DE" sz="1600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CA6293A9-B633-481A-B8BB-F1AF3FF9A54A}"/>
              </a:ext>
            </a:extLst>
          </p:cNvPr>
          <p:cNvSpPr txBox="1"/>
          <p:nvPr/>
        </p:nvSpPr>
        <p:spPr>
          <a:xfrm>
            <a:off x="1766645" y="5321500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II[m]I</a:t>
            </a:r>
          </a:p>
        </p:txBody>
      </p:sp>
      <p:sp>
        <p:nvSpPr>
          <p:cNvPr id="64" name="Rectangle 38">
            <a:extLst>
              <a:ext uri="{FF2B5EF4-FFF2-40B4-BE49-F238E27FC236}">
                <a16:creationId xmlns:a16="http://schemas.microsoft.com/office/drawing/2014/main" id="{906D1970-C37D-46AA-8166-C977B8EB6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452826"/>
            <a:ext cx="58913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 err="1">
                <a:solidFill>
                  <a:srgbClr val="0000FF"/>
                </a:solidFill>
              </a:rPr>
              <a:t>Spectrum</a:t>
            </a:r>
            <a:r>
              <a:rPr lang="de-CH" sz="2000" dirty="0">
                <a:solidFill>
                  <a:srgbClr val="0000FF"/>
                </a:solidFill>
              </a:rPr>
              <a:t> of analog radar </a:t>
            </a:r>
            <a:r>
              <a:rPr lang="de-CH" sz="2000" dirty="0" err="1">
                <a:solidFill>
                  <a:srgbClr val="0000FF"/>
                </a:solidFill>
              </a:rPr>
              <a:t>sensor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output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signal</a:t>
            </a:r>
            <a:r>
              <a:rPr lang="de-CH" sz="2000" dirty="0">
                <a:solidFill>
                  <a:srgbClr val="0000FF"/>
                </a:solidFill>
              </a:rPr>
              <a:t> I(t) 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26B30B90-AA0C-4BC6-A4F9-B52B0A46EB08}"/>
              </a:ext>
            </a:extLst>
          </p:cNvPr>
          <p:cNvCxnSpPr/>
          <p:nvPr/>
        </p:nvCxnSpPr>
        <p:spPr>
          <a:xfrm flipH="1">
            <a:off x="4275473" y="3247844"/>
            <a:ext cx="90028" cy="3357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38">
            <a:extLst>
              <a:ext uri="{FF2B5EF4-FFF2-40B4-BE49-F238E27FC236}">
                <a16:creationId xmlns:a16="http://schemas.microsoft.com/office/drawing/2014/main" id="{374D9C7B-F00F-4B50-9BFF-47BFDD8B6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181018"/>
            <a:ext cx="8094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>
                <a:solidFill>
                  <a:srgbClr val="0000FF"/>
                </a:solidFill>
              </a:rPr>
              <a:t>FFT-</a:t>
            </a:r>
            <a:r>
              <a:rPr lang="de-CH" sz="2000" dirty="0" err="1">
                <a:solidFill>
                  <a:srgbClr val="0000FF"/>
                </a:solidFill>
              </a:rPr>
              <a:t>spectrum</a:t>
            </a:r>
            <a:r>
              <a:rPr lang="de-CH" sz="2000" dirty="0">
                <a:solidFill>
                  <a:srgbClr val="0000FF"/>
                </a:solidFill>
              </a:rPr>
              <a:t> of the </a:t>
            </a:r>
            <a:r>
              <a:rPr lang="de-CH" sz="2000" dirty="0" err="1">
                <a:solidFill>
                  <a:srgbClr val="0000FF"/>
                </a:solidFill>
              </a:rPr>
              <a:t>sampled</a:t>
            </a:r>
            <a:r>
              <a:rPr lang="de-CH" sz="2000" dirty="0">
                <a:solidFill>
                  <a:srgbClr val="0000FF"/>
                </a:solidFill>
              </a:rPr>
              <a:t> radar </a:t>
            </a:r>
            <a:r>
              <a:rPr lang="de-CH" sz="2000" dirty="0" err="1">
                <a:solidFill>
                  <a:srgbClr val="0000FF"/>
                </a:solidFill>
              </a:rPr>
              <a:t>sensor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output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signal</a:t>
            </a:r>
            <a:r>
              <a:rPr lang="de-CH" sz="2000" dirty="0">
                <a:solidFill>
                  <a:srgbClr val="0000FF"/>
                </a:solidFill>
              </a:rPr>
              <a:t> I[n] = I(t=</a:t>
            </a:r>
            <a:r>
              <a:rPr lang="de-CH" sz="2000" dirty="0" err="1">
                <a:solidFill>
                  <a:srgbClr val="0000FF"/>
                </a:solidFill>
              </a:rPr>
              <a:t>nT</a:t>
            </a:r>
            <a:r>
              <a:rPr lang="de-CH" sz="2000" baseline="-25000" dirty="0" err="1">
                <a:solidFill>
                  <a:srgbClr val="0000FF"/>
                </a:solidFill>
              </a:rPr>
              <a:t>s</a:t>
            </a:r>
            <a:r>
              <a:rPr lang="de-CH" sz="2000" dirty="0">
                <a:solidFill>
                  <a:srgbClr val="0000FF"/>
                </a:solidFill>
              </a:rPr>
              <a:t>)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E42E083-94F3-4E61-BEAA-164190E947BF}"/>
              </a:ext>
            </a:extLst>
          </p:cNvPr>
          <p:cNvSpPr/>
          <p:nvPr/>
        </p:nvSpPr>
        <p:spPr>
          <a:xfrm>
            <a:off x="323850" y="4517873"/>
            <a:ext cx="28905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F9194C61-5914-4CE1-AE3F-9FCFD258CFE2}"/>
              </a:ext>
            </a:extLst>
          </p:cNvPr>
          <p:cNvCxnSpPr>
            <a:cxnSpLocks/>
          </p:cNvCxnSpPr>
          <p:nvPr/>
        </p:nvCxnSpPr>
        <p:spPr>
          <a:xfrm>
            <a:off x="5834236" y="6279936"/>
            <a:ext cx="19760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943BB589-5789-434F-9A0E-8693FE8AADBB}"/>
              </a:ext>
            </a:extLst>
          </p:cNvPr>
          <p:cNvCxnSpPr>
            <a:cxnSpLocks/>
          </p:cNvCxnSpPr>
          <p:nvPr/>
        </p:nvCxnSpPr>
        <p:spPr>
          <a:xfrm flipV="1">
            <a:off x="6731293" y="5622339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8E244A2F-AA26-42BA-A557-A803CB6D7324}"/>
              </a:ext>
            </a:extLst>
          </p:cNvPr>
          <p:cNvCxnSpPr/>
          <p:nvPr/>
        </p:nvCxnSpPr>
        <p:spPr>
          <a:xfrm>
            <a:off x="7408887" y="6206027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1D97197E-5986-473B-B91F-204E76111AA2}"/>
              </a:ext>
            </a:extLst>
          </p:cNvPr>
          <p:cNvCxnSpPr/>
          <p:nvPr/>
        </p:nvCxnSpPr>
        <p:spPr>
          <a:xfrm>
            <a:off x="6544791" y="5870594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60817433-0357-41DC-97BD-8DC2DFC5CAD8}"/>
              </a:ext>
            </a:extLst>
          </p:cNvPr>
          <p:cNvSpPr txBox="1"/>
          <p:nvPr/>
        </p:nvSpPr>
        <p:spPr>
          <a:xfrm>
            <a:off x="7781200" y="6100754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D1E90CF7-9E22-462A-A8FC-72EAEC7F67FF}"/>
              </a:ext>
            </a:extLst>
          </p:cNvPr>
          <p:cNvSpPr txBox="1"/>
          <p:nvPr/>
        </p:nvSpPr>
        <p:spPr>
          <a:xfrm>
            <a:off x="6308877" y="5553575"/>
            <a:ext cx="376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-</a:t>
            </a:r>
            <a:r>
              <a:rPr lang="de-CH" sz="1600" dirty="0" err="1"/>
              <a:t>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C7ADBF09-9C14-4771-96BA-C286AE9AE259}"/>
              </a:ext>
            </a:extLst>
          </p:cNvPr>
          <p:cNvSpPr/>
          <p:nvPr/>
        </p:nvSpPr>
        <p:spPr>
          <a:xfrm>
            <a:off x="6040735" y="6142524"/>
            <a:ext cx="676426" cy="128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E966B56C-81ED-41A0-A46D-0D829A31FBB8}"/>
              </a:ext>
            </a:extLst>
          </p:cNvPr>
          <p:cNvSpPr/>
          <p:nvPr/>
        </p:nvSpPr>
        <p:spPr>
          <a:xfrm>
            <a:off x="6722353" y="6142524"/>
            <a:ext cx="676426" cy="128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285C71CF-C871-4B80-9728-11E1DF9E9C5C}"/>
              </a:ext>
            </a:extLst>
          </p:cNvPr>
          <p:cNvCxnSpPr/>
          <p:nvPr/>
        </p:nvCxnSpPr>
        <p:spPr>
          <a:xfrm>
            <a:off x="6914356" y="5864336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A25C95DD-E969-4EA6-BA17-54B8A16897DF}"/>
              </a:ext>
            </a:extLst>
          </p:cNvPr>
          <p:cNvSpPr txBox="1"/>
          <p:nvPr/>
        </p:nvSpPr>
        <p:spPr>
          <a:xfrm>
            <a:off x="6780840" y="5545807"/>
            <a:ext cx="313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040921A-AFB2-4A8E-9BEB-696D845F5144}"/>
              </a:ext>
            </a:extLst>
          </p:cNvPr>
          <p:cNvSpPr/>
          <p:nvPr/>
        </p:nvSpPr>
        <p:spPr>
          <a:xfrm>
            <a:off x="4427984" y="4833209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Zero-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shifted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spectrum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fftshift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F08982C1-4D55-4934-BBCE-B157BE17E632}"/>
              </a:ext>
            </a:extLst>
          </p:cNvPr>
          <p:cNvSpPr txBox="1"/>
          <p:nvPr/>
        </p:nvSpPr>
        <p:spPr>
          <a:xfrm>
            <a:off x="7245713" y="6293951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/2</a:t>
            </a:r>
            <a:endParaRPr lang="de-CH" sz="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feil: nach oben gebogen 3">
            <a:extLst>
              <a:ext uri="{FF2B5EF4-FFF2-40B4-BE49-F238E27FC236}">
                <a16:creationId xmlns:a16="http://schemas.microsoft.com/office/drawing/2014/main" id="{F8761AA7-6404-47EC-830A-EC47B94F3C1B}"/>
              </a:ext>
            </a:extLst>
          </p:cNvPr>
          <p:cNvSpPr/>
          <p:nvPr/>
        </p:nvSpPr>
        <p:spPr>
          <a:xfrm rot="5400000">
            <a:off x="771105" y="5302340"/>
            <a:ext cx="850392" cy="731520"/>
          </a:xfrm>
          <a:prstGeom prst="bentUpArrow">
            <a:avLst>
              <a:gd name="adj1" fmla="val 35417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AD1C88E-9F01-43E2-A2BF-8A8C40758E2D}"/>
              </a:ext>
            </a:extLst>
          </p:cNvPr>
          <p:cNvSpPr txBox="1"/>
          <p:nvPr/>
        </p:nvSpPr>
        <p:spPr>
          <a:xfrm>
            <a:off x="834770" y="5745562"/>
            <a:ext cx="612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FFT</a:t>
            </a: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E39534D4-39FD-4CA9-BB00-EAE4B7DC89F7}"/>
              </a:ext>
            </a:extLst>
          </p:cNvPr>
          <p:cNvSpPr/>
          <p:nvPr/>
        </p:nvSpPr>
        <p:spPr>
          <a:xfrm>
            <a:off x="4355976" y="5693289"/>
            <a:ext cx="1001611" cy="484632"/>
          </a:xfrm>
          <a:prstGeom prst="rightArrow">
            <a:avLst>
              <a:gd name="adj1" fmla="val 5786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BCA7E2D9-C514-4196-A328-DB890618B6D1}"/>
              </a:ext>
            </a:extLst>
          </p:cNvPr>
          <p:cNvSpPr txBox="1"/>
          <p:nvPr/>
        </p:nvSpPr>
        <p:spPr>
          <a:xfrm>
            <a:off x="4361478" y="5760152"/>
            <a:ext cx="1010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fftshift</a:t>
            </a:r>
            <a:endParaRPr lang="de-CH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563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Line 6">
            <a:extLst>
              <a:ext uri="{FF2B5EF4-FFF2-40B4-BE49-F238E27FC236}">
                <a16:creationId xmlns:a16="http://schemas.microsoft.com/office/drawing/2014/main" id="{55BA6611-AC7E-489E-8541-3A56FB9B3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36" name="Text Box 4">
            <a:extLst>
              <a:ext uri="{FF2B5EF4-FFF2-40B4-BE49-F238E27FC236}">
                <a16:creationId xmlns:a16="http://schemas.microsoft.com/office/drawing/2014/main" id="{D6F38840-32E3-4B01-A8CF-139341676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56380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Determination of </a:t>
            </a:r>
            <a:r>
              <a:rPr lang="de-CH" altLang="de-DE" sz="2400" b="1" dirty="0" err="1">
                <a:solidFill>
                  <a:srgbClr val="003399"/>
                </a:solidFill>
              </a:rPr>
              <a:t>movement</a:t>
            </a:r>
            <a:r>
              <a:rPr lang="de-CH" altLang="de-DE" sz="2400" b="1" dirty="0">
                <a:solidFill>
                  <a:srgbClr val="003399"/>
                </a:solidFill>
              </a:rPr>
              <a:t> </a:t>
            </a:r>
            <a:r>
              <a:rPr lang="de-CH" altLang="de-DE" sz="2400" b="1" dirty="0" err="1">
                <a:solidFill>
                  <a:srgbClr val="003399"/>
                </a:solidFill>
              </a:rPr>
              <a:t>direction</a:t>
            </a:r>
            <a:endParaRPr lang="de-CH" altLang="de-DE" sz="1600" b="1" dirty="0">
              <a:solidFill>
                <a:srgbClr val="003399"/>
              </a:solidFill>
              <a:highlight>
                <a:srgbClr val="FFFF00"/>
              </a:highlight>
            </a:endParaRPr>
          </a:p>
        </p:txBody>
      </p:sp>
      <p:sp>
        <p:nvSpPr>
          <p:cNvPr id="37" name="Rectangle 38">
            <a:extLst>
              <a:ext uri="{FF2B5EF4-FFF2-40B4-BE49-F238E27FC236}">
                <a16:creationId xmlns:a16="http://schemas.microsoft.com/office/drawing/2014/main" id="{752058CC-5A06-450A-92B4-3D333E45C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752"/>
            <a:ext cx="78518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 err="1">
                <a:solidFill>
                  <a:srgbClr val="0000FF"/>
                </a:solidFill>
              </a:rPr>
              <a:t>Multiplication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with</a:t>
            </a:r>
            <a:r>
              <a:rPr lang="de-CH" sz="2000" dirty="0">
                <a:solidFill>
                  <a:srgbClr val="0000FF"/>
                </a:solidFill>
              </a:rPr>
              <a:t> e</a:t>
            </a:r>
            <a:r>
              <a:rPr lang="de-CH" sz="2000" baseline="30000" dirty="0">
                <a:solidFill>
                  <a:srgbClr val="0000FF"/>
                </a:solidFill>
              </a:rPr>
              <a:t>-j2π</a:t>
            </a:r>
            <a:r>
              <a:rPr lang="de-CH" sz="2000" baseline="30000" dirty="0" err="1">
                <a:solidFill>
                  <a:srgbClr val="0000FF"/>
                </a:solidFill>
              </a:rPr>
              <a:t>f</a:t>
            </a:r>
            <a:r>
              <a:rPr lang="de-CH" sz="1200" baseline="30000" dirty="0" err="1">
                <a:solidFill>
                  <a:srgbClr val="0000FF"/>
                </a:solidFill>
              </a:rPr>
              <a:t>c</a:t>
            </a:r>
            <a:r>
              <a:rPr lang="de-CH" sz="2000" baseline="30000" dirty="0" err="1">
                <a:solidFill>
                  <a:srgbClr val="0000FF"/>
                </a:solidFill>
              </a:rPr>
              <a:t>·t</a:t>
            </a:r>
            <a:r>
              <a:rPr lang="de-CH" sz="2000" dirty="0">
                <a:solidFill>
                  <a:srgbClr val="0000FF"/>
                </a:solidFill>
              </a:rPr>
              <a:t>  ○-●  </a:t>
            </a:r>
            <a:r>
              <a:rPr lang="de-CH" sz="2000" dirty="0" err="1">
                <a:solidFill>
                  <a:srgbClr val="0000FF"/>
                </a:solidFill>
              </a:rPr>
              <a:t>frequency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translation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with</a:t>
            </a:r>
            <a:r>
              <a:rPr lang="de-CH" sz="2000" dirty="0">
                <a:solidFill>
                  <a:srgbClr val="0000FF"/>
                </a:solidFill>
              </a:rPr>
              <a:t> -</a:t>
            </a:r>
            <a:r>
              <a:rPr lang="de-CH" sz="2000" dirty="0" err="1">
                <a:solidFill>
                  <a:srgbClr val="0000FF"/>
                </a:solidFill>
              </a:rPr>
              <a:t>f</a:t>
            </a:r>
            <a:r>
              <a:rPr lang="de-CH" sz="2000" baseline="-25000" dirty="0" err="1">
                <a:solidFill>
                  <a:srgbClr val="0000FF"/>
                </a:solidFill>
              </a:rPr>
              <a:t>c</a:t>
            </a:r>
            <a:r>
              <a:rPr lang="de-CH" sz="2000" baseline="-25000" dirty="0">
                <a:solidFill>
                  <a:srgbClr val="0000FF"/>
                </a:solidFill>
              </a:rPr>
              <a:t> </a:t>
            </a:r>
            <a:r>
              <a:rPr lang="de-CH" sz="1600" dirty="0">
                <a:solidFill>
                  <a:srgbClr val="0000FF"/>
                </a:solidFill>
              </a:rPr>
              <a:t>(</a:t>
            </a:r>
            <a:r>
              <a:rPr lang="de-CH" sz="1600" dirty="0" err="1">
                <a:solidFill>
                  <a:srgbClr val="0000FF"/>
                </a:solidFill>
              </a:rPr>
              <a:t>to</a:t>
            </a:r>
            <a:r>
              <a:rPr lang="de-CH" sz="1600" dirty="0">
                <a:solidFill>
                  <a:srgbClr val="0000FF"/>
                </a:solidFill>
              </a:rPr>
              <a:t> the </a:t>
            </a:r>
            <a:r>
              <a:rPr lang="de-CH" sz="1600" dirty="0" err="1">
                <a:solidFill>
                  <a:srgbClr val="0000FF"/>
                </a:solidFill>
              </a:rPr>
              <a:t>left</a:t>
            </a:r>
            <a:r>
              <a:rPr lang="de-CH" sz="1600" dirty="0">
                <a:solidFill>
                  <a:srgbClr val="0000FF"/>
                </a:solidFill>
              </a:rPr>
              <a:t>)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DECCD1D9-DD05-4D06-B410-A474CE32A527}"/>
              </a:ext>
            </a:extLst>
          </p:cNvPr>
          <p:cNvCxnSpPr>
            <a:cxnSpLocks/>
          </p:cNvCxnSpPr>
          <p:nvPr/>
        </p:nvCxnSpPr>
        <p:spPr>
          <a:xfrm>
            <a:off x="755576" y="3771829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749D4F2D-F383-41C0-81E9-93B4FE09EEA8}"/>
              </a:ext>
            </a:extLst>
          </p:cNvPr>
          <p:cNvCxnSpPr>
            <a:cxnSpLocks/>
          </p:cNvCxnSpPr>
          <p:nvPr/>
        </p:nvCxnSpPr>
        <p:spPr>
          <a:xfrm flipV="1">
            <a:off x="3896396" y="3123757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D41E9ABB-0036-444D-8EBA-0E12F899D211}"/>
              </a:ext>
            </a:extLst>
          </p:cNvPr>
          <p:cNvSpPr txBox="1"/>
          <p:nvPr/>
        </p:nvSpPr>
        <p:spPr>
          <a:xfrm>
            <a:off x="3337354" y="2933625"/>
            <a:ext cx="577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IY(f)I</a:t>
            </a: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3C13F2E-5113-4F3D-8733-B8C031C13203}"/>
              </a:ext>
            </a:extLst>
          </p:cNvPr>
          <p:cNvCxnSpPr/>
          <p:nvPr/>
        </p:nvCxnSpPr>
        <p:spPr>
          <a:xfrm>
            <a:off x="5265308" y="370744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9625A48A-B771-4832-B86F-9FBE4E1FB4EC}"/>
              </a:ext>
            </a:extLst>
          </p:cNvPr>
          <p:cNvSpPr txBox="1"/>
          <p:nvPr/>
        </p:nvSpPr>
        <p:spPr>
          <a:xfrm>
            <a:off x="5136044" y="3768248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7B2333A-D999-484B-B68D-A87F895E9E70}"/>
              </a:ext>
            </a:extLst>
          </p:cNvPr>
          <p:cNvCxnSpPr/>
          <p:nvPr/>
        </p:nvCxnSpPr>
        <p:spPr>
          <a:xfrm>
            <a:off x="6633460" y="3717349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F0C45F1C-3FB8-45B6-A6FA-4971A1D0BF6A}"/>
              </a:ext>
            </a:extLst>
          </p:cNvPr>
          <p:cNvCxnSpPr/>
          <p:nvPr/>
        </p:nvCxnSpPr>
        <p:spPr>
          <a:xfrm>
            <a:off x="1160852" y="370020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6F61E44-DF35-45FC-B594-BA3C08F8E8AA}"/>
              </a:ext>
            </a:extLst>
          </p:cNvPr>
          <p:cNvCxnSpPr/>
          <p:nvPr/>
        </p:nvCxnSpPr>
        <p:spPr>
          <a:xfrm>
            <a:off x="2529004" y="3710109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140BBEAC-DC0C-449D-84C7-E340B0A73554}"/>
              </a:ext>
            </a:extLst>
          </p:cNvPr>
          <p:cNvCxnSpPr/>
          <p:nvPr/>
        </p:nvCxnSpPr>
        <p:spPr>
          <a:xfrm>
            <a:off x="5175012" y="3372776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EF998972-DB43-4BC1-8F35-95B874852034}"/>
              </a:ext>
            </a:extLst>
          </p:cNvPr>
          <p:cNvCxnSpPr/>
          <p:nvPr/>
        </p:nvCxnSpPr>
        <p:spPr>
          <a:xfrm>
            <a:off x="2637588" y="3381920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A8318EF0-B6B7-461B-9D53-518CB50F02D7}"/>
              </a:ext>
            </a:extLst>
          </p:cNvPr>
          <p:cNvSpPr txBox="1"/>
          <p:nvPr/>
        </p:nvSpPr>
        <p:spPr>
          <a:xfrm>
            <a:off x="7169530" y="3601412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F52752AB-8AAB-4681-9C10-336EFAE1D537}"/>
              </a:ext>
            </a:extLst>
          </p:cNvPr>
          <p:cNvCxnSpPr>
            <a:cxnSpLocks/>
          </p:cNvCxnSpPr>
          <p:nvPr/>
        </p:nvCxnSpPr>
        <p:spPr>
          <a:xfrm flipH="1">
            <a:off x="3768652" y="3807925"/>
            <a:ext cx="1367393" cy="493816"/>
          </a:xfrm>
          <a:prstGeom prst="straightConnector1">
            <a:avLst/>
          </a:prstGeom>
          <a:ln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3998FFF1-D8BC-45B3-BC9D-8D203402D286}"/>
              </a:ext>
            </a:extLst>
          </p:cNvPr>
          <p:cNvSpPr txBox="1"/>
          <p:nvPr/>
        </p:nvSpPr>
        <p:spPr>
          <a:xfrm>
            <a:off x="4229295" y="4024410"/>
            <a:ext cx="502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solidFill>
                  <a:srgbClr val="008000"/>
                </a:solidFill>
              </a:rPr>
              <a:t>-</a:t>
            </a:r>
            <a:r>
              <a:rPr lang="de-CH" sz="1600" dirty="0" err="1">
                <a:solidFill>
                  <a:srgbClr val="008000"/>
                </a:solidFill>
              </a:rPr>
              <a:t>f</a:t>
            </a:r>
            <a:r>
              <a:rPr lang="de-CH" sz="1600" baseline="-25000" dirty="0" err="1">
                <a:solidFill>
                  <a:srgbClr val="008000"/>
                </a:solidFill>
              </a:rPr>
              <a:t>c</a:t>
            </a:r>
            <a:r>
              <a:rPr lang="de-CH" sz="1800" baseline="-25000" dirty="0">
                <a:solidFill>
                  <a:srgbClr val="008000"/>
                </a:solidFill>
              </a:rPr>
              <a:t> </a:t>
            </a:r>
            <a:endParaRPr lang="de-CH" dirty="0">
              <a:solidFill>
                <a:srgbClr val="008000"/>
              </a:solidFill>
            </a:endParaRP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5237AB33-5B01-4275-A87C-A797A0CBF2CA}"/>
              </a:ext>
            </a:extLst>
          </p:cNvPr>
          <p:cNvCxnSpPr>
            <a:cxnSpLocks/>
          </p:cNvCxnSpPr>
          <p:nvPr/>
        </p:nvCxnSpPr>
        <p:spPr>
          <a:xfrm>
            <a:off x="755576" y="4741049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70125661-7B09-47E4-95E0-BA5DAD0729FD}"/>
              </a:ext>
            </a:extLst>
          </p:cNvPr>
          <p:cNvCxnSpPr>
            <a:cxnSpLocks/>
          </p:cNvCxnSpPr>
          <p:nvPr/>
        </p:nvCxnSpPr>
        <p:spPr>
          <a:xfrm flipV="1">
            <a:off x="3896396" y="4092977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CE4EA4D6-5051-427E-9B61-4CEF0BF6F6D9}"/>
              </a:ext>
            </a:extLst>
          </p:cNvPr>
          <p:cNvCxnSpPr/>
          <p:nvPr/>
        </p:nvCxnSpPr>
        <p:spPr>
          <a:xfrm>
            <a:off x="5265308" y="467666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FE1CEE88-644B-4B5D-8084-06A48BB759A5}"/>
              </a:ext>
            </a:extLst>
          </p:cNvPr>
          <p:cNvSpPr txBox="1"/>
          <p:nvPr/>
        </p:nvSpPr>
        <p:spPr>
          <a:xfrm>
            <a:off x="5136044" y="4737468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D24B105D-A561-4427-8633-8FC8DE7D917B}"/>
              </a:ext>
            </a:extLst>
          </p:cNvPr>
          <p:cNvCxnSpPr/>
          <p:nvPr/>
        </p:nvCxnSpPr>
        <p:spPr>
          <a:xfrm>
            <a:off x="6633460" y="4686569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DCF7F525-2599-4BF1-88AF-F350DEE8FE75}"/>
              </a:ext>
            </a:extLst>
          </p:cNvPr>
          <p:cNvCxnSpPr/>
          <p:nvPr/>
        </p:nvCxnSpPr>
        <p:spPr>
          <a:xfrm>
            <a:off x="1160852" y="466942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10A97334-9704-4B0A-A488-9F8E4B339D94}"/>
              </a:ext>
            </a:extLst>
          </p:cNvPr>
          <p:cNvCxnSpPr/>
          <p:nvPr/>
        </p:nvCxnSpPr>
        <p:spPr>
          <a:xfrm>
            <a:off x="2529004" y="4679329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5EF9F547-361C-4F2B-A9DB-EDCBB8EAAFB6}"/>
              </a:ext>
            </a:extLst>
          </p:cNvPr>
          <p:cNvCxnSpPr/>
          <p:nvPr/>
        </p:nvCxnSpPr>
        <p:spPr>
          <a:xfrm>
            <a:off x="3806860" y="4341612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21F0D640-1B90-4CE8-8A92-126231DBD308}"/>
              </a:ext>
            </a:extLst>
          </p:cNvPr>
          <p:cNvCxnSpPr/>
          <p:nvPr/>
        </p:nvCxnSpPr>
        <p:spPr>
          <a:xfrm>
            <a:off x="1232860" y="4341612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9E6AAFB0-03AC-41D5-87BA-CCAB8FFD2D85}"/>
              </a:ext>
            </a:extLst>
          </p:cNvPr>
          <p:cNvSpPr txBox="1"/>
          <p:nvPr/>
        </p:nvSpPr>
        <p:spPr>
          <a:xfrm>
            <a:off x="7157939" y="4564039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2726D429-256A-4FAC-85D3-AE4E86391BBC}"/>
              </a:ext>
            </a:extLst>
          </p:cNvPr>
          <p:cNvSpPr txBox="1"/>
          <p:nvPr/>
        </p:nvSpPr>
        <p:spPr>
          <a:xfrm>
            <a:off x="3613872" y="4749394"/>
            <a:ext cx="376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-</a:t>
            </a:r>
            <a:r>
              <a:rPr lang="de-CH" sz="1600" dirty="0" err="1"/>
              <a:t>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85A7DA92-074D-4A59-A767-3405FCD2420F}"/>
              </a:ext>
            </a:extLst>
          </p:cNvPr>
          <p:cNvSpPr txBox="1"/>
          <p:nvPr/>
        </p:nvSpPr>
        <p:spPr>
          <a:xfrm>
            <a:off x="1033546" y="4211138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/>
              <a:t>X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F9279B4-9281-4D46-A612-B4A9445DCEF4}"/>
              </a:ext>
            </a:extLst>
          </p:cNvPr>
          <p:cNvSpPr txBox="1"/>
          <p:nvPr/>
        </p:nvSpPr>
        <p:spPr>
          <a:xfrm>
            <a:off x="381127" y="4330488"/>
            <a:ext cx="788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filtered</a:t>
            </a:r>
            <a:endParaRPr lang="de-CH" sz="1600" baseline="-25000" dirty="0"/>
          </a:p>
        </p:txBody>
      </p:sp>
      <p:sp>
        <p:nvSpPr>
          <p:cNvPr id="102" name="Rectangle 38">
            <a:extLst>
              <a:ext uri="{FF2B5EF4-FFF2-40B4-BE49-F238E27FC236}">
                <a16:creationId xmlns:a16="http://schemas.microsoft.com/office/drawing/2014/main" id="{A933886E-974D-4136-B85A-57DD998F8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31" y="2243074"/>
            <a:ext cx="65213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/>
              <a:t>y(t)·e</a:t>
            </a:r>
            <a:r>
              <a:rPr lang="de-CH" sz="2000" baseline="30000" dirty="0"/>
              <a:t>-j2π</a:t>
            </a:r>
            <a:r>
              <a:rPr lang="de-CH" sz="2000" baseline="30000" dirty="0" err="1"/>
              <a:t>f</a:t>
            </a:r>
            <a:r>
              <a:rPr lang="de-CH" sz="1200" baseline="30000" dirty="0" err="1"/>
              <a:t>c</a:t>
            </a:r>
            <a:r>
              <a:rPr lang="de-CH" sz="2000" baseline="30000" dirty="0" err="1"/>
              <a:t>·t</a:t>
            </a:r>
            <a:r>
              <a:rPr lang="de-CH" sz="2000" dirty="0"/>
              <a:t>  = y(t)·[ </a:t>
            </a:r>
            <a:r>
              <a:rPr lang="de-CH" sz="2000" dirty="0">
                <a:solidFill>
                  <a:srgbClr val="008000"/>
                </a:solidFill>
              </a:rPr>
              <a:t>cos(2π</a:t>
            </a:r>
            <a:r>
              <a:rPr lang="de-CH" sz="2000" dirty="0" err="1">
                <a:solidFill>
                  <a:srgbClr val="008000"/>
                </a:solidFill>
              </a:rPr>
              <a:t>f</a:t>
            </a:r>
            <a:r>
              <a:rPr lang="de-CH" sz="1200" baseline="-25000" dirty="0" err="1">
                <a:solidFill>
                  <a:srgbClr val="008000"/>
                </a:solidFill>
              </a:rPr>
              <a:t>c</a:t>
            </a:r>
            <a:r>
              <a:rPr lang="de-CH" sz="2000" dirty="0" err="1">
                <a:solidFill>
                  <a:srgbClr val="008000"/>
                </a:solidFill>
              </a:rPr>
              <a:t>·t</a:t>
            </a:r>
            <a:r>
              <a:rPr lang="de-CH" sz="2000" dirty="0">
                <a:solidFill>
                  <a:srgbClr val="008000"/>
                </a:solidFill>
              </a:rPr>
              <a:t>) - </a:t>
            </a:r>
            <a:r>
              <a:rPr lang="de-CH" sz="2000" dirty="0" err="1">
                <a:solidFill>
                  <a:srgbClr val="008000"/>
                </a:solidFill>
              </a:rPr>
              <a:t>j·sin</a:t>
            </a:r>
            <a:r>
              <a:rPr lang="de-CH" sz="2000" dirty="0">
                <a:solidFill>
                  <a:srgbClr val="008000"/>
                </a:solidFill>
              </a:rPr>
              <a:t>(2π</a:t>
            </a:r>
            <a:r>
              <a:rPr lang="de-CH" sz="2000" dirty="0" err="1">
                <a:solidFill>
                  <a:srgbClr val="008000"/>
                </a:solidFill>
              </a:rPr>
              <a:t>f</a:t>
            </a:r>
            <a:r>
              <a:rPr lang="de-CH" sz="2000" baseline="-25000" dirty="0" err="1">
                <a:solidFill>
                  <a:srgbClr val="008000"/>
                </a:solidFill>
              </a:rPr>
              <a:t>c</a:t>
            </a:r>
            <a:r>
              <a:rPr lang="de-CH" sz="2000" dirty="0" err="1">
                <a:solidFill>
                  <a:srgbClr val="008000"/>
                </a:solidFill>
              </a:rPr>
              <a:t>·t</a:t>
            </a:r>
            <a:r>
              <a:rPr lang="de-CH" sz="2000" dirty="0">
                <a:solidFill>
                  <a:srgbClr val="008000"/>
                </a:solidFill>
              </a:rPr>
              <a:t>) </a:t>
            </a:r>
            <a:r>
              <a:rPr lang="de-CH" sz="2000" dirty="0"/>
              <a:t>] = I(t) + </a:t>
            </a:r>
            <a:r>
              <a:rPr lang="de-CH" sz="2000" dirty="0" err="1"/>
              <a:t>j·Q</a:t>
            </a:r>
            <a:r>
              <a:rPr lang="de-CH" sz="2000" dirty="0"/>
              <a:t>(t)</a:t>
            </a:r>
            <a:endParaRPr lang="de-DE" sz="2000" dirty="0"/>
          </a:p>
        </p:txBody>
      </p: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624BA6EA-0E1E-4031-84AC-9FF660A05DF1}"/>
              </a:ext>
            </a:extLst>
          </p:cNvPr>
          <p:cNvCxnSpPr>
            <a:cxnSpLocks/>
          </p:cNvCxnSpPr>
          <p:nvPr/>
        </p:nvCxnSpPr>
        <p:spPr>
          <a:xfrm flipH="1">
            <a:off x="1250388" y="3807818"/>
            <a:ext cx="1367393" cy="493816"/>
          </a:xfrm>
          <a:prstGeom prst="straightConnector1">
            <a:avLst/>
          </a:prstGeom>
          <a:ln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feld 105">
            <a:extLst>
              <a:ext uri="{FF2B5EF4-FFF2-40B4-BE49-F238E27FC236}">
                <a16:creationId xmlns:a16="http://schemas.microsoft.com/office/drawing/2014/main" id="{035DFB0D-7463-4530-9F43-95BA51A956E3}"/>
              </a:ext>
            </a:extLst>
          </p:cNvPr>
          <p:cNvSpPr txBox="1"/>
          <p:nvPr/>
        </p:nvSpPr>
        <p:spPr>
          <a:xfrm>
            <a:off x="1687163" y="4030728"/>
            <a:ext cx="502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solidFill>
                  <a:srgbClr val="008000"/>
                </a:solidFill>
              </a:rPr>
              <a:t>-</a:t>
            </a:r>
            <a:r>
              <a:rPr lang="de-CH" sz="1600" dirty="0" err="1">
                <a:solidFill>
                  <a:srgbClr val="008000"/>
                </a:solidFill>
              </a:rPr>
              <a:t>f</a:t>
            </a:r>
            <a:r>
              <a:rPr lang="de-CH" sz="1600" baseline="-25000" dirty="0" err="1">
                <a:solidFill>
                  <a:srgbClr val="008000"/>
                </a:solidFill>
              </a:rPr>
              <a:t>c</a:t>
            </a:r>
            <a:r>
              <a:rPr lang="de-CH" sz="1800" baseline="-25000" dirty="0">
                <a:solidFill>
                  <a:srgbClr val="008000"/>
                </a:solidFill>
              </a:rPr>
              <a:t> </a:t>
            </a:r>
            <a:endParaRPr lang="de-CH" dirty="0">
              <a:solidFill>
                <a:srgbClr val="008000"/>
              </a:solidFill>
            </a:endParaRPr>
          </a:p>
        </p:txBody>
      </p:sp>
      <p:sp>
        <p:nvSpPr>
          <p:cNvPr id="107" name="Rechteck 36">
            <a:extLst>
              <a:ext uri="{FF2B5EF4-FFF2-40B4-BE49-F238E27FC236}">
                <a16:creationId xmlns:a16="http://schemas.microsoft.com/office/drawing/2014/main" id="{CA3D4557-47CA-4BA4-88FF-983A6F672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71" y="1731509"/>
            <a:ext cx="35782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64A6"/>
              </a:buClr>
              <a:buSzPct val="100000"/>
              <a:buFont typeface="Arial" panose="020B0604020202020204" pitchFamily="34" charset="0"/>
              <a:buChar char="●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4A6"/>
              </a:buClr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4A6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de-CH" altLang="de-DE" sz="2000" dirty="0"/>
              <a:t>Euler:  </a:t>
            </a:r>
            <a:r>
              <a:rPr lang="de-CH" altLang="de-DE" sz="2000" dirty="0">
                <a:solidFill>
                  <a:srgbClr val="008000"/>
                </a:solidFill>
              </a:rPr>
              <a:t>e</a:t>
            </a:r>
            <a:r>
              <a:rPr lang="de-CH" altLang="de-DE" sz="2000" baseline="30000" dirty="0">
                <a:solidFill>
                  <a:srgbClr val="008000"/>
                </a:solidFill>
              </a:rPr>
              <a:t>-j</a:t>
            </a:r>
            <a:r>
              <a:rPr lang="el-GR" altLang="de-DE" sz="2000" baseline="30000" dirty="0">
                <a:solidFill>
                  <a:srgbClr val="008000"/>
                </a:solidFill>
              </a:rPr>
              <a:t>φ</a:t>
            </a:r>
            <a:r>
              <a:rPr lang="de-CH" altLang="de-DE" sz="2000" dirty="0">
                <a:solidFill>
                  <a:srgbClr val="008000"/>
                </a:solidFill>
              </a:rPr>
              <a:t> = cos(</a:t>
            </a:r>
            <a:r>
              <a:rPr lang="el-GR" altLang="de-DE" sz="2000" dirty="0">
                <a:solidFill>
                  <a:srgbClr val="008000"/>
                </a:solidFill>
              </a:rPr>
              <a:t>φ</a:t>
            </a:r>
            <a:r>
              <a:rPr lang="de-CH" altLang="de-DE" sz="2000" dirty="0">
                <a:solidFill>
                  <a:srgbClr val="008000"/>
                </a:solidFill>
              </a:rPr>
              <a:t>) - </a:t>
            </a:r>
            <a:r>
              <a:rPr lang="de-CH" altLang="de-DE" sz="2000" dirty="0" err="1">
                <a:solidFill>
                  <a:srgbClr val="008000"/>
                </a:solidFill>
              </a:rPr>
              <a:t>j·sin</a:t>
            </a:r>
            <a:r>
              <a:rPr lang="de-CH" altLang="de-DE" sz="2000" dirty="0">
                <a:solidFill>
                  <a:srgbClr val="008000"/>
                </a:solidFill>
              </a:rPr>
              <a:t>(</a:t>
            </a:r>
            <a:r>
              <a:rPr lang="el-GR" altLang="de-DE" sz="2000" dirty="0">
                <a:solidFill>
                  <a:srgbClr val="008000"/>
                </a:solidFill>
              </a:rPr>
              <a:t>φ</a:t>
            </a:r>
            <a:r>
              <a:rPr lang="de-CH" altLang="de-DE" sz="2000" dirty="0">
                <a:solidFill>
                  <a:srgbClr val="008000"/>
                </a:solidFill>
              </a:rPr>
              <a:t>) </a:t>
            </a:r>
            <a:endParaRPr lang="de-DE" altLang="de-DE" sz="2000" dirty="0">
              <a:solidFill>
                <a:srgbClr val="008000"/>
              </a:solidFill>
            </a:endParaRPr>
          </a:p>
        </p:txBody>
      </p: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F8BCA952-9162-42F1-866A-724A53ED1A70}"/>
              </a:ext>
            </a:extLst>
          </p:cNvPr>
          <p:cNvCxnSpPr>
            <a:cxnSpLocks/>
          </p:cNvCxnSpPr>
          <p:nvPr/>
        </p:nvCxnSpPr>
        <p:spPr>
          <a:xfrm>
            <a:off x="2021584" y="6525035"/>
            <a:ext cx="19760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387FCFA4-5244-4221-9EA3-28CFFFFC8EF2}"/>
              </a:ext>
            </a:extLst>
          </p:cNvPr>
          <p:cNvCxnSpPr>
            <a:cxnSpLocks/>
          </p:cNvCxnSpPr>
          <p:nvPr/>
        </p:nvCxnSpPr>
        <p:spPr>
          <a:xfrm flipV="1">
            <a:off x="2315376" y="5876963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A2F2D9E3-FC16-48A7-BFFE-7897D1614273}"/>
              </a:ext>
            </a:extLst>
          </p:cNvPr>
          <p:cNvCxnSpPr/>
          <p:nvPr/>
        </p:nvCxnSpPr>
        <p:spPr>
          <a:xfrm>
            <a:off x="3675144" y="646065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55F027DB-C79A-4356-A043-C803007A089B}"/>
              </a:ext>
            </a:extLst>
          </p:cNvPr>
          <p:cNvSpPr txBox="1"/>
          <p:nvPr/>
        </p:nvSpPr>
        <p:spPr>
          <a:xfrm>
            <a:off x="3560481" y="6518250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s</a:t>
            </a:r>
            <a:endParaRPr lang="de-CH" sz="1600" baseline="-25000" dirty="0"/>
          </a:p>
        </p:txBody>
      </p: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1A385AEF-2001-45C3-8FB2-C2A1FE5F336A}"/>
              </a:ext>
            </a:extLst>
          </p:cNvPr>
          <p:cNvCxnSpPr/>
          <p:nvPr/>
        </p:nvCxnSpPr>
        <p:spPr>
          <a:xfrm>
            <a:off x="3493559" y="6125218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feld 117">
            <a:extLst>
              <a:ext uri="{FF2B5EF4-FFF2-40B4-BE49-F238E27FC236}">
                <a16:creationId xmlns:a16="http://schemas.microsoft.com/office/drawing/2014/main" id="{DE14BA9B-34D5-4591-86B7-2A6D7A9E3E43}"/>
              </a:ext>
            </a:extLst>
          </p:cNvPr>
          <p:cNvSpPr txBox="1"/>
          <p:nvPr/>
        </p:nvSpPr>
        <p:spPr>
          <a:xfrm>
            <a:off x="3979447" y="6355378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989446F9-B6DD-4AE5-ABBE-419575E6F953}"/>
              </a:ext>
            </a:extLst>
          </p:cNvPr>
          <p:cNvSpPr txBox="1"/>
          <p:nvPr/>
        </p:nvSpPr>
        <p:spPr>
          <a:xfrm>
            <a:off x="3255292" y="5804956"/>
            <a:ext cx="489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s</a:t>
            </a:r>
            <a:r>
              <a:rPr lang="de-CH" sz="1600" dirty="0" err="1"/>
              <a:t>-f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128" name="Rectangle 38">
            <a:extLst>
              <a:ext uri="{FF2B5EF4-FFF2-40B4-BE49-F238E27FC236}">
                <a16:creationId xmlns:a16="http://schemas.microsoft.com/office/drawing/2014/main" id="{D3DFD5D9-365E-4A1A-8A4C-36065535A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296" y="2821164"/>
            <a:ext cx="264687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1600" dirty="0" err="1">
                <a:solidFill>
                  <a:srgbClr val="0000FF"/>
                </a:solidFill>
              </a:rPr>
              <a:t>complex-valued</a:t>
            </a:r>
            <a:r>
              <a:rPr lang="de-CH" sz="1600" dirty="0">
                <a:solidFill>
                  <a:srgbClr val="0000FF"/>
                </a:solidFill>
              </a:rPr>
              <a:t> </a:t>
            </a:r>
            <a:r>
              <a:rPr lang="de-CH" sz="1600" dirty="0" err="1">
                <a:solidFill>
                  <a:srgbClr val="0000FF"/>
                </a:solidFill>
              </a:rPr>
              <a:t>signal</a:t>
            </a:r>
            <a:r>
              <a:rPr lang="de-CH" sz="1600" dirty="0">
                <a:solidFill>
                  <a:srgbClr val="0000FF"/>
                </a:solidFill>
              </a:rPr>
              <a:t> Z(t) 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129" name="Geschweifte Klammer links 128">
            <a:extLst>
              <a:ext uri="{FF2B5EF4-FFF2-40B4-BE49-F238E27FC236}">
                <a16:creationId xmlns:a16="http://schemas.microsoft.com/office/drawing/2014/main" id="{F51455BA-1957-4D63-ABC9-C91294CBA2D4}"/>
              </a:ext>
            </a:extLst>
          </p:cNvPr>
          <p:cNvSpPr/>
          <p:nvPr/>
        </p:nvSpPr>
        <p:spPr>
          <a:xfrm rot="16200000">
            <a:off x="6381303" y="2115056"/>
            <a:ext cx="233227" cy="1214358"/>
          </a:xfrm>
          <a:prstGeom prst="leftBrace">
            <a:avLst>
              <a:gd name="adj1" fmla="val 20910"/>
              <a:gd name="adj2" fmla="val 4770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50CE1EB-9752-4375-8BE5-9251D8ADEC75}"/>
              </a:ext>
            </a:extLst>
          </p:cNvPr>
          <p:cNvSpPr/>
          <p:nvPr/>
        </p:nvSpPr>
        <p:spPr>
          <a:xfrm>
            <a:off x="3561590" y="4595336"/>
            <a:ext cx="325175" cy="133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D766CC1-E8B5-4632-A7E5-CE7FB03AE8F7}"/>
              </a:ext>
            </a:extLst>
          </p:cNvPr>
          <p:cNvSpPr/>
          <p:nvPr/>
        </p:nvSpPr>
        <p:spPr>
          <a:xfrm>
            <a:off x="2989504" y="6397148"/>
            <a:ext cx="676426" cy="128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A3B2C05A-B969-4F12-803B-27FFBFC6A631}"/>
              </a:ext>
            </a:extLst>
          </p:cNvPr>
          <p:cNvSpPr txBox="1"/>
          <p:nvPr/>
        </p:nvSpPr>
        <p:spPr>
          <a:xfrm>
            <a:off x="4942839" y="3044929"/>
            <a:ext cx="1426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r>
              <a:rPr lang="de-CH" sz="1600" dirty="0" err="1"/>
              <a:t>-f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7FC55F1-5644-4683-908A-6B5FC8961C1E}"/>
              </a:ext>
            </a:extLst>
          </p:cNvPr>
          <p:cNvSpPr/>
          <p:nvPr/>
        </p:nvSpPr>
        <p:spPr>
          <a:xfrm>
            <a:off x="3895053" y="4595336"/>
            <a:ext cx="325175" cy="1337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B158036F-F220-4F61-8A8A-B4204D85CB86}"/>
              </a:ext>
            </a:extLst>
          </p:cNvPr>
          <p:cNvSpPr/>
          <p:nvPr/>
        </p:nvSpPr>
        <p:spPr>
          <a:xfrm>
            <a:off x="2325486" y="6397148"/>
            <a:ext cx="676426" cy="128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Geschweifte Klammer links 3">
            <a:extLst>
              <a:ext uri="{FF2B5EF4-FFF2-40B4-BE49-F238E27FC236}">
                <a16:creationId xmlns:a16="http://schemas.microsoft.com/office/drawing/2014/main" id="{13103571-2EC0-4E90-B8FF-E34C82D3CE78}"/>
              </a:ext>
            </a:extLst>
          </p:cNvPr>
          <p:cNvSpPr/>
          <p:nvPr/>
        </p:nvSpPr>
        <p:spPr>
          <a:xfrm rot="16200000">
            <a:off x="4019588" y="1322849"/>
            <a:ext cx="233227" cy="2718134"/>
          </a:xfrm>
          <a:prstGeom prst="leftBrace">
            <a:avLst>
              <a:gd name="adj1" fmla="val 54570"/>
              <a:gd name="adj2" fmla="val 62268"/>
            </a:avLst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F630CD-DA02-4598-96C2-2B146EAAB2E6}"/>
              </a:ext>
            </a:extLst>
          </p:cNvPr>
          <p:cNvSpPr/>
          <p:nvPr/>
        </p:nvSpPr>
        <p:spPr>
          <a:xfrm>
            <a:off x="4350191" y="2741751"/>
            <a:ext cx="527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altLang="de-DE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de-CH" altLang="de-DE" baseline="300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-j...</a:t>
            </a:r>
            <a:endParaRPr lang="de-C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137F6A4-2C5D-4BF7-8D07-8EBCD0B9F2D3}"/>
              </a:ext>
            </a:extLst>
          </p:cNvPr>
          <p:cNvSpPr txBox="1"/>
          <p:nvPr/>
        </p:nvSpPr>
        <p:spPr>
          <a:xfrm>
            <a:off x="4118523" y="4717091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 err="1"/>
              <a:t>f</a:t>
            </a:r>
            <a:r>
              <a:rPr lang="de-CH" sz="1000" baseline="-25000" dirty="0" err="1"/>
              <a:t>s</a:t>
            </a:r>
            <a:r>
              <a:rPr lang="de-CH" sz="1000" dirty="0"/>
              <a:t>/2</a:t>
            </a:r>
            <a:endParaRPr lang="de-CH" sz="1000" baseline="-25000" dirty="0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6EC34556-A0D3-4A98-9F5E-BA6A168110CE}"/>
              </a:ext>
            </a:extLst>
          </p:cNvPr>
          <p:cNvSpPr txBox="1"/>
          <p:nvPr/>
        </p:nvSpPr>
        <p:spPr>
          <a:xfrm>
            <a:off x="3330840" y="3882911"/>
            <a:ext cx="574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IZ(f)I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AF615DC1-D761-4C02-BFB2-06123DB79C22}"/>
              </a:ext>
            </a:extLst>
          </p:cNvPr>
          <p:cNvSpPr txBox="1"/>
          <p:nvPr/>
        </p:nvSpPr>
        <p:spPr>
          <a:xfrm>
            <a:off x="1979712" y="5589240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IZ[m]I</a:t>
            </a:r>
          </a:p>
        </p:txBody>
      </p:sp>
      <p:sp>
        <p:nvSpPr>
          <p:cNvPr id="59" name="Rectangle 38">
            <a:extLst>
              <a:ext uri="{FF2B5EF4-FFF2-40B4-BE49-F238E27FC236}">
                <a16:creationId xmlns:a16="http://schemas.microsoft.com/office/drawing/2014/main" id="{D5359851-2915-43F0-91DC-E14202A5B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157192"/>
            <a:ext cx="84500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tabLst>
                <a:tab pos="265113" algn="l"/>
              </a:tabLst>
            </a:pPr>
            <a:r>
              <a:rPr lang="de-CH" sz="2000" dirty="0">
                <a:solidFill>
                  <a:srgbClr val="0000FF"/>
                </a:solidFill>
              </a:rPr>
              <a:t>FFT-</a:t>
            </a:r>
            <a:r>
              <a:rPr lang="de-CH" sz="2000" dirty="0" err="1">
                <a:solidFill>
                  <a:srgbClr val="0000FF"/>
                </a:solidFill>
              </a:rPr>
              <a:t>spectrum</a:t>
            </a:r>
            <a:r>
              <a:rPr lang="de-CH" sz="2000" dirty="0">
                <a:solidFill>
                  <a:srgbClr val="0000FF"/>
                </a:solidFill>
              </a:rPr>
              <a:t> of the </a:t>
            </a:r>
            <a:r>
              <a:rPr lang="de-CH" sz="2000" dirty="0" err="1">
                <a:solidFill>
                  <a:srgbClr val="0000FF"/>
                </a:solidFill>
              </a:rPr>
              <a:t>sampled</a:t>
            </a:r>
            <a:r>
              <a:rPr lang="de-CH" sz="2000" dirty="0">
                <a:solidFill>
                  <a:srgbClr val="0000FF"/>
                </a:solidFill>
              </a:rPr>
              <a:t> radar-sensor </a:t>
            </a:r>
            <a:r>
              <a:rPr lang="de-CH" sz="2000" dirty="0" err="1">
                <a:solidFill>
                  <a:srgbClr val="0000FF"/>
                </a:solidFill>
              </a:rPr>
              <a:t>output</a:t>
            </a:r>
            <a:r>
              <a:rPr lang="de-CH" sz="2000" dirty="0">
                <a:solidFill>
                  <a:srgbClr val="0000FF"/>
                </a:solidFill>
              </a:rPr>
              <a:t> </a:t>
            </a:r>
            <a:r>
              <a:rPr lang="de-CH" sz="2000" dirty="0" err="1">
                <a:solidFill>
                  <a:srgbClr val="0000FF"/>
                </a:solidFill>
              </a:rPr>
              <a:t>signal</a:t>
            </a:r>
            <a:r>
              <a:rPr lang="de-CH" sz="2000" dirty="0">
                <a:solidFill>
                  <a:srgbClr val="0000FF"/>
                </a:solidFill>
              </a:rPr>
              <a:t> z[n] = I[n]+</a:t>
            </a:r>
            <a:r>
              <a:rPr lang="de-CH" sz="2000" dirty="0" err="1">
                <a:solidFill>
                  <a:srgbClr val="0000FF"/>
                </a:solidFill>
              </a:rPr>
              <a:t>j·Q</a:t>
            </a:r>
            <a:r>
              <a:rPr lang="de-CH" sz="2000" dirty="0">
                <a:solidFill>
                  <a:srgbClr val="0000FF"/>
                </a:solidFill>
              </a:rPr>
              <a:t>[n]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AAF57511-764C-46E1-8966-3FF039C24D96}"/>
              </a:ext>
            </a:extLst>
          </p:cNvPr>
          <p:cNvCxnSpPr>
            <a:cxnSpLocks/>
          </p:cNvCxnSpPr>
          <p:nvPr/>
        </p:nvCxnSpPr>
        <p:spPr>
          <a:xfrm>
            <a:off x="6084168" y="6528915"/>
            <a:ext cx="19760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C6D0BE3C-82A1-44C7-B6B4-5EDED9D1880B}"/>
              </a:ext>
            </a:extLst>
          </p:cNvPr>
          <p:cNvCxnSpPr>
            <a:cxnSpLocks/>
          </p:cNvCxnSpPr>
          <p:nvPr/>
        </p:nvCxnSpPr>
        <p:spPr>
          <a:xfrm flipV="1">
            <a:off x="6981225" y="5871318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2CF844A0-4B31-480A-AF05-1DAF36C2117D}"/>
              </a:ext>
            </a:extLst>
          </p:cNvPr>
          <p:cNvCxnSpPr/>
          <p:nvPr/>
        </p:nvCxnSpPr>
        <p:spPr>
          <a:xfrm>
            <a:off x="7658819" y="6455006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6AA53154-A6A9-435D-9D76-7CCB557CDABB}"/>
              </a:ext>
            </a:extLst>
          </p:cNvPr>
          <p:cNvCxnSpPr/>
          <p:nvPr/>
        </p:nvCxnSpPr>
        <p:spPr>
          <a:xfrm>
            <a:off x="6794723" y="6119573"/>
            <a:ext cx="0" cy="3994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feld 63">
            <a:extLst>
              <a:ext uri="{FF2B5EF4-FFF2-40B4-BE49-F238E27FC236}">
                <a16:creationId xmlns:a16="http://schemas.microsoft.com/office/drawing/2014/main" id="{50A3F3B9-11FF-42DA-8307-F4B0E04F22BB}"/>
              </a:ext>
            </a:extLst>
          </p:cNvPr>
          <p:cNvSpPr txBox="1"/>
          <p:nvPr/>
        </p:nvSpPr>
        <p:spPr>
          <a:xfrm>
            <a:off x="8031132" y="6349733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A70AAAF4-E35B-48D6-9489-69328D7BB8D4}"/>
              </a:ext>
            </a:extLst>
          </p:cNvPr>
          <p:cNvSpPr txBox="1"/>
          <p:nvPr/>
        </p:nvSpPr>
        <p:spPr>
          <a:xfrm>
            <a:off x="6558809" y="5802554"/>
            <a:ext cx="376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-</a:t>
            </a:r>
            <a:r>
              <a:rPr lang="de-CH" sz="1600" dirty="0" err="1"/>
              <a:t>f</a:t>
            </a:r>
            <a:r>
              <a:rPr lang="de-CH" sz="1600" baseline="-25000" dirty="0" err="1"/>
              <a:t>d</a:t>
            </a:r>
            <a:endParaRPr lang="de-CH" sz="1600" baseline="-25000" dirty="0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23BEB9D0-4674-463F-A061-89E1681C05B6}"/>
              </a:ext>
            </a:extLst>
          </p:cNvPr>
          <p:cNvSpPr/>
          <p:nvPr/>
        </p:nvSpPr>
        <p:spPr>
          <a:xfrm>
            <a:off x="6290667" y="6391503"/>
            <a:ext cx="676426" cy="128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F0810EDA-6619-478C-8D5B-DE7D9A7920EA}"/>
              </a:ext>
            </a:extLst>
          </p:cNvPr>
          <p:cNvSpPr/>
          <p:nvPr/>
        </p:nvSpPr>
        <p:spPr>
          <a:xfrm>
            <a:off x="6972285" y="6391503"/>
            <a:ext cx="676426" cy="128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6246E162-7EEB-4D21-A861-E4B3B6DA056C}"/>
              </a:ext>
            </a:extLst>
          </p:cNvPr>
          <p:cNvSpPr txBox="1"/>
          <p:nvPr/>
        </p:nvSpPr>
        <p:spPr>
          <a:xfrm>
            <a:off x="7495645" y="6542930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/2</a:t>
            </a:r>
            <a:endParaRPr lang="de-CH" sz="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Pfeil: nach oben gebogen 74">
            <a:extLst>
              <a:ext uri="{FF2B5EF4-FFF2-40B4-BE49-F238E27FC236}">
                <a16:creationId xmlns:a16="http://schemas.microsoft.com/office/drawing/2014/main" id="{F8D31CC6-7C1F-46E5-AE9F-0CC13C1B5382}"/>
              </a:ext>
            </a:extLst>
          </p:cNvPr>
          <p:cNvSpPr/>
          <p:nvPr/>
        </p:nvSpPr>
        <p:spPr>
          <a:xfrm rot="5400000">
            <a:off x="771105" y="5792692"/>
            <a:ext cx="850392" cy="731520"/>
          </a:xfrm>
          <a:prstGeom prst="bentUpArrow">
            <a:avLst>
              <a:gd name="adj1" fmla="val 35417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EEEBD76A-8836-46FE-91D0-C377BAEA223B}"/>
              </a:ext>
            </a:extLst>
          </p:cNvPr>
          <p:cNvSpPr txBox="1"/>
          <p:nvPr/>
        </p:nvSpPr>
        <p:spPr>
          <a:xfrm>
            <a:off x="834770" y="6235914"/>
            <a:ext cx="612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FFT</a:t>
            </a:r>
          </a:p>
        </p:txBody>
      </p:sp>
      <p:sp>
        <p:nvSpPr>
          <p:cNvPr id="77" name="Pfeil: nach rechts 76">
            <a:extLst>
              <a:ext uri="{FF2B5EF4-FFF2-40B4-BE49-F238E27FC236}">
                <a16:creationId xmlns:a16="http://schemas.microsoft.com/office/drawing/2014/main" id="{3350DE93-EDB9-4205-9114-CE8FE7D8DF90}"/>
              </a:ext>
            </a:extLst>
          </p:cNvPr>
          <p:cNvSpPr/>
          <p:nvPr/>
        </p:nvSpPr>
        <p:spPr>
          <a:xfrm>
            <a:off x="4636168" y="6156153"/>
            <a:ext cx="1001611" cy="484632"/>
          </a:xfrm>
          <a:prstGeom prst="rightArrow">
            <a:avLst>
              <a:gd name="adj1" fmla="val 5786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38C7F788-BFDF-4C0B-9166-7B88EA405A4A}"/>
              </a:ext>
            </a:extLst>
          </p:cNvPr>
          <p:cNvSpPr txBox="1"/>
          <p:nvPr/>
        </p:nvSpPr>
        <p:spPr>
          <a:xfrm>
            <a:off x="4641670" y="6223016"/>
            <a:ext cx="1010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fftshift</a:t>
            </a:r>
            <a:endParaRPr lang="de-CH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23596E63-D4A7-470B-BAAE-B89AFD3E1ACA}"/>
              </a:ext>
            </a:extLst>
          </p:cNvPr>
          <p:cNvSpPr txBox="1"/>
          <p:nvPr/>
        </p:nvSpPr>
        <p:spPr>
          <a:xfrm>
            <a:off x="6633281" y="5570123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IZ[m]I</a:t>
            </a:r>
          </a:p>
        </p:txBody>
      </p:sp>
    </p:spTree>
    <p:extLst>
      <p:ext uri="{BB962C8B-B14F-4D97-AF65-F5344CB8AC3E}">
        <p14:creationId xmlns:p14="http://schemas.microsoft.com/office/powerpoint/2010/main" val="321835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">
            <a:extLst>
              <a:ext uri="{FF2B5EF4-FFF2-40B4-BE49-F238E27FC236}">
                <a16:creationId xmlns:a16="http://schemas.microsoft.com/office/drawing/2014/main" id="{6B6F4EF6-B560-44C0-96BD-23B53DBA2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0AAA02A-1533-4FA6-BBB1-C2247C21E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1709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Exercise</a:t>
            </a:r>
            <a:r>
              <a:rPr lang="de-CH" altLang="de-DE" sz="2400" b="1">
                <a:solidFill>
                  <a:srgbClr val="003399"/>
                </a:solidFill>
              </a:rPr>
              <a:t> 2</a:t>
            </a:r>
            <a:endParaRPr lang="de-CH" altLang="de-DE" sz="1600" b="1" dirty="0">
              <a:solidFill>
                <a:srgbClr val="003399"/>
              </a:solidFill>
              <a:highlight>
                <a:srgbClr val="FFFF00"/>
              </a:highlight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5D6C8D8-8E1D-4386-B402-2E4C5817DF91}"/>
              </a:ext>
            </a:extLst>
          </p:cNvPr>
          <p:cNvSpPr txBox="1"/>
          <p:nvPr/>
        </p:nvSpPr>
        <p:spPr>
          <a:xfrm>
            <a:off x="339936" y="1124744"/>
            <a:ext cx="772519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Assume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moves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towards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the radar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(v&gt;0) 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and,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thus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causes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a positive Doppler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&gt;0)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the following diagram, sketch the magnitude spectra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IY(f)I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reflected radar signal y(t) and </a:t>
            </a:r>
            <a:endParaRPr lang="de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IZ(f)I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analog radar sensor output signal z(t) = I(t)+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j·Q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IZ[m]I of the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sampled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radar-sensor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z[n] = I[n]+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jQ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[n]</a:t>
            </a: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1D937E0-AF8E-45F1-9794-8E4AC2CDEF8A}"/>
              </a:ext>
            </a:extLst>
          </p:cNvPr>
          <p:cNvCxnSpPr>
            <a:cxnSpLocks/>
          </p:cNvCxnSpPr>
          <p:nvPr/>
        </p:nvCxnSpPr>
        <p:spPr>
          <a:xfrm>
            <a:off x="755576" y="4129105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CB6BFC41-D534-45D8-B030-10D2B3D0FFED}"/>
              </a:ext>
            </a:extLst>
          </p:cNvPr>
          <p:cNvCxnSpPr>
            <a:cxnSpLocks/>
          </p:cNvCxnSpPr>
          <p:nvPr/>
        </p:nvCxnSpPr>
        <p:spPr>
          <a:xfrm flipV="1">
            <a:off x="3896396" y="3481033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1B3896CD-959C-4D71-932A-9C7459EEF4A7}"/>
              </a:ext>
            </a:extLst>
          </p:cNvPr>
          <p:cNvSpPr txBox="1"/>
          <p:nvPr/>
        </p:nvSpPr>
        <p:spPr>
          <a:xfrm>
            <a:off x="3337354" y="3290901"/>
            <a:ext cx="577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IY(f)I</a:t>
            </a: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AA313B70-A43C-4C58-858C-B6BD756FD135}"/>
              </a:ext>
            </a:extLst>
          </p:cNvPr>
          <p:cNvCxnSpPr/>
          <p:nvPr/>
        </p:nvCxnSpPr>
        <p:spPr>
          <a:xfrm>
            <a:off x="5265308" y="406472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feld 81">
            <a:extLst>
              <a:ext uri="{FF2B5EF4-FFF2-40B4-BE49-F238E27FC236}">
                <a16:creationId xmlns:a16="http://schemas.microsoft.com/office/drawing/2014/main" id="{AB8A0C1E-5DE9-4306-8822-A4E4C847BA0A}"/>
              </a:ext>
            </a:extLst>
          </p:cNvPr>
          <p:cNvSpPr txBox="1"/>
          <p:nvPr/>
        </p:nvSpPr>
        <p:spPr>
          <a:xfrm>
            <a:off x="5136044" y="4125524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C135F6B2-C3F6-4DCC-93F0-867BC10E1D9F}"/>
              </a:ext>
            </a:extLst>
          </p:cNvPr>
          <p:cNvCxnSpPr/>
          <p:nvPr/>
        </p:nvCxnSpPr>
        <p:spPr>
          <a:xfrm>
            <a:off x="6633460" y="407462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AA51F058-EF1B-41EB-BEC0-2A02DC77B592}"/>
              </a:ext>
            </a:extLst>
          </p:cNvPr>
          <p:cNvCxnSpPr/>
          <p:nvPr/>
        </p:nvCxnSpPr>
        <p:spPr>
          <a:xfrm>
            <a:off x="1160852" y="405748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E4020D0D-D0C0-4680-BB7B-EAF4A7355475}"/>
              </a:ext>
            </a:extLst>
          </p:cNvPr>
          <p:cNvCxnSpPr/>
          <p:nvPr/>
        </p:nvCxnSpPr>
        <p:spPr>
          <a:xfrm>
            <a:off x="2529004" y="406738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feld 86">
            <a:extLst>
              <a:ext uri="{FF2B5EF4-FFF2-40B4-BE49-F238E27FC236}">
                <a16:creationId xmlns:a16="http://schemas.microsoft.com/office/drawing/2014/main" id="{4222A459-E3B1-45D2-8139-D399308E60C3}"/>
              </a:ext>
            </a:extLst>
          </p:cNvPr>
          <p:cNvSpPr txBox="1"/>
          <p:nvPr/>
        </p:nvSpPr>
        <p:spPr>
          <a:xfrm>
            <a:off x="7169530" y="3958688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06DF8BB6-D5CA-42C4-ADD0-C78A1C9F07BA}"/>
              </a:ext>
            </a:extLst>
          </p:cNvPr>
          <p:cNvCxnSpPr>
            <a:cxnSpLocks/>
          </p:cNvCxnSpPr>
          <p:nvPr/>
        </p:nvCxnSpPr>
        <p:spPr>
          <a:xfrm>
            <a:off x="755576" y="5098325"/>
            <a:ext cx="64539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A75A5446-1195-4182-B5EA-A64741AB80DF}"/>
              </a:ext>
            </a:extLst>
          </p:cNvPr>
          <p:cNvCxnSpPr>
            <a:cxnSpLocks/>
          </p:cNvCxnSpPr>
          <p:nvPr/>
        </p:nvCxnSpPr>
        <p:spPr>
          <a:xfrm flipV="1">
            <a:off x="3896396" y="4450253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88AA35A0-0356-4E6F-9ED9-ACF220BCAE5C}"/>
              </a:ext>
            </a:extLst>
          </p:cNvPr>
          <p:cNvCxnSpPr/>
          <p:nvPr/>
        </p:nvCxnSpPr>
        <p:spPr>
          <a:xfrm>
            <a:off x="5265308" y="503394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14520FBA-778A-429B-B63F-7E1005F4A789}"/>
              </a:ext>
            </a:extLst>
          </p:cNvPr>
          <p:cNvSpPr txBox="1"/>
          <p:nvPr/>
        </p:nvSpPr>
        <p:spPr>
          <a:xfrm>
            <a:off x="5136044" y="5094744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c</a:t>
            </a:r>
            <a:endParaRPr lang="de-CH" sz="1600" baseline="-25000" dirty="0"/>
          </a:p>
        </p:txBody>
      </p: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4BDB0B2E-2521-449A-B173-BFD8E189518B}"/>
              </a:ext>
            </a:extLst>
          </p:cNvPr>
          <p:cNvCxnSpPr/>
          <p:nvPr/>
        </p:nvCxnSpPr>
        <p:spPr>
          <a:xfrm>
            <a:off x="6633460" y="504384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225531A7-C807-4CF8-B402-4392B49F2638}"/>
              </a:ext>
            </a:extLst>
          </p:cNvPr>
          <p:cNvCxnSpPr/>
          <p:nvPr/>
        </p:nvCxnSpPr>
        <p:spPr>
          <a:xfrm>
            <a:off x="1160852" y="502670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3B32277C-AE11-42C7-8B38-1B617BB067DF}"/>
              </a:ext>
            </a:extLst>
          </p:cNvPr>
          <p:cNvCxnSpPr/>
          <p:nvPr/>
        </p:nvCxnSpPr>
        <p:spPr>
          <a:xfrm>
            <a:off x="2529004" y="5036605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feld 94">
            <a:extLst>
              <a:ext uri="{FF2B5EF4-FFF2-40B4-BE49-F238E27FC236}">
                <a16:creationId xmlns:a16="http://schemas.microsoft.com/office/drawing/2014/main" id="{3AA11114-EB7A-44E8-8609-23E55AE65128}"/>
              </a:ext>
            </a:extLst>
          </p:cNvPr>
          <p:cNvSpPr txBox="1"/>
          <p:nvPr/>
        </p:nvSpPr>
        <p:spPr>
          <a:xfrm>
            <a:off x="7157939" y="4921315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A268F6A7-4091-4C85-9B15-B8CE7EA0B924}"/>
              </a:ext>
            </a:extLst>
          </p:cNvPr>
          <p:cNvSpPr/>
          <p:nvPr/>
        </p:nvSpPr>
        <p:spPr>
          <a:xfrm>
            <a:off x="3561590" y="4952612"/>
            <a:ext cx="325175" cy="133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45A223B3-0D4B-496A-A124-C10F005C8131}"/>
              </a:ext>
            </a:extLst>
          </p:cNvPr>
          <p:cNvSpPr/>
          <p:nvPr/>
        </p:nvSpPr>
        <p:spPr>
          <a:xfrm>
            <a:off x="3895053" y="4952612"/>
            <a:ext cx="325175" cy="1337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0364DF9D-CDA5-4E3A-B61F-90375737DD8A}"/>
              </a:ext>
            </a:extLst>
          </p:cNvPr>
          <p:cNvSpPr txBox="1"/>
          <p:nvPr/>
        </p:nvSpPr>
        <p:spPr>
          <a:xfrm>
            <a:off x="4118523" y="5074367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 err="1"/>
              <a:t>f</a:t>
            </a:r>
            <a:r>
              <a:rPr lang="de-CH" sz="1000" baseline="-25000" dirty="0" err="1"/>
              <a:t>s</a:t>
            </a:r>
            <a:r>
              <a:rPr lang="de-CH" sz="1000" dirty="0"/>
              <a:t>/2</a:t>
            </a:r>
            <a:endParaRPr lang="de-CH" sz="1000" baseline="-25000" dirty="0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C4451385-9688-45B3-A46B-4DE2FE3125D1}"/>
              </a:ext>
            </a:extLst>
          </p:cNvPr>
          <p:cNvSpPr txBox="1"/>
          <p:nvPr/>
        </p:nvSpPr>
        <p:spPr>
          <a:xfrm>
            <a:off x="3330840" y="4240187"/>
            <a:ext cx="574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IZ(f)I</a:t>
            </a:r>
          </a:p>
        </p:txBody>
      </p: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5E498D72-66CC-4F66-83EB-648BC2CB4DA2}"/>
              </a:ext>
            </a:extLst>
          </p:cNvPr>
          <p:cNvCxnSpPr>
            <a:cxnSpLocks/>
          </p:cNvCxnSpPr>
          <p:nvPr/>
        </p:nvCxnSpPr>
        <p:spPr>
          <a:xfrm>
            <a:off x="1946619" y="6525035"/>
            <a:ext cx="19760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19734802-6D60-4BBF-8CD3-25058C59C15F}"/>
              </a:ext>
            </a:extLst>
          </p:cNvPr>
          <p:cNvCxnSpPr>
            <a:cxnSpLocks/>
          </p:cNvCxnSpPr>
          <p:nvPr/>
        </p:nvCxnSpPr>
        <p:spPr>
          <a:xfrm flipV="1">
            <a:off x="2240411" y="5876963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F69AAA56-52C3-4564-84A7-A18668D9DF93}"/>
              </a:ext>
            </a:extLst>
          </p:cNvPr>
          <p:cNvCxnSpPr/>
          <p:nvPr/>
        </p:nvCxnSpPr>
        <p:spPr>
          <a:xfrm>
            <a:off x="3600179" y="6460651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4FDC5951-D508-4448-B19E-7F7F8AABA6D3}"/>
              </a:ext>
            </a:extLst>
          </p:cNvPr>
          <p:cNvSpPr txBox="1"/>
          <p:nvPr/>
        </p:nvSpPr>
        <p:spPr>
          <a:xfrm>
            <a:off x="3485516" y="6518250"/>
            <a:ext cx="300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/>
              <a:t>f</a:t>
            </a:r>
            <a:r>
              <a:rPr lang="de-CH" sz="1600" baseline="-25000" dirty="0" err="1"/>
              <a:t>s</a:t>
            </a:r>
            <a:endParaRPr lang="de-CH" sz="1600" baseline="-25000" dirty="0"/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69D2EEFE-5F51-4697-AE2E-10AE65A5D54B}"/>
              </a:ext>
            </a:extLst>
          </p:cNvPr>
          <p:cNvSpPr txBox="1"/>
          <p:nvPr/>
        </p:nvSpPr>
        <p:spPr>
          <a:xfrm>
            <a:off x="3904482" y="6355378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E430E2A5-2806-49A5-B3AB-BF009B7BA3DD}"/>
              </a:ext>
            </a:extLst>
          </p:cNvPr>
          <p:cNvSpPr/>
          <p:nvPr/>
        </p:nvSpPr>
        <p:spPr>
          <a:xfrm>
            <a:off x="2914539" y="6397148"/>
            <a:ext cx="676426" cy="128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A34162D3-64D1-430A-8E25-13E485C9DB6C}"/>
              </a:ext>
            </a:extLst>
          </p:cNvPr>
          <p:cNvSpPr/>
          <p:nvPr/>
        </p:nvSpPr>
        <p:spPr>
          <a:xfrm>
            <a:off x="2250521" y="6397148"/>
            <a:ext cx="676426" cy="128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72DFF82A-6848-42F7-90FA-332C6A0D912C}"/>
              </a:ext>
            </a:extLst>
          </p:cNvPr>
          <p:cNvSpPr txBox="1"/>
          <p:nvPr/>
        </p:nvSpPr>
        <p:spPr>
          <a:xfrm>
            <a:off x="1904747" y="5589240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IZ[m]I</a:t>
            </a:r>
          </a:p>
        </p:txBody>
      </p: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3949EB5E-563B-4078-9FD9-D75F006E19B3}"/>
              </a:ext>
            </a:extLst>
          </p:cNvPr>
          <p:cNvCxnSpPr>
            <a:cxnSpLocks/>
          </p:cNvCxnSpPr>
          <p:nvPr/>
        </p:nvCxnSpPr>
        <p:spPr>
          <a:xfrm>
            <a:off x="6009203" y="6528915"/>
            <a:ext cx="19760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DEEEA163-CD2F-48B3-96FD-447511D1992B}"/>
              </a:ext>
            </a:extLst>
          </p:cNvPr>
          <p:cNvCxnSpPr>
            <a:cxnSpLocks/>
          </p:cNvCxnSpPr>
          <p:nvPr/>
        </p:nvCxnSpPr>
        <p:spPr>
          <a:xfrm flipV="1">
            <a:off x="6906260" y="5871318"/>
            <a:ext cx="0" cy="8096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35A491A1-9413-4308-90F8-763A877A8055}"/>
              </a:ext>
            </a:extLst>
          </p:cNvPr>
          <p:cNvCxnSpPr/>
          <p:nvPr/>
        </p:nvCxnSpPr>
        <p:spPr>
          <a:xfrm>
            <a:off x="7583854" y="6455006"/>
            <a:ext cx="0" cy="126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87E9E4C7-810E-4127-BBBA-8EFEB385997A}"/>
              </a:ext>
            </a:extLst>
          </p:cNvPr>
          <p:cNvSpPr txBox="1"/>
          <p:nvPr/>
        </p:nvSpPr>
        <p:spPr>
          <a:xfrm>
            <a:off x="7956167" y="6349733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f</a:t>
            </a:r>
            <a:endParaRPr lang="de-CH" sz="1600" baseline="-25000" dirty="0"/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2CF6E5EF-F5FA-4AF8-86EB-FD64D167AC94}"/>
              </a:ext>
            </a:extLst>
          </p:cNvPr>
          <p:cNvSpPr/>
          <p:nvPr/>
        </p:nvSpPr>
        <p:spPr>
          <a:xfrm>
            <a:off x="6215702" y="6391503"/>
            <a:ext cx="676426" cy="128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DA82D402-F15A-4082-BBFD-A0DDF5412513}"/>
              </a:ext>
            </a:extLst>
          </p:cNvPr>
          <p:cNvSpPr/>
          <p:nvPr/>
        </p:nvSpPr>
        <p:spPr>
          <a:xfrm>
            <a:off x="6897320" y="6391503"/>
            <a:ext cx="676426" cy="128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AFB63BF-631F-40F4-A567-3F60B1F6DA31}"/>
              </a:ext>
            </a:extLst>
          </p:cNvPr>
          <p:cNvSpPr txBox="1"/>
          <p:nvPr/>
        </p:nvSpPr>
        <p:spPr>
          <a:xfrm>
            <a:off x="7420680" y="6542930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/2</a:t>
            </a:r>
            <a:endParaRPr lang="de-CH" sz="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Pfeil: nach oben gebogen 118">
            <a:extLst>
              <a:ext uri="{FF2B5EF4-FFF2-40B4-BE49-F238E27FC236}">
                <a16:creationId xmlns:a16="http://schemas.microsoft.com/office/drawing/2014/main" id="{56FFC530-2555-4F2F-B190-40D36DC04FC8}"/>
              </a:ext>
            </a:extLst>
          </p:cNvPr>
          <p:cNvSpPr/>
          <p:nvPr/>
        </p:nvSpPr>
        <p:spPr>
          <a:xfrm rot="5400000">
            <a:off x="696140" y="5792692"/>
            <a:ext cx="850392" cy="731520"/>
          </a:xfrm>
          <a:prstGeom prst="bentUpArrow">
            <a:avLst>
              <a:gd name="adj1" fmla="val 35417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5464E956-A30A-44BF-856B-C5EF8155AACB}"/>
              </a:ext>
            </a:extLst>
          </p:cNvPr>
          <p:cNvSpPr txBox="1"/>
          <p:nvPr/>
        </p:nvSpPr>
        <p:spPr>
          <a:xfrm>
            <a:off x="759805" y="6235914"/>
            <a:ext cx="612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FFT</a:t>
            </a:r>
          </a:p>
        </p:txBody>
      </p:sp>
      <p:sp>
        <p:nvSpPr>
          <p:cNvPr id="121" name="Pfeil: nach rechts 120">
            <a:extLst>
              <a:ext uri="{FF2B5EF4-FFF2-40B4-BE49-F238E27FC236}">
                <a16:creationId xmlns:a16="http://schemas.microsoft.com/office/drawing/2014/main" id="{D7600AEF-70B0-43F6-AD00-C45A57571BD7}"/>
              </a:ext>
            </a:extLst>
          </p:cNvPr>
          <p:cNvSpPr/>
          <p:nvPr/>
        </p:nvSpPr>
        <p:spPr>
          <a:xfrm>
            <a:off x="4561203" y="6156153"/>
            <a:ext cx="1001611" cy="484632"/>
          </a:xfrm>
          <a:prstGeom prst="rightArrow">
            <a:avLst>
              <a:gd name="adj1" fmla="val 5786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7A57ED1B-C6DE-458A-8D50-25953074EE9B}"/>
              </a:ext>
            </a:extLst>
          </p:cNvPr>
          <p:cNvSpPr txBox="1"/>
          <p:nvPr/>
        </p:nvSpPr>
        <p:spPr>
          <a:xfrm>
            <a:off x="4566705" y="6223016"/>
            <a:ext cx="1010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fftshift</a:t>
            </a:r>
            <a:endParaRPr lang="de-CH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EF175EAE-04A2-444D-BC98-18268CE7B7FC}"/>
              </a:ext>
            </a:extLst>
          </p:cNvPr>
          <p:cNvSpPr txBox="1"/>
          <p:nvPr/>
        </p:nvSpPr>
        <p:spPr>
          <a:xfrm>
            <a:off x="6558316" y="5570123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/>
              <a:t>IZ[m]I</a:t>
            </a:r>
          </a:p>
        </p:txBody>
      </p:sp>
    </p:spTree>
    <p:extLst>
      <p:ext uri="{BB962C8B-B14F-4D97-AF65-F5344CB8AC3E}">
        <p14:creationId xmlns:p14="http://schemas.microsoft.com/office/powerpoint/2010/main" val="323417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F1B2C8A-438E-4EC7-97A2-BE81105A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7" y="2120082"/>
            <a:ext cx="5704762" cy="4477270"/>
          </a:xfrm>
          <a:prstGeom prst="rect">
            <a:avLst/>
          </a:prstGeom>
        </p:spPr>
      </p:pic>
      <p:sp>
        <p:nvSpPr>
          <p:cNvPr id="2" name="Line 6">
            <a:extLst>
              <a:ext uri="{FF2B5EF4-FFF2-40B4-BE49-F238E27FC236}">
                <a16:creationId xmlns:a16="http://schemas.microsoft.com/office/drawing/2014/main" id="{A827D836-A6A1-44D4-A38A-B6AA413226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B5C807D9-7D3E-4BD1-9CF3-064FEAE7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282" y="1196752"/>
            <a:ext cx="783740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Use the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Matlab-program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CW_Doppler_Radar_8kSps_160.m, </a:t>
            </a:r>
            <a:r>
              <a:rPr lang="sv-SE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br>
              <a:rPr lang="sv-S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corresponding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wave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-file and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the Doppler-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altLang="de-DE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b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resulting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radial (Doppler-)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v. The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look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like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sv-SE" alt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C25059F-81EF-478A-9928-ADCE3C03F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6400"/>
            <a:ext cx="1709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Exercise</a:t>
            </a:r>
            <a:r>
              <a:rPr lang="de-CH" altLang="de-DE" sz="2400" b="1" dirty="0">
                <a:solidFill>
                  <a:srgbClr val="003399"/>
                </a:solidFill>
              </a:rPr>
              <a:t> 3</a:t>
            </a:r>
            <a:endParaRPr lang="de-CH" altLang="de-DE" sz="1600" b="1" dirty="0">
              <a:solidFill>
                <a:srgbClr val="003399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24986EA0-066A-41F3-8CEE-CD8B86A17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144" y="2369780"/>
            <a:ext cx="3000245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 err="1"/>
              <a:t>f</a:t>
            </a:r>
            <a:r>
              <a:rPr lang="de-CH" altLang="de-DE" sz="1600" baseline="-25000" dirty="0" err="1"/>
              <a:t>s</a:t>
            </a:r>
            <a:r>
              <a:rPr lang="de-CH" altLang="de-DE" sz="1600" dirty="0"/>
              <a:t> = 8 </a:t>
            </a:r>
            <a:r>
              <a:rPr lang="de-CH" altLang="de-DE" sz="1600" dirty="0" err="1"/>
              <a:t>kSps</a:t>
            </a:r>
            <a:r>
              <a:rPr lang="de-CH" altLang="de-DE" sz="1600" dirty="0"/>
              <a:t> 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/>
              <a:t>N</a:t>
            </a:r>
            <a:r>
              <a:rPr lang="de-CH" altLang="de-DE" sz="1600" baseline="-25000" dirty="0"/>
              <a:t>FFT</a:t>
            </a:r>
            <a:r>
              <a:rPr lang="de-CH" altLang="de-DE" sz="1600" dirty="0"/>
              <a:t> = 256 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/>
              <a:t>T</a:t>
            </a:r>
            <a:r>
              <a:rPr lang="de-CH" altLang="de-DE" sz="1600" baseline="-25000" dirty="0"/>
              <a:t>FFT</a:t>
            </a:r>
            <a:r>
              <a:rPr lang="de-CH" altLang="de-DE" sz="1600" dirty="0"/>
              <a:t> = N∙T</a:t>
            </a:r>
            <a:r>
              <a:rPr lang="de-CH" altLang="de-DE" sz="1600" baseline="-25000" dirty="0"/>
              <a:t>s</a:t>
            </a:r>
            <a:r>
              <a:rPr lang="de-CH" altLang="de-DE" sz="1600" dirty="0"/>
              <a:t> = 32 </a:t>
            </a:r>
            <a:r>
              <a:rPr lang="de-CH" altLang="de-DE" sz="1600" dirty="0" err="1"/>
              <a:t>ms</a:t>
            </a:r>
            <a:r>
              <a:rPr lang="de-CH" altLang="de-DE" sz="1600" dirty="0"/>
              <a:t>  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el-GR" altLang="de-DE" sz="1600" dirty="0"/>
              <a:t>Δ</a:t>
            </a:r>
            <a:r>
              <a:rPr lang="de-CH" altLang="de-DE" sz="1600" dirty="0"/>
              <a:t>f = 1/T</a:t>
            </a:r>
            <a:r>
              <a:rPr lang="de-CH" altLang="de-DE" sz="1600" baseline="-25000" dirty="0"/>
              <a:t>FFT  </a:t>
            </a:r>
            <a:r>
              <a:rPr lang="de-CH" altLang="de-DE" sz="1600" dirty="0"/>
              <a:t>= </a:t>
            </a:r>
            <a:r>
              <a:rPr lang="de-CH" altLang="de-DE" sz="1600" dirty="0" err="1"/>
              <a:t>f</a:t>
            </a:r>
            <a:r>
              <a:rPr lang="de-CH" altLang="de-DE" sz="1600" baseline="-25000" dirty="0" err="1"/>
              <a:t>s</a:t>
            </a:r>
            <a:r>
              <a:rPr lang="de-CH" altLang="de-DE" sz="1600" dirty="0"/>
              <a:t>/N ≈ 31 Hz  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 err="1"/>
              <a:t>detected</a:t>
            </a:r>
            <a:r>
              <a:rPr lang="de-CH" altLang="de-DE" sz="1600" dirty="0"/>
              <a:t> </a:t>
            </a:r>
            <a:r>
              <a:rPr lang="de-CH" altLang="de-DE" sz="1600" dirty="0" err="1"/>
              <a:t>f</a:t>
            </a:r>
            <a:r>
              <a:rPr lang="de-CH" altLang="de-DE" sz="1600" baseline="-25000" dirty="0" err="1"/>
              <a:t>d</a:t>
            </a:r>
            <a:r>
              <a:rPr lang="de-CH" altLang="de-DE" sz="1600" dirty="0"/>
              <a:t> = -156.3 Hz</a:t>
            </a:r>
            <a:br>
              <a:rPr lang="de-CH" altLang="de-DE" sz="1600" dirty="0"/>
            </a:br>
            <a:r>
              <a:rPr lang="de-CH" altLang="de-DE" sz="1600" dirty="0"/>
              <a:t>(</a:t>
            </a:r>
            <a:r>
              <a:rPr lang="de-CH" altLang="de-DE" sz="1600" dirty="0" err="1"/>
              <a:t>instead</a:t>
            </a:r>
            <a:r>
              <a:rPr lang="de-CH" altLang="de-DE" sz="1600" dirty="0"/>
              <a:t> of -160 Hz) 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 err="1"/>
              <a:t>detected</a:t>
            </a:r>
            <a:r>
              <a:rPr lang="de-CH" altLang="de-DE" sz="1600" dirty="0"/>
              <a:t> radial </a:t>
            </a:r>
            <a:r>
              <a:rPr lang="de-CH" altLang="de-DE" sz="1600" dirty="0" err="1"/>
              <a:t>velocity</a:t>
            </a:r>
            <a:br>
              <a:rPr lang="de-CH" altLang="de-DE" sz="1600" dirty="0"/>
            </a:br>
            <a:r>
              <a:rPr lang="de-CH" altLang="de-DE" sz="1600" dirty="0"/>
              <a:t>v = -0.98 m/s (</a:t>
            </a:r>
            <a:r>
              <a:rPr lang="de-CH" altLang="de-DE" sz="1600" dirty="0" err="1"/>
              <a:t>away</a:t>
            </a:r>
            <a:r>
              <a:rPr lang="de-CH" altLang="de-DE" sz="1600" dirty="0"/>
              <a:t> </a:t>
            </a:r>
            <a:r>
              <a:rPr lang="de-CH" altLang="de-DE" sz="1600" dirty="0" err="1"/>
              <a:t>from</a:t>
            </a:r>
            <a:r>
              <a:rPr lang="de-CH" altLang="de-DE" sz="1600" dirty="0"/>
              <a:t>  </a:t>
            </a:r>
            <a:br>
              <a:rPr lang="de-CH" altLang="de-DE" sz="1600" dirty="0"/>
            </a:br>
            <a:r>
              <a:rPr lang="de-CH" altLang="de-DE" sz="1600" dirty="0"/>
              <a:t>the radar, </a:t>
            </a:r>
            <a:r>
              <a:rPr lang="de-CH" altLang="de-DE" sz="1600" dirty="0" err="1"/>
              <a:t>instead</a:t>
            </a:r>
            <a:r>
              <a:rPr lang="de-CH" altLang="de-DE" sz="1600" dirty="0"/>
              <a:t> -1 m/s)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 err="1">
                <a:solidFill>
                  <a:srgbClr val="0000FF"/>
                </a:solidFill>
              </a:rPr>
              <a:t>test</a:t>
            </a:r>
            <a:r>
              <a:rPr lang="de-CH" altLang="de-DE" sz="1600" dirty="0">
                <a:solidFill>
                  <a:srgbClr val="0000FF"/>
                </a:solidFill>
              </a:rPr>
              <a:t> also </a:t>
            </a:r>
            <a:r>
              <a:rPr lang="de-CH" altLang="de-DE" sz="1600" dirty="0" err="1">
                <a:solidFill>
                  <a:srgbClr val="0000FF"/>
                </a:solidFill>
              </a:rPr>
              <a:t>with</a:t>
            </a:r>
            <a:r>
              <a:rPr lang="de-CH" altLang="de-DE" sz="1600" dirty="0">
                <a:solidFill>
                  <a:srgbClr val="0000FF"/>
                </a:solidFill>
              </a:rPr>
              <a:t> N</a:t>
            </a:r>
            <a:r>
              <a:rPr lang="de-CH" altLang="de-DE" sz="1600" baseline="-25000" dirty="0">
                <a:solidFill>
                  <a:srgbClr val="0000FF"/>
                </a:solidFill>
              </a:rPr>
              <a:t>FFT</a:t>
            </a:r>
            <a:r>
              <a:rPr lang="de-CH" altLang="de-DE" sz="1600" dirty="0">
                <a:solidFill>
                  <a:srgbClr val="0000FF"/>
                </a:solidFill>
              </a:rPr>
              <a:t> = 64 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3A40F16-9809-422C-A9DA-F4D3D4960073}"/>
              </a:ext>
            </a:extLst>
          </p:cNvPr>
          <p:cNvSpPr/>
          <p:nvPr/>
        </p:nvSpPr>
        <p:spPr>
          <a:xfrm>
            <a:off x="1418506" y="3938056"/>
            <a:ext cx="35283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determined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de-CH" sz="12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EDD16A1-DC6A-4F71-847E-020C66A4C4F2}"/>
              </a:ext>
            </a:extLst>
          </p:cNvPr>
          <p:cNvSpPr/>
          <p:nvPr/>
        </p:nvSpPr>
        <p:spPr>
          <a:xfrm>
            <a:off x="2792103" y="5316190"/>
            <a:ext cx="2825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2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negativ</a:t>
            </a:r>
            <a:b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away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radar)</a:t>
            </a:r>
            <a:endParaRPr lang="de-CH" sz="12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169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">
            <a:extLst>
              <a:ext uri="{FF2B5EF4-FFF2-40B4-BE49-F238E27FC236}">
                <a16:creationId xmlns:a16="http://schemas.microsoft.com/office/drawing/2014/main" id="{5AD894FD-FAD9-41D3-A888-87221D6F7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82FB4AF-9265-4755-A414-0776EC661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6400"/>
            <a:ext cx="1709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Exercise</a:t>
            </a:r>
            <a:r>
              <a:rPr lang="de-CH" altLang="de-DE" sz="2400" b="1" dirty="0">
                <a:solidFill>
                  <a:srgbClr val="003399"/>
                </a:solidFill>
              </a:rPr>
              <a:t> 4</a:t>
            </a:r>
            <a:endParaRPr lang="de-CH" altLang="de-DE" sz="1600" b="1" dirty="0">
              <a:solidFill>
                <a:srgbClr val="003399"/>
              </a:solidFill>
              <a:highlight>
                <a:srgbClr val="FFFF00"/>
              </a:highlight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1EB3E06-2981-4659-BF59-7B9160D6B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282" y="1196752"/>
            <a:ext cx="831509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Use the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Matlab-program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v-S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CW_Doppler_Radar_4kSps_waveByhand.m </a:t>
            </a:r>
            <a:r>
              <a:rPr lang="sv-SE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br>
              <a:rPr lang="sv-S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corresponding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wave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-file and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resulting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Doppler-velocity-profile</a:t>
            </a:r>
            <a:b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v(t). The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look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 like </a:t>
            </a:r>
            <a:r>
              <a:rPr lang="de-CH" altLang="de-DE" sz="18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de-CH" altLang="de-DE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sv-SE" altLang="de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3D501D0-BDE5-4A52-82E8-AF6183E5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093789"/>
            <a:ext cx="6264696" cy="469673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16786C0A-D0EB-4162-8D91-E2D744B2102B}"/>
              </a:ext>
            </a:extLst>
          </p:cNvPr>
          <p:cNvSpPr/>
          <p:nvPr/>
        </p:nvSpPr>
        <p:spPr>
          <a:xfrm>
            <a:off x="5868144" y="4797153"/>
            <a:ext cx="29090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was moved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towards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b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away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de-CH" sz="12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A6FB2B8-AB67-477B-99E3-643B494FBF33}"/>
              </a:ext>
            </a:extLst>
          </p:cNvPr>
          <p:cNvCxnSpPr/>
          <p:nvPr/>
        </p:nvCxnSpPr>
        <p:spPr>
          <a:xfrm flipH="1">
            <a:off x="3563888" y="4941168"/>
            <a:ext cx="2304256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FFE10F2-E376-41D8-BA62-668C627CD681}"/>
              </a:ext>
            </a:extLst>
          </p:cNvPr>
          <p:cNvCxnSpPr>
            <a:cxnSpLocks/>
          </p:cNvCxnSpPr>
          <p:nvPr/>
        </p:nvCxnSpPr>
        <p:spPr>
          <a:xfrm flipH="1">
            <a:off x="4572000" y="4941168"/>
            <a:ext cx="1296144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903006B-E110-46B8-AD48-433B1EBE54EE}"/>
              </a:ext>
            </a:extLst>
          </p:cNvPr>
          <p:cNvCxnSpPr>
            <a:cxnSpLocks/>
          </p:cNvCxnSpPr>
          <p:nvPr/>
        </p:nvCxnSpPr>
        <p:spPr>
          <a:xfrm flipH="1" flipV="1">
            <a:off x="5467976" y="5495118"/>
            <a:ext cx="552568" cy="487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42D79E7C-3438-435D-A81F-B1B250D05A7F}"/>
              </a:ext>
            </a:extLst>
          </p:cNvPr>
          <p:cNvSpPr/>
          <p:nvPr/>
        </p:nvSpPr>
        <p:spPr>
          <a:xfrm>
            <a:off x="6020544" y="5886170"/>
            <a:ext cx="23042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below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threshold</a:t>
            </a:r>
            <a:endParaRPr lang="de-CH" sz="12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045C5EB7-0E3F-4D02-BA78-D350AA028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8078" y="2395734"/>
            <a:ext cx="3065968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 err="1"/>
              <a:t>f</a:t>
            </a:r>
            <a:r>
              <a:rPr lang="de-CH" altLang="de-DE" sz="1600" baseline="-25000" dirty="0" err="1"/>
              <a:t>s</a:t>
            </a:r>
            <a:r>
              <a:rPr lang="de-CH" altLang="de-DE" sz="1600" dirty="0"/>
              <a:t> = 4 </a:t>
            </a:r>
            <a:r>
              <a:rPr lang="de-CH" altLang="de-DE" sz="1600" dirty="0" err="1"/>
              <a:t>kSps</a:t>
            </a:r>
            <a:r>
              <a:rPr lang="de-CH" altLang="de-DE" sz="1600" dirty="0"/>
              <a:t> 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/>
              <a:t>N</a:t>
            </a:r>
            <a:r>
              <a:rPr lang="de-CH" altLang="de-DE" sz="1600" baseline="-25000" dirty="0"/>
              <a:t>FFT</a:t>
            </a:r>
            <a:r>
              <a:rPr lang="de-CH" altLang="de-DE" sz="1600" dirty="0"/>
              <a:t> = 256 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de-CH" altLang="de-DE" sz="1600" dirty="0"/>
              <a:t>T</a:t>
            </a:r>
            <a:r>
              <a:rPr lang="de-CH" altLang="de-DE" sz="1600" baseline="-25000" dirty="0"/>
              <a:t>FFT</a:t>
            </a:r>
            <a:r>
              <a:rPr lang="de-CH" altLang="de-DE" sz="1600" dirty="0"/>
              <a:t> = N∙T</a:t>
            </a:r>
            <a:r>
              <a:rPr lang="de-CH" altLang="de-DE" sz="1600" baseline="-25000" dirty="0"/>
              <a:t>s</a:t>
            </a:r>
            <a:r>
              <a:rPr lang="de-CH" altLang="de-DE" sz="1600" dirty="0"/>
              <a:t> = 64 </a:t>
            </a:r>
            <a:r>
              <a:rPr lang="de-CH" altLang="de-DE" sz="1600" dirty="0" err="1"/>
              <a:t>ms</a:t>
            </a:r>
            <a:r>
              <a:rPr lang="de-CH" altLang="de-DE" sz="1600" dirty="0"/>
              <a:t>  </a:t>
            </a:r>
          </a:p>
          <a:p>
            <a:pPr marL="266700" indent="-257175">
              <a:spcBef>
                <a:spcPct val="0"/>
              </a:spcBef>
              <a:spcAft>
                <a:spcPts val="1800"/>
              </a:spcAft>
            </a:pPr>
            <a:r>
              <a:rPr lang="el-GR" altLang="de-DE" sz="1600" dirty="0"/>
              <a:t>Δ</a:t>
            </a:r>
            <a:r>
              <a:rPr lang="de-CH" altLang="de-DE" sz="1600" dirty="0"/>
              <a:t>f = 1/T</a:t>
            </a:r>
            <a:r>
              <a:rPr lang="de-CH" altLang="de-DE" sz="1600" baseline="-25000" dirty="0"/>
              <a:t>FFT  </a:t>
            </a:r>
            <a:r>
              <a:rPr lang="de-CH" altLang="de-DE" sz="1600" dirty="0"/>
              <a:t>= </a:t>
            </a:r>
            <a:r>
              <a:rPr lang="de-CH" altLang="de-DE" sz="1600" dirty="0" err="1"/>
              <a:t>f</a:t>
            </a:r>
            <a:r>
              <a:rPr lang="de-CH" altLang="de-DE" sz="1600" baseline="-25000" dirty="0" err="1"/>
              <a:t>s</a:t>
            </a:r>
            <a:r>
              <a:rPr lang="de-CH" altLang="de-DE" sz="1600" dirty="0"/>
              <a:t>/N ≈ 15.6 Hz  </a:t>
            </a:r>
          </a:p>
        </p:txBody>
      </p:sp>
    </p:spTree>
    <p:extLst>
      <p:ext uri="{BB962C8B-B14F-4D97-AF65-F5344CB8AC3E}">
        <p14:creationId xmlns:p14="http://schemas.microsoft.com/office/powerpoint/2010/main" val="2880665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">
            <a:extLst>
              <a:ext uri="{FF2B5EF4-FFF2-40B4-BE49-F238E27FC236}">
                <a16:creationId xmlns:a16="http://schemas.microsoft.com/office/drawing/2014/main" id="{55150FAE-0AB2-4EA2-9BCA-36FA0C75D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C391441-16F1-4E43-973D-FF477CC12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6400"/>
            <a:ext cx="33489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DSP-Design-Scenario</a:t>
            </a:r>
            <a:endParaRPr lang="de-CH" altLang="de-DE" sz="1600" b="1" dirty="0">
              <a:solidFill>
                <a:srgbClr val="003399"/>
              </a:solidFill>
              <a:highlight>
                <a:srgbClr val="FFFF00"/>
              </a:highlight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652BAE2-C206-4B34-A557-CF3082A17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515" y="1313036"/>
            <a:ext cx="8576579" cy="395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1800"/>
              </a:spcAft>
              <a:buNone/>
            </a:pPr>
            <a:r>
              <a:rPr lang="de-CH" altLang="de-DE" sz="2000" dirty="0">
                <a:solidFill>
                  <a:srgbClr val="003399"/>
                </a:solidFill>
              </a:rPr>
              <a:t>Speed </a:t>
            </a:r>
            <a:r>
              <a:rPr lang="de-CH" altLang="de-DE" sz="2000" dirty="0" err="1">
                <a:solidFill>
                  <a:srgbClr val="003399"/>
                </a:solidFill>
              </a:rPr>
              <a:t>sensor</a:t>
            </a:r>
            <a:r>
              <a:rPr lang="de-CH" altLang="de-DE" sz="2000" dirty="0">
                <a:solidFill>
                  <a:srgbClr val="003399"/>
                </a:solidFill>
              </a:rPr>
              <a:t>: </a:t>
            </a:r>
            <a:r>
              <a:rPr lang="de-CH" altLang="de-DE" sz="2000" dirty="0" err="1">
                <a:solidFill>
                  <a:srgbClr val="003399"/>
                </a:solidFill>
              </a:rPr>
              <a:t>moving</a:t>
            </a:r>
            <a:r>
              <a:rPr lang="de-CH" altLang="de-DE" sz="2000" dirty="0">
                <a:solidFill>
                  <a:srgbClr val="003399"/>
                </a:solidFill>
              </a:rPr>
              <a:t> </a:t>
            </a:r>
            <a:r>
              <a:rPr lang="de-CH" altLang="de-DE" sz="2000" dirty="0" err="1">
                <a:solidFill>
                  <a:srgbClr val="003399"/>
                </a:solidFill>
              </a:rPr>
              <a:t>car</a:t>
            </a:r>
            <a:r>
              <a:rPr lang="de-CH" altLang="de-DE" sz="2000" dirty="0">
                <a:solidFill>
                  <a:srgbClr val="003399"/>
                </a:solidFill>
              </a:rPr>
              <a:t>, max. </a:t>
            </a:r>
            <a:r>
              <a:rPr lang="de-CH" altLang="de-DE" sz="2000" dirty="0" err="1">
                <a:solidFill>
                  <a:srgbClr val="003399"/>
                </a:solidFill>
              </a:rPr>
              <a:t>range</a:t>
            </a:r>
            <a:r>
              <a:rPr lang="de-CH" altLang="de-DE" sz="2000" dirty="0">
                <a:solidFill>
                  <a:srgbClr val="003399"/>
                </a:solidFill>
              </a:rPr>
              <a:t> 40-60 m (</a:t>
            </a:r>
            <a:r>
              <a:rPr lang="de-CH" altLang="de-DE" sz="2000" dirty="0" err="1">
                <a:solidFill>
                  <a:srgbClr val="003399"/>
                </a:solidFill>
              </a:rPr>
              <a:t>see</a:t>
            </a:r>
            <a:r>
              <a:rPr lang="de-CH" altLang="de-DE" sz="2000" dirty="0">
                <a:solidFill>
                  <a:srgbClr val="003399"/>
                </a:solidFill>
              </a:rPr>
              <a:t> </a:t>
            </a:r>
            <a:r>
              <a:rPr lang="de-CH" altLang="de-DE" sz="2000" dirty="0" err="1">
                <a:solidFill>
                  <a:srgbClr val="003399"/>
                </a:solidFill>
              </a:rPr>
              <a:t>below</a:t>
            </a:r>
            <a:r>
              <a:rPr lang="de-CH" altLang="de-DE" sz="2000" dirty="0">
                <a:solidFill>
                  <a:srgbClr val="003399"/>
                </a:solidFill>
              </a:rPr>
              <a:t>)</a:t>
            </a:r>
          </a:p>
          <a:p>
            <a:pPr marL="342900" indent="-342900">
              <a:spcBef>
                <a:spcPct val="0"/>
              </a:spcBef>
              <a:spcAft>
                <a:spcPts val="1800"/>
              </a:spcAft>
            </a:pPr>
            <a:r>
              <a:rPr lang="de-CH" altLang="de-DE" sz="1800" dirty="0" err="1"/>
              <a:t>v</a:t>
            </a:r>
            <a:r>
              <a:rPr lang="de-CH" altLang="de-DE" sz="1800" baseline="-25000" dirty="0" err="1"/>
              <a:t>max</a:t>
            </a:r>
            <a:r>
              <a:rPr lang="de-CH" altLang="de-DE" sz="1800" dirty="0"/>
              <a:t> = 80 km/h  </a:t>
            </a:r>
          </a:p>
          <a:p>
            <a:pPr marL="342900" indent="-342900">
              <a:spcBef>
                <a:spcPct val="0"/>
              </a:spcBef>
              <a:spcAft>
                <a:spcPts val="1800"/>
              </a:spcAft>
            </a:pPr>
            <a:r>
              <a:rPr lang="de-CH" altLang="de-DE" sz="1800" dirty="0"/>
              <a:t>Doppler </a:t>
            </a:r>
            <a:r>
              <a:rPr lang="de-CH" altLang="de-DE" sz="1800" dirty="0" err="1"/>
              <a:t>frequency</a:t>
            </a:r>
            <a:r>
              <a:rPr lang="de-CH" altLang="de-DE" sz="1800" dirty="0"/>
              <a:t> </a:t>
            </a:r>
            <a:r>
              <a:rPr lang="de-CH" altLang="de-DE" sz="1800" dirty="0" err="1"/>
              <a:t>f</a:t>
            </a:r>
            <a:r>
              <a:rPr lang="de-CH" altLang="de-DE" sz="1800" baseline="-25000" dirty="0" err="1"/>
              <a:t>d</a:t>
            </a:r>
            <a:r>
              <a:rPr lang="de-CH" altLang="de-DE" sz="1800" dirty="0"/>
              <a:t> = ± 3556 Hz  </a:t>
            </a:r>
          </a:p>
          <a:p>
            <a:pPr marL="342900" indent="-342900">
              <a:spcBef>
                <a:spcPct val="0"/>
              </a:spcBef>
              <a:spcAft>
                <a:spcPts val="1800"/>
              </a:spcAft>
            </a:pPr>
            <a:r>
              <a:rPr lang="de-CH" altLang="de-DE" sz="1800" dirty="0" err="1"/>
              <a:t>sampling</a:t>
            </a:r>
            <a:r>
              <a:rPr lang="de-CH" altLang="de-DE" sz="1800" dirty="0"/>
              <a:t> </a:t>
            </a:r>
            <a:r>
              <a:rPr lang="de-CH" altLang="de-DE" sz="1800" dirty="0" err="1"/>
              <a:t>frequency</a:t>
            </a:r>
            <a:r>
              <a:rPr lang="de-CH" altLang="de-DE" sz="1800" dirty="0"/>
              <a:t> </a:t>
            </a:r>
            <a:r>
              <a:rPr lang="de-CH" altLang="de-DE" sz="1800" dirty="0" err="1"/>
              <a:t>f</a:t>
            </a:r>
            <a:r>
              <a:rPr lang="de-CH" altLang="de-DE" sz="1800" baseline="-25000" dirty="0" err="1"/>
              <a:t>s</a:t>
            </a:r>
            <a:r>
              <a:rPr lang="de-CH" altLang="de-DE" sz="1800" dirty="0"/>
              <a:t> = 8 </a:t>
            </a:r>
            <a:r>
              <a:rPr lang="de-CH" altLang="de-DE" sz="1800" dirty="0" err="1"/>
              <a:t>kSps</a:t>
            </a:r>
            <a:r>
              <a:rPr lang="de-CH" altLang="de-DE" sz="1800" dirty="0"/>
              <a:t> </a:t>
            </a:r>
            <a:r>
              <a:rPr lang="de-CH" altLang="de-DE" sz="1800" dirty="0" err="1"/>
              <a:t>is</a:t>
            </a:r>
            <a:r>
              <a:rPr lang="de-CH" altLang="de-DE" sz="1800" dirty="0"/>
              <a:t> larger </a:t>
            </a:r>
            <a:r>
              <a:rPr lang="de-CH" altLang="de-DE" sz="1800" dirty="0" err="1"/>
              <a:t>than</a:t>
            </a:r>
            <a:r>
              <a:rPr lang="de-CH" altLang="de-DE" sz="1800" dirty="0"/>
              <a:t> 2∙If</a:t>
            </a:r>
            <a:r>
              <a:rPr lang="de-CH" altLang="de-DE" sz="1800" baseline="-25000" dirty="0"/>
              <a:t>d</a:t>
            </a:r>
            <a:r>
              <a:rPr lang="de-CH" altLang="de-DE" sz="1800" dirty="0"/>
              <a:t>I</a:t>
            </a:r>
          </a:p>
          <a:p>
            <a:pPr marL="342900" indent="-342900">
              <a:spcBef>
                <a:spcPct val="0"/>
              </a:spcBef>
              <a:spcAft>
                <a:spcPts val="1800"/>
              </a:spcAft>
            </a:pPr>
            <a:r>
              <a:rPr lang="de-CH" altLang="de-DE" sz="1800" dirty="0"/>
              <a:t>block </a:t>
            </a:r>
            <a:r>
              <a:rPr lang="de-CH" altLang="de-DE" sz="1800" dirty="0" err="1"/>
              <a:t>length</a:t>
            </a:r>
            <a:r>
              <a:rPr lang="de-CH" altLang="de-DE" sz="1800" dirty="0"/>
              <a:t> N = 256 </a:t>
            </a:r>
          </a:p>
          <a:p>
            <a:pPr marL="342900" indent="-342900">
              <a:spcBef>
                <a:spcPct val="0"/>
              </a:spcBef>
              <a:spcAft>
                <a:spcPts val="1800"/>
              </a:spcAft>
            </a:pPr>
            <a:r>
              <a:rPr lang="de-CH" altLang="de-DE" sz="1800" dirty="0" err="1"/>
              <a:t>measurement</a:t>
            </a:r>
            <a:r>
              <a:rPr lang="de-CH" altLang="de-DE" sz="1800" dirty="0"/>
              <a:t> time T</a:t>
            </a:r>
            <a:r>
              <a:rPr lang="de-CH" altLang="de-DE" sz="1800" baseline="-25000" dirty="0"/>
              <a:t>FFT</a:t>
            </a:r>
            <a:r>
              <a:rPr lang="de-CH" altLang="de-DE" sz="1800" dirty="0"/>
              <a:t> = N∙T</a:t>
            </a:r>
            <a:r>
              <a:rPr lang="de-CH" altLang="de-DE" sz="1800" baseline="-25000" dirty="0"/>
              <a:t>s</a:t>
            </a:r>
            <a:r>
              <a:rPr lang="de-CH" altLang="de-DE" sz="1800" dirty="0"/>
              <a:t> = 32 </a:t>
            </a:r>
            <a:r>
              <a:rPr lang="de-CH" altLang="de-DE" sz="1800" dirty="0" err="1"/>
              <a:t>ms</a:t>
            </a:r>
            <a:r>
              <a:rPr lang="de-CH" altLang="de-DE" sz="1800" dirty="0"/>
              <a:t>  (</a:t>
            </a:r>
            <a:r>
              <a:rPr lang="de-CH" altLang="de-DE" sz="1800" dirty="0" err="1"/>
              <a:t>car</a:t>
            </a:r>
            <a:r>
              <a:rPr lang="de-CH" altLang="de-DE" sz="1800" dirty="0"/>
              <a:t> </a:t>
            </a:r>
            <a:r>
              <a:rPr lang="de-CH" altLang="de-DE" sz="1800" dirty="0" err="1"/>
              <a:t>moves</a:t>
            </a:r>
            <a:r>
              <a:rPr lang="de-CH" altLang="de-DE" sz="1800" dirty="0"/>
              <a:t> &lt; 0.7m </a:t>
            </a:r>
            <a:r>
              <a:rPr lang="de-CH" altLang="de-DE" sz="1800" dirty="0" err="1"/>
              <a:t>during</a:t>
            </a:r>
            <a:r>
              <a:rPr lang="de-CH" altLang="de-DE" sz="1800" dirty="0"/>
              <a:t> </a:t>
            </a:r>
            <a:r>
              <a:rPr lang="de-CH" altLang="de-DE" sz="1800" dirty="0" err="1"/>
              <a:t>this</a:t>
            </a:r>
            <a:r>
              <a:rPr lang="de-CH" altLang="de-DE" sz="1800" dirty="0"/>
              <a:t> time)</a:t>
            </a:r>
          </a:p>
          <a:p>
            <a:pPr marL="342900" indent="-342900">
              <a:spcBef>
                <a:spcPct val="0"/>
              </a:spcBef>
              <a:spcAft>
                <a:spcPts val="1800"/>
              </a:spcAft>
            </a:pPr>
            <a:r>
              <a:rPr lang="de-CH" altLang="de-DE" sz="1800" dirty="0"/>
              <a:t>FFT </a:t>
            </a:r>
            <a:r>
              <a:rPr lang="de-CH" altLang="de-DE" sz="1800" dirty="0" err="1"/>
              <a:t>frequency</a:t>
            </a:r>
            <a:r>
              <a:rPr lang="de-CH" altLang="de-DE" sz="1800" dirty="0"/>
              <a:t> </a:t>
            </a:r>
            <a:r>
              <a:rPr lang="de-CH" altLang="de-DE" sz="1800" dirty="0" err="1"/>
              <a:t>resolution</a:t>
            </a:r>
            <a:r>
              <a:rPr lang="de-CH" altLang="de-DE" sz="1800" dirty="0"/>
              <a:t> </a:t>
            </a:r>
            <a:r>
              <a:rPr lang="el-GR" altLang="de-DE" sz="1800" dirty="0"/>
              <a:t>Δ</a:t>
            </a:r>
            <a:r>
              <a:rPr lang="de-CH" altLang="de-DE" sz="1800" dirty="0"/>
              <a:t>f = 1/ T</a:t>
            </a:r>
            <a:r>
              <a:rPr lang="de-CH" altLang="de-DE" sz="1800" baseline="-25000" dirty="0"/>
              <a:t>FFT  </a:t>
            </a:r>
            <a:r>
              <a:rPr lang="de-CH" altLang="de-DE" sz="1800" dirty="0"/>
              <a:t>≈ 31 Hz (</a:t>
            </a:r>
            <a:r>
              <a:rPr lang="de-CH" altLang="de-DE" sz="1800" dirty="0" err="1"/>
              <a:t>corresponds</a:t>
            </a:r>
            <a:r>
              <a:rPr lang="de-CH" altLang="de-DE" sz="1800" dirty="0"/>
              <a:t> </a:t>
            </a:r>
            <a:r>
              <a:rPr lang="de-CH" altLang="de-DE" sz="1800" dirty="0" err="1"/>
              <a:t>to</a:t>
            </a:r>
            <a:r>
              <a:rPr lang="de-CH" altLang="de-DE" sz="1800" dirty="0"/>
              <a:t> 0.7 km/h)</a:t>
            </a:r>
          </a:p>
          <a:p>
            <a:pPr marL="342900" indent="-342900">
              <a:spcBef>
                <a:spcPct val="0"/>
              </a:spcBef>
              <a:spcAft>
                <a:spcPts val="1800"/>
              </a:spcAft>
            </a:pPr>
            <a:r>
              <a:rPr lang="de-CH" altLang="de-DE" sz="1800" dirty="0" err="1"/>
              <a:t>accuracy</a:t>
            </a:r>
            <a:r>
              <a:rPr lang="de-CH" altLang="de-DE" sz="1800" dirty="0"/>
              <a:t> of the </a:t>
            </a:r>
            <a:r>
              <a:rPr lang="de-CH" altLang="de-DE" sz="1800" dirty="0" err="1"/>
              <a:t>speed</a:t>
            </a:r>
            <a:r>
              <a:rPr lang="de-CH" altLang="de-DE" sz="1800" dirty="0"/>
              <a:t> </a:t>
            </a:r>
            <a:r>
              <a:rPr lang="de-CH" altLang="de-DE" sz="1800" dirty="0" err="1"/>
              <a:t>indication</a:t>
            </a:r>
            <a:r>
              <a:rPr lang="de-CH" altLang="de-DE" sz="1800" dirty="0"/>
              <a:t> </a:t>
            </a:r>
            <a:r>
              <a:rPr lang="de-CH" altLang="de-DE" sz="1800" dirty="0" err="1"/>
              <a:t>is</a:t>
            </a:r>
            <a:r>
              <a:rPr lang="de-CH" altLang="de-DE" sz="1800" dirty="0"/>
              <a:t> ±0.35 km/h </a:t>
            </a:r>
          </a:p>
        </p:txBody>
      </p:sp>
    </p:spTree>
    <p:extLst>
      <p:ext uri="{BB962C8B-B14F-4D97-AF65-F5344CB8AC3E}">
        <p14:creationId xmlns:p14="http://schemas.microsoft.com/office/powerpoint/2010/main" val="1559818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9D920FEE-F6A4-493D-927C-AC590544E942}"/>
              </a:ext>
            </a:extLst>
          </p:cNvPr>
          <p:cNvCxnSpPr>
            <a:cxnSpLocks/>
          </p:cNvCxnSpPr>
          <p:nvPr/>
        </p:nvCxnSpPr>
        <p:spPr>
          <a:xfrm flipV="1">
            <a:off x="1796177" y="3781666"/>
            <a:ext cx="556348" cy="38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4">
            <a:extLst>
              <a:ext uri="{FF2B5EF4-FFF2-40B4-BE49-F238E27FC236}">
                <a16:creationId xmlns:a16="http://schemas.microsoft.com/office/drawing/2014/main" id="{A8C29086-E613-4762-AE6C-C888D8CB6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19607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Link Budget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95ECFAA4-8953-470E-9A9F-487D3EA9C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BD8C1B3-0296-4488-A39B-3CA96BC2FFF8}"/>
              </a:ext>
            </a:extLst>
          </p:cNvPr>
          <p:cNvCxnSpPr>
            <a:cxnSpLocks/>
          </p:cNvCxnSpPr>
          <p:nvPr/>
        </p:nvCxnSpPr>
        <p:spPr>
          <a:xfrm flipV="1">
            <a:off x="1795464" y="2493654"/>
            <a:ext cx="556348" cy="3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EC44311D-B4FD-41FF-91CC-06FF11337505}"/>
              </a:ext>
            </a:extLst>
          </p:cNvPr>
          <p:cNvSpPr/>
          <p:nvPr/>
        </p:nvSpPr>
        <p:spPr>
          <a:xfrm>
            <a:off x="2306093" y="2313635"/>
            <a:ext cx="45719" cy="360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4E7E3B-2146-48AF-943F-F7AB403F687F}"/>
              </a:ext>
            </a:extLst>
          </p:cNvPr>
          <p:cNvSpPr txBox="1"/>
          <p:nvPr/>
        </p:nvSpPr>
        <p:spPr>
          <a:xfrm>
            <a:off x="1156664" y="2347855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A65E087-EB9A-461A-8648-60ECBE26812C}"/>
              </a:ext>
            </a:extLst>
          </p:cNvPr>
          <p:cNvSpPr txBox="1"/>
          <p:nvPr/>
        </p:nvSpPr>
        <p:spPr>
          <a:xfrm>
            <a:off x="1521045" y="1916832"/>
            <a:ext cx="1172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de-CH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antenna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= 8 dB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B672EEE-CD5C-4995-8A64-1CCB559F94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5400000">
            <a:off x="2707183" y="2357656"/>
            <a:ext cx="429387" cy="289176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28F1DD08-BC56-4484-A5C4-47F675D16E6F}"/>
              </a:ext>
            </a:extLst>
          </p:cNvPr>
          <p:cNvSpPr txBox="1"/>
          <p:nvPr/>
        </p:nvSpPr>
        <p:spPr>
          <a:xfrm>
            <a:off x="2623413" y="1420776"/>
            <a:ext cx="252870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Isotropic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Radiated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Power</a:t>
            </a:r>
          </a:p>
          <a:p>
            <a:pPr>
              <a:spcAft>
                <a:spcPts val="600"/>
              </a:spcAft>
            </a:pP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EIRP = 12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endParaRPr lang="de-CH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CCF3F6F7-1B11-4646-BCE5-0043E78081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6200000">
            <a:off x="2715971" y="3732220"/>
            <a:ext cx="245399" cy="165267"/>
          </a:xfrm>
          <a:prstGeom prst="rect">
            <a:avLst/>
          </a:prstGeom>
        </p:spPr>
      </p:pic>
      <p:sp>
        <p:nvSpPr>
          <p:cNvPr id="26" name="Gleichschenkliges Dreieck 25">
            <a:extLst>
              <a:ext uri="{FF2B5EF4-FFF2-40B4-BE49-F238E27FC236}">
                <a16:creationId xmlns:a16="http://schemas.microsoft.com/office/drawing/2014/main" id="{B749E300-9EE0-4CF3-BE45-9C91AF95F63F}"/>
              </a:ext>
            </a:extLst>
          </p:cNvPr>
          <p:cNvSpPr/>
          <p:nvPr/>
        </p:nvSpPr>
        <p:spPr>
          <a:xfrm rot="16200000">
            <a:off x="1410273" y="3600889"/>
            <a:ext cx="411485" cy="358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8BF3F0D3-1674-4394-9512-010DA8B46C91}"/>
              </a:ext>
            </a:extLst>
          </p:cNvPr>
          <p:cNvCxnSpPr>
            <a:cxnSpLocks/>
          </p:cNvCxnSpPr>
          <p:nvPr/>
        </p:nvCxnSpPr>
        <p:spPr>
          <a:xfrm flipV="1">
            <a:off x="1148536" y="3786622"/>
            <a:ext cx="289176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FCC69EE8-F8E1-4DBE-8952-EA3A0792139A}"/>
              </a:ext>
            </a:extLst>
          </p:cNvPr>
          <p:cNvSpPr/>
          <p:nvPr/>
        </p:nvSpPr>
        <p:spPr>
          <a:xfrm>
            <a:off x="2306093" y="3599939"/>
            <a:ext cx="45719" cy="360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65A86D6-11C0-42BB-957F-3F31BAFDC971}"/>
              </a:ext>
            </a:extLst>
          </p:cNvPr>
          <p:cNvSpPr txBox="1"/>
          <p:nvPr/>
        </p:nvSpPr>
        <p:spPr>
          <a:xfrm>
            <a:off x="1126307" y="3286873"/>
            <a:ext cx="1076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de-CH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LNA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= 10 dB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36C3CCF-9EE0-4FDA-9B0F-55A8E8854229}"/>
              </a:ext>
            </a:extLst>
          </p:cNvPr>
          <p:cNvCxnSpPr>
            <a:cxnSpLocks/>
          </p:cNvCxnSpPr>
          <p:nvPr/>
        </p:nvCxnSpPr>
        <p:spPr>
          <a:xfrm>
            <a:off x="2735224" y="1979696"/>
            <a:ext cx="0" cy="221063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D271ACA5-CEE3-41B4-B6E3-2077C7656A35}"/>
              </a:ext>
            </a:extLst>
          </p:cNvPr>
          <p:cNvSpPr txBox="1"/>
          <p:nvPr/>
        </p:nvSpPr>
        <p:spPr>
          <a:xfrm>
            <a:off x="2624787" y="4199471"/>
            <a:ext cx="281519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de-CH" sz="12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≥ -105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(B=1kHz, S/N=6dB,...)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8710F382-5353-49AE-8887-2A942C2B6C65}"/>
              </a:ext>
            </a:extLst>
          </p:cNvPr>
          <p:cNvSpPr txBox="1"/>
          <p:nvPr/>
        </p:nvSpPr>
        <p:spPr>
          <a:xfrm>
            <a:off x="324714" y="3647047"/>
            <a:ext cx="89319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de-CH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≥ -87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858122B-7F1B-4B54-8E9D-4347879D0C26}"/>
              </a:ext>
            </a:extLst>
          </p:cNvPr>
          <p:cNvSpPr txBox="1"/>
          <p:nvPr/>
        </p:nvSpPr>
        <p:spPr>
          <a:xfrm>
            <a:off x="3572952" y="3385602"/>
            <a:ext cx="31135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CH" altLang="de-DE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Radar Range </a:t>
            </a:r>
            <a:r>
              <a:rPr lang="de-CH" altLang="de-DE" sz="1400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Equation</a:t>
            </a:r>
            <a:r>
              <a:rPr lang="de-CH" alt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@ 24 GHz</a:t>
            </a:r>
          </a:p>
          <a:p>
            <a:pPr algn="ctr">
              <a:spcAft>
                <a:spcPts val="600"/>
              </a:spcAft>
            </a:pP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R = 0.0167 · 10</a:t>
            </a:r>
            <a:r>
              <a:rPr lang="de-CH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S/40 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·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de-CH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0.25    </a:t>
            </a:r>
          </a:p>
          <a:p>
            <a:pPr algn="ctr">
              <a:spcAft>
                <a:spcPts val="6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(S in dB and </a:t>
            </a: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in m</a:t>
            </a:r>
            <a:r>
              <a:rPr lang="de-CH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E0ADD4F-6B1F-4BFB-8E20-0765EAEA89CE}"/>
              </a:ext>
            </a:extLst>
          </p:cNvPr>
          <p:cNvSpPr txBox="1"/>
          <p:nvPr/>
        </p:nvSpPr>
        <p:spPr>
          <a:xfrm>
            <a:off x="3437016" y="2302693"/>
            <a:ext cx="325230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Round-trip </a:t>
            </a:r>
            <a:r>
              <a:rPr lang="de-CH" sz="1400" dirty="0" err="1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r>
              <a:rPr lang="de-CH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≤ 117 dB 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12 - (-105)</a:t>
            </a:r>
            <a:b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(Datasheet: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-118 </a:t>
            </a:r>
            <a:r>
              <a:rPr lang="de-CH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dBc</a:t>
            </a:r>
            <a:r>
              <a:rPr lang="de-CH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E8506096-3ABA-4346-AD9B-2F11D7B1CB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85" b="49786"/>
          <a:stretch/>
        </p:blipFill>
        <p:spPr>
          <a:xfrm flipH="1">
            <a:off x="7539491" y="2492896"/>
            <a:ext cx="851349" cy="1060811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BCE026B0-16FD-4E32-8FB0-7575AFCD76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869971">
            <a:off x="321311" y="2076634"/>
            <a:ext cx="977061" cy="743604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4C6B8415-F42D-4299-97AB-D0F33C3851F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6200000">
            <a:off x="7319141" y="3264203"/>
            <a:ext cx="313755" cy="211302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6966D14-71DB-4A07-A5B5-4AC7CF4B9B5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5400000">
            <a:off x="7349131" y="2688139"/>
            <a:ext cx="313755" cy="211302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CD7CE653-6C90-46BE-A1C9-A59765C9DEEC}"/>
              </a:ext>
            </a:extLst>
          </p:cNvPr>
          <p:cNvSpPr/>
          <p:nvPr/>
        </p:nvSpPr>
        <p:spPr>
          <a:xfrm>
            <a:off x="353401" y="5068341"/>
            <a:ext cx="85390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de-CH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5: 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maximum (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CW-Doppler-Radar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moving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person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moving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de-CH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D1E4EB2-776A-455C-A455-4F51EC0BCC54}"/>
              </a:ext>
            </a:extLst>
          </p:cNvPr>
          <p:cNvCxnSpPr>
            <a:cxnSpLocks/>
          </p:cNvCxnSpPr>
          <p:nvPr/>
        </p:nvCxnSpPr>
        <p:spPr>
          <a:xfrm>
            <a:off x="2749856" y="3068960"/>
            <a:ext cx="4909406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57EFE9E-87FB-4887-9A20-F35D315BA890}"/>
              </a:ext>
            </a:extLst>
          </p:cNvPr>
          <p:cNvCxnSpPr>
            <a:cxnSpLocks/>
          </p:cNvCxnSpPr>
          <p:nvPr/>
        </p:nvCxnSpPr>
        <p:spPr>
          <a:xfrm>
            <a:off x="7683507" y="2340880"/>
            <a:ext cx="0" cy="146546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F77265B1-560D-4DF2-A2F4-D04BAC72C17C}"/>
              </a:ext>
            </a:extLst>
          </p:cNvPr>
          <p:cNvSpPr txBox="1"/>
          <p:nvPr/>
        </p:nvSpPr>
        <p:spPr>
          <a:xfrm>
            <a:off x="6615656" y="1409581"/>
            <a:ext cx="2087431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Radar Cross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Section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≈ 1 m</a:t>
            </a:r>
            <a:r>
              <a:rPr lang="de-CH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moving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person</a:t>
            </a:r>
            <a:b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≈ 50 m</a:t>
            </a:r>
            <a:r>
              <a:rPr lang="de-CH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moving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237A3EE-AF12-4504-A3A0-7AEE3A77562B}"/>
              </a:ext>
            </a:extLst>
          </p:cNvPr>
          <p:cNvSpPr txBox="1"/>
          <p:nvPr/>
        </p:nvSpPr>
        <p:spPr>
          <a:xfrm>
            <a:off x="4679440" y="2790072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Range R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C8338B4-2437-49A3-8102-38CA7FEE7FE5}"/>
              </a:ext>
            </a:extLst>
          </p:cNvPr>
          <p:cNvSpPr txBox="1"/>
          <p:nvPr/>
        </p:nvSpPr>
        <p:spPr>
          <a:xfrm>
            <a:off x="1529376" y="4008097"/>
            <a:ext cx="1172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de-CH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antenna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= 8 dB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961AC4C2-2DC5-40BD-AE64-B599798717DB}"/>
              </a:ext>
            </a:extLst>
          </p:cNvPr>
          <p:cNvSpPr txBox="1"/>
          <p:nvPr/>
        </p:nvSpPr>
        <p:spPr>
          <a:xfrm>
            <a:off x="323528" y="13615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altLang="de-DE" sz="1800" dirty="0">
                <a:hlinkClick r:id="rId9"/>
              </a:rPr>
              <a:t>K-LC5 data </a:t>
            </a:r>
            <a:r>
              <a:rPr lang="de-CH" altLang="de-DE" sz="1800" dirty="0" err="1">
                <a:hlinkClick r:id="rId9"/>
              </a:rPr>
              <a:t>sheet</a:t>
            </a:r>
            <a:endParaRPr lang="de-CH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409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E12E2C1-6C28-3C1A-1612-74A509698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73" y="1484784"/>
            <a:ext cx="8070233" cy="4527203"/>
          </a:xfrm>
          <a:prstGeom prst="rect">
            <a:avLst/>
          </a:prstGeom>
        </p:spPr>
      </p:pic>
      <p:sp>
        <p:nvSpPr>
          <p:cNvPr id="2" name="Text Box 4">
            <a:extLst>
              <a:ext uri="{FF2B5EF4-FFF2-40B4-BE49-F238E27FC236}">
                <a16:creationId xmlns:a16="http://schemas.microsoft.com/office/drawing/2014/main" id="{6B056FCD-0BA3-4EAE-BCC4-C6436ADE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26132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Detection</a:t>
            </a:r>
            <a:r>
              <a:rPr lang="de-CH" altLang="de-DE" sz="2400" b="1" dirty="0">
                <a:solidFill>
                  <a:srgbClr val="003399"/>
                </a:solidFill>
              </a:rPr>
              <a:t> Range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26E7749F-BB75-4713-97F7-E1ED7648A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13336FC-8775-46BE-8C6B-500D28496B74}"/>
              </a:ext>
            </a:extLst>
          </p:cNvPr>
          <p:cNvSpPr txBox="1"/>
          <p:nvPr/>
        </p:nvSpPr>
        <p:spPr>
          <a:xfrm>
            <a:off x="462207" y="118746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altLang="de-DE" sz="2000" dirty="0">
                <a:hlinkClick r:id="rId3"/>
              </a:rPr>
              <a:t>K-LC5 data sheet</a:t>
            </a:r>
            <a:endParaRPr lang="de-CH" sz="2000" dirty="0">
              <a:solidFill>
                <a:srgbClr val="FF0000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2E38C1F-6EF3-438B-AD67-83D70F98CF12}"/>
              </a:ext>
            </a:extLst>
          </p:cNvPr>
          <p:cNvSpPr/>
          <p:nvPr/>
        </p:nvSpPr>
        <p:spPr>
          <a:xfrm>
            <a:off x="4499992" y="2564904"/>
            <a:ext cx="2520280" cy="13681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4893CE8-A16B-483D-9574-89EF53F589DB}"/>
              </a:ext>
            </a:extLst>
          </p:cNvPr>
          <p:cNvCxnSpPr/>
          <p:nvPr/>
        </p:nvCxnSpPr>
        <p:spPr>
          <a:xfrm flipV="1">
            <a:off x="1763688" y="2636912"/>
            <a:ext cx="3888432" cy="1440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E346EA1-3974-4896-BBB6-1B703ADC9965}"/>
              </a:ext>
            </a:extLst>
          </p:cNvPr>
          <p:cNvCxnSpPr>
            <a:cxnSpLocks/>
          </p:cNvCxnSpPr>
          <p:nvPr/>
        </p:nvCxnSpPr>
        <p:spPr>
          <a:xfrm flipV="1">
            <a:off x="971600" y="2852936"/>
            <a:ext cx="5040560" cy="2448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01F063B4-6C7B-4D81-860E-5AAF0200095E}"/>
              </a:ext>
            </a:extLst>
          </p:cNvPr>
          <p:cNvSpPr txBox="1"/>
          <p:nvPr/>
        </p:nvSpPr>
        <p:spPr>
          <a:xfrm>
            <a:off x="63408" y="5652324"/>
            <a:ext cx="520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altLang="de-DE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RCS</a:t>
            </a:r>
            <a:endParaRPr lang="de-CH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400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D85589B0-5345-4494-8DC5-0B6C9F1F5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38763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Gain</a:t>
            </a:r>
            <a:r>
              <a:rPr lang="de-CH" altLang="de-DE" sz="2400" b="1" dirty="0">
                <a:solidFill>
                  <a:srgbClr val="003399"/>
                </a:solidFill>
              </a:rPr>
              <a:t> of external </a:t>
            </a:r>
            <a:r>
              <a:rPr lang="de-CH" altLang="de-DE" sz="2400" b="1" dirty="0" err="1">
                <a:solidFill>
                  <a:srgbClr val="003399"/>
                </a:solidFill>
              </a:rPr>
              <a:t>amplifier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1386E911-2237-41E0-9C97-B31EE4AD5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EE2C3246-B88F-44D1-9EC6-E17C2776C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346503"/>
              </p:ext>
            </p:extLst>
          </p:nvPr>
        </p:nvGraphicFramePr>
        <p:xfrm>
          <a:off x="438613" y="1268760"/>
          <a:ext cx="804248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155">
                  <a:extLst>
                    <a:ext uri="{9D8B030D-6E8A-4147-A177-3AD203B41FA5}">
                      <a16:colId xmlns:a16="http://schemas.microsoft.com/office/drawing/2014/main" val="3160943459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111958089"/>
                    </a:ext>
                  </a:extLst>
                </a:gridCol>
                <a:gridCol w="4629181">
                  <a:extLst>
                    <a:ext uri="{9D8B030D-6E8A-4147-A177-3AD203B41FA5}">
                      <a16:colId xmlns:a16="http://schemas.microsoft.com/office/drawing/2014/main" val="3078927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Remarks</a:t>
                      </a:r>
                      <a:endParaRPr lang="de-CH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84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Sensitivity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K-LC5</a:t>
                      </a:r>
                      <a:endParaRPr lang="de-CH" sz="16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-105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</a:t>
                      </a:r>
                      <a:endParaRPr lang="de-CH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e.g.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moving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@ a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14 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68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receiver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gain</a:t>
                      </a:r>
                      <a:endParaRPr lang="de-CH" sz="16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sheet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K-LC5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39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min.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de-CH" sz="16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</a:t>
                      </a:r>
                      <a:endParaRPr lang="de-CH" sz="16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-87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</a:t>
                      </a:r>
                      <a:endParaRPr lang="de-CH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 R = 1 kΩ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714691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9C077A25-50CC-4073-B281-260D437FEE54}"/>
              </a:ext>
            </a:extLst>
          </p:cNvPr>
          <p:cNvSpPr txBox="1"/>
          <p:nvPr/>
        </p:nvSpPr>
        <p:spPr>
          <a:xfrm>
            <a:off x="364630" y="2996952"/>
            <a:ext cx="8469883" cy="37087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in mW:   10·log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/1mW) ≥ -87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  =&gt; 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≥ 10</a:t>
            </a:r>
            <a:r>
              <a:rPr lang="de-CH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-8.7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mW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rms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in V:  √(R*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)  =&gt; 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rms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≥ 10</a:t>
            </a:r>
            <a:r>
              <a:rPr lang="de-CH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-8.7/2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V = 45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V  =&gt; 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≥ 64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But: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12 Bit ADC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≈ 3V, i.e. an LSB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732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V!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therefore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, an external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amplifier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:  V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ADC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de-CH" sz="20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</a:t>
            </a:r>
            <a:endParaRPr lang="de-CH" sz="20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de-CH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</a:t>
            </a:r>
            <a:r>
              <a:rPr lang="de-CH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60 dB, 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i.e.</a:t>
            </a:r>
            <a:r>
              <a:rPr lang="de-CH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amp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= 1000: V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ADC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≥ 64 mV, i.e. at least 6 LSBs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AC-</a:t>
            </a:r>
            <a:r>
              <a:rPr lang="de-CH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coupling</a:t>
            </a:r>
            <a:r>
              <a:rPr lang="de-CH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such a (high)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, but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high-pass-filter 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removes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frequencies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and,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thus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v-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a minimal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detectable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&gt; 0</a:t>
            </a:r>
          </a:p>
        </p:txBody>
      </p:sp>
    </p:spTree>
    <p:extLst>
      <p:ext uri="{BB962C8B-B14F-4D97-AF65-F5344CB8AC3E}">
        <p14:creationId xmlns:p14="http://schemas.microsoft.com/office/powerpoint/2010/main" val="7607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">
            <a:extLst>
              <a:ext uri="{FF2B5EF4-FFF2-40B4-BE49-F238E27FC236}">
                <a16:creationId xmlns:a16="http://schemas.microsoft.com/office/drawing/2014/main" id="{C62B51ED-13CA-4ECB-B302-628039647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1CCB2747-C7D0-43DB-BFF9-A80AEED3D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817073"/>
              </p:ext>
            </p:extLst>
          </p:nvPr>
        </p:nvGraphicFramePr>
        <p:xfrm>
          <a:off x="438613" y="3068960"/>
          <a:ext cx="8042488" cy="33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171">
                  <a:extLst>
                    <a:ext uri="{9D8B030D-6E8A-4147-A177-3AD203B41FA5}">
                      <a16:colId xmlns:a16="http://schemas.microsoft.com/office/drawing/2014/main" val="316094345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4111958089"/>
                    </a:ext>
                  </a:extLst>
                </a:gridCol>
                <a:gridCol w="4413157">
                  <a:extLst>
                    <a:ext uri="{9D8B030D-6E8A-4147-A177-3AD203B41FA5}">
                      <a16:colId xmlns:a16="http://schemas.microsoft.com/office/drawing/2014/main" val="3078927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Remarks</a:t>
                      </a:r>
                      <a:endParaRPr lang="de-CH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84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EIRP </a:t>
                      </a:r>
                      <a:endParaRPr lang="de-CH" sz="1600" kern="1200" baseline="-250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</a:t>
                      </a:r>
                      <a:endParaRPr lang="de-CH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isotropic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radiated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68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Round-trip-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</a:t>
                      </a:r>
                      <a:endParaRPr lang="de-CH" sz="1600" kern="1200" baseline="-250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slide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13, R = 3 m, RCS = 1 m</a:t>
                      </a:r>
                      <a:r>
                        <a:rPr lang="de-CH" sz="16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de-CH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39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received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power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de-CH" sz="16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Rx</a:t>
                      </a:r>
                      <a:endParaRPr lang="de-CH" sz="16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</a:t>
                      </a:r>
                      <a:endParaRPr lang="de-CH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slide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47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receiver</a:t>
                      </a:r>
                      <a:r>
                        <a:rPr lang="de-CH" sz="16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gain</a:t>
                      </a:r>
                      <a:endParaRPr lang="de-CH" sz="16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slide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4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de-CH" sz="16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</a:t>
                      </a:r>
                      <a:endParaRPr lang="de-CH" sz="16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</a:t>
                      </a:r>
                      <a:endParaRPr lang="de-CH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 R = 1 kΩ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246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de-CH" sz="16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</a:t>
                      </a:r>
                      <a:endParaRPr lang="de-CH" sz="16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 R = 1 kΩ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0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de-CH" sz="1600" baseline="-25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</a:t>
                      </a:r>
                      <a:endParaRPr lang="de-CH" sz="16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@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radar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sensor</a:t>
                      </a:r>
                      <a:endParaRPr lang="de-CH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818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V</a:t>
                      </a:r>
                      <a:r>
                        <a:rPr lang="de-CH" sz="16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ADC</a:t>
                      </a: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de-CH" sz="16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 dB external </a:t>
                      </a:r>
                      <a:r>
                        <a:rPr lang="de-CH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gain</a:t>
                      </a:r>
                      <a:endParaRPr lang="de-CH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789385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987F8877-3030-451F-A275-BD1A9F0EFFF0}"/>
              </a:ext>
            </a:extLst>
          </p:cNvPr>
          <p:cNvSpPr txBox="1"/>
          <p:nvPr/>
        </p:nvSpPr>
        <p:spPr>
          <a:xfrm>
            <a:off x="342170" y="1084396"/>
            <a:ext cx="8547789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</a:t>
            </a:r>
            <a:r>
              <a:rPr lang="de-CH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moving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person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short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(3m)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directly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in front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de-CH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6: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Fill out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«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»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following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verify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a «large»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received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not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-drive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ADC (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clipping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E0457344-55E4-4006-B016-ADFDC89C4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39613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Gain</a:t>
            </a:r>
            <a:r>
              <a:rPr lang="de-CH" altLang="de-DE" sz="2400" b="1" dirty="0">
                <a:solidFill>
                  <a:srgbClr val="003399"/>
                </a:solidFill>
              </a:rPr>
              <a:t> of external </a:t>
            </a:r>
            <a:r>
              <a:rPr lang="de-CH" altLang="de-DE" sz="2400" b="1" dirty="0" err="1">
                <a:solidFill>
                  <a:srgbClr val="003399"/>
                </a:solidFill>
              </a:rPr>
              <a:t>amplifier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851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D66B924B-E6CA-4467-A17E-0F0108123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2204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Radar-Sensor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F0C80591-A85E-43A3-A093-1B98AEBD51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7229248-9948-45C8-9745-ADC0FB41F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85" y="2398871"/>
            <a:ext cx="977061" cy="74360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0AA1E6B-8168-4720-A09F-ABBC815071BF}"/>
              </a:ext>
            </a:extLst>
          </p:cNvPr>
          <p:cNvSpPr txBox="1"/>
          <p:nvPr/>
        </p:nvSpPr>
        <p:spPr>
          <a:xfrm>
            <a:off x="2156119" y="2640456"/>
            <a:ext cx="711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solidFill>
                  <a:srgbClr val="FF0000"/>
                </a:solidFill>
              </a:rPr>
              <a:t>K-LC5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6127172-A21D-4A58-81C2-F655C4C4660D}"/>
              </a:ext>
            </a:extLst>
          </p:cNvPr>
          <p:cNvCxnSpPr>
            <a:cxnSpLocks/>
          </p:cNvCxnSpPr>
          <p:nvPr/>
        </p:nvCxnSpPr>
        <p:spPr>
          <a:xfrm flipV="1">
            <a:off x="899065" y="2403978"/>
            <a:ext cx="1257054" cy="567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07DEF2D-40A3-4992-9BDC-8AF667178CE2}"/>
              </a:ext>
            </a:extLst>
          </p:cNvPr>
          <p:cNvCxnSpPr>
            <a:cxnSpLocks/>
          </p:cNvCxnSpPr>
          <p:nvPr/>
        </p:nvCxnSpPr>
        <p:spPr>
          <a:xfrm>
            <a:off x="1165957" y="2288527"/>
            <a:ext cx="515078" cy="96429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89AAE6A1-3674-4A87-B81D-4CB5C611D07F}"/>
              </a:ext>
            </a:extLst>
          </p:cNvPr>
          <p:cNvSpPr txBox="1"/>
          <p:nvPr/>
        </p:nvSpPr>
        <p:spPr>
          <a:xfrm>
            <a:off x="1875442" y="1922544"/>
            <a:ext cx="26589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Field-Of-View: 80°x34°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B39FB652-863F-4A1C-964B-4B2F941443F8}"/>
              </a:ext>
            </a:extLst>
          </p:cNvPr>
          <p:cNvSpPr/>
          <p:nvPr/>
        </p:nvSpPr>
        <p:spPr>
          <a:xfrm rot="3757152" flipV="1">
            <a:off x="1089246" y="2283444"/>
            <a:ext cx="1224344" cy="4792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FA05BD43-9184-4882-805F-E844AF139F1F}"/>
              </a:ext>
            </a:extLst>
          </p:cNvPr>
          <p:cNvCxnSpPr>
            <a:cxnSpLocks/>
          </p:cNvCxnSpPr>
          <p:nvPr/>
        </p:nvCxnSpPr>
        <p:spPr>
          <a:xfrm>
            <a:off x="648800" y="2263908"/>
            <a:ext cx="555571" cy="113801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3DED23A-3738-40B9-9508-F2980364C59B}"/>
              </a:ext>
            </a:extLst>
          </p:cNvPr>
          <p:cNvCxnSpPr>
            <a:cxnSpLocks/>
            <a:stCxn id="85" idx="4"/>
            <a:endCxn id="85" idx="0"/>
          </p:cNvCxnSpPr>
          <p:nvPr/>
        </p:nvCxnSpPr>
        <p:spPr>
          <a:xfrm flipH="1">
            <a:off x="1488640" y="2412864"/>
            <a:ext cx="425556" cy="220407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C1565740-1F32-4FFF-A8EE-A68D47DC8719}"/>
              </a:ext>
            </a:extLst>
          </p:cNvPr>
          <p:cNvSpPr txBox="1"/>
          <p:nvPr/>
        </p:nvSpPr>
        <p:spPr>
          <a:xfrm rot="19746145">
            <a:off x="1538697" y="2467339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6 m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FEC97EB-703F-48B0-AEB2-147CB7978FC1}"/>
              </a:ext>
            </a:extLst>
          </p:cNvPr>
          <p:cNvSpPr txBox="1"/>
          <p:nvPr/>
        </p:nvSpPr>
        <p:spPr>
          <a:xfrm rot="3897832">
            <a:off x="91640" y="2772443"/>
            <a:ext cx="1438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16.8 m (@ r=10m)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81B1AF-1A61-408B-B97F-5B24BBF830B6}"/>
              </a:ext>
            </a:extLst>
          </p:cNvPr>
          <p:cNvSpPr/>
          <p:nvPr/>
        </p:nvSpPr>
        <p:spPr>
          <a:xfrm>
            <a:off x="326323" y="1147391"/>
            <a:ext cx="350209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spcBef>
                <a:spcPct val="0"/>
              </a:spcBef>
              <a:spcAft>
                <a:spcPts val="1200"/>
              </a:spcAft>
            </a:pPr>
            <a:r>
              <a:rPr lang="de-CH" altLang="de-DE" sz="1600" dirty="0">
                <a:hlinkClick r:id="rId4"/>
              </a:rPr>
              <a:t>Radar Sensor K-LC5 </a:t>
            </a:r>
            <a:r>
              <a:rPr lang="de-CH" altLang="de-DE" sz="1600" dirty="0"/>
              <a:t> </a:t>
            </a:r>
            <a:br>
              <a:rPr lang="de-CH" altLang="de-DE" sz="1600" dirty="0"/>
            </a:br>
            <a:r>
              <a:rPr lang="de-CH" altLang="de-DE" sz="1600" dirty="0" err="1">
                <a:hlinkClick r:id="rId5"/>
              </a:rPr>
              <a:t>data</a:t>
            </a:r>
            <a:r>
              <a:rPr lang="de-CH" altLang="de-DE" sz="1600" dirty="0">
                <a:hlinkClick r:id="rId5"/>
              </a:rPr>
              <a:t> </a:t>
            </a:r>
            <a:r>
              <a:rPr lang="de-CH" altLang="de-DE" sz="1600" dirty="0" err="1">
                <a:hlinkClick r:id="rId5"/>
              </a:rPr>
              <a:t>sheet</a:t>
            </a:r>
            <a:r>
              <a:rPr lang="de-CH" altLang="de-DE" sz="1600" dirty="0">
                <a:hlinkClick r:id="rId5"/>
              </a:rPr>
              <a:t> K-LC5 </a:t>
            </a:r>
            <a:br>
              <a:rPr lang="de-CH" altLang="de-DE" sz="1200" dirty="0"/>
            </a:br>
            <a:endParaRPr lang="de-CH" altLang="de-DE" sz="1200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D4671D0F-7450-334B-AAFF-00E8A450A814}"/>
              </a:ext>
            </a:extLst>
          </p:cNvPr>
          <p:cNvSpPr txBox="1"/>
          <p:nvPr/>
        </p:nvSpPr>
        <p:spPr>
          <a:xfrm>
            <a:off x="251520" y="3755355"/>
            <a:ext cx="882047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4667250" algn="l"/>
              </a:tabLst>
            </a:pPr>
            <a:r>
              <a:rPr lang="de-CH" dirty="0"/>
              <a:t>Overall S = 118 </a:t>
            </a:r>
            <a:r>
              <a:rPr lang="de-CH" dirty="0" err="1"/>
              <a:t>dBc</a:t>
            </a:r>
            <a:r>
              <a:rPr lang="de-CH" dirty="0"/>
              <a:t>  (B=1kHz, S/N=6dB, ...)</a:t>
            </a:r>
          </a:p>
          <a:p>
            <a:pPr>
              <a:spcAft>
                <a:spcPts val="600"/>
              </a:spcAft>
              <a:tabLst>
                <a:tab pos="4667250" algn="l"/>
              </a:tabLst>
            </a:pPr>
            <a:r>
              <a:rPr lang="de-CH" dirty="0" err="1"/>
              <a:t>R</a:t>
            </a:r>
            <a:r>
              <a:rPr lang="de-CH" baseline="-25000" dirty="0" err="1"/>
              <a:t>max</a:t>
            </a:r>
            <a:r>
              <a:rPr lang="de-CH" baseline="-25000" dirty="0"/>
              <a:t> </a:t>
            </a:r>
            <a:r>
              <a:rPr lang="de-CH" dirty="0" err="1"/>
              <a:t>moving</a:t>
            </a:r>
            <a:r>
              <a:rPr lang="de-CH" dirty="0"/>
              <a:t> </a:t>
            </a:r>
            <a:r>
              <a:rPr lang="de-CH" dirty="0" err="1"/>
              <a:t>person</a:t>
            </a:r>
            <a:r>
              <a:rPr lang="de-CH" dirty="0"/>
              <a:t> ≈ 15 m</a:t>
            </a:r>
          </a:p>
          <a:p>
            <a:pPr>
              <a:spcAft>
                <a:spcPts val="600"/>
              </a:spcAft>
              <a:tabLst>
                <a:tab pos="4667250" algn="l"/>
              </a:tabLst>
            </a:pPr>
            <a:r>
              <a:rPr lang="de-CH" dirty="0" err="1"/>
              <a:t>Sensitivity</a:t>
            </a:r>
            <a:r>
              <a:rPr lang="de-CH" dirty="0"/>
              <a:t>: -105 </a:t>
            </a:r>
            <a:r>
              <a:rPr lang="de-CH" dirty="0" err="1"/>
              <a:t>dBm</a:t>
            </a:r>
            <a:r>
              <a:rPr lang="de-CH" dirty="0"/>
              <a:t> (B=1kHz, S/N=6dB,...)</a:t>
            </a:r>
          </a:p>
          <a:p>
            <a:pPr>
              <a:spcAft>
                <a:spcPts val="600"/>
              </a:spcAft>
              <a:tabLst>
                <a:tab pos="4667250" algn="l"/>
              </a:tabLst>
            </a:pPr>
            <a:r>
              <a:rPr lang="de-CH" dirty="0" err="1"/>
              <a:t>Rx</a:t>
            </a:r>
            <a:r>
              <a:rPr lang="de-CH" dirty="0"/>
              <a:t> </a:t>
            </a:r>
            <a:r>
              <a:rPr lang="de-CH" dirty="0" err="1"/>
              <a:t>gain</a:t>
            </a:r>
            <a:r>
              <a:rPr lang="de-CH" dirty="0"/>
              <a:t>: 18 dB</a:t>
            </a:r>
          </a:p>
          <a:p>
            <a:pPr>
              <a:spcAft>
                <a:spcPts val="600"/>
              </a:spcAft>
              <a:tabLst>
                <a:tab pos="4667250" algn="l"/>
              </a:tabLst>
            </a:pPr>
            <a:r>
              <a:rPr lang="de-CH" dirty="0"/>
              <a:t>FMCW </a:t>
            </a:r>
            <a:r>
              <a:rPr lang="de-CH" dirty="0" err="1"/>
              <a:t>supported</a:t>
            </a:r>
            <a:endParaRPr lang="de-CH" dirty="0"/>
          </a:p>
          <a:p>
            <a:pPr>
              <a:spcAft>
                <a:spcPts val="600"/>
              </a:spcAft>
              <a:tabLst>
                <a:tab pos="4667250" algn="l"/>
              </a:tabLst>
            </a:pPr>
            <a:r>
              <a:rPr lang="de-CH" dirty="0"/>
              <a:t>3.3V </a:t>
            </a:r>
            <a:r>
              <a:rPr lang="de-CH" dirty="0" err="1"/>
              <a:t>version</a:t>
            </a:r>
            <a:r>
              <a:rPr lang="de-CH" dirty="0"/>
              <a:t> </a:t>
            </a:r>
            <a:r>
              <a:rPr lang="de-CH" dirty="0" err="1"/>
              <a:t>ordered</a:t>
            </a:r>
            <a:r>
              <a:rPr lang="de-CH" dirty="0"/>
              <a:t> </a:t>
            </a:r>
          </a:p>
          <a:p>
            <a:pPr>
              <a:spcAft>
                <a:spcPts val="600"/>
              </a:spcAft>
              <a:tabLst>
                <a:tab pos="4667250" algn="l"/>
              </a:tabLst>
            </a:pPr>
            <a:r>
              <a:rPr lang="de-CH" dirty="0"/>
              <a:t>(</a:t>
            </a:r>
            <a:r>
              <a:rPr lang="de-CH" dirty="0" err="1"/>
              <a:t>Digikey</a:t>
            </a:r>
            <a:r>
              <a:rPr lang="de-CH" dirty="0"/>
              <a:t>, K-LC5-RFB-00C, CHF 25.-/</a:t>
            </a:r>
            <a:r>
              <a:rPr lang="de-CH" dirty="0" err="1"/>
              <a:t>pcs</a:t>
            </a:r>
            <a:r>
              <a:rPr lang="de-CH" dirty="0"/>
              <a:t>) </a:t>
            </a:r>
            <a:endParaRPr lang="de-CH" dirty="0">
              <a:highlight>
                <a:srgbClr val="FFFF00"/>
              </a:highlight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FACC01F-DED2-CD4A-BBD9-30CF60B71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012" y="1651685"/>
            <a:ext cx="4056516" cy="271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90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, Elektronik, Schaltkreis enthält.&#10;&#10;Automatisch generierte Beschreibung">
            <a:extLst>
              <a:ext uri="{FF2B5EF4-FFF2-40B4-BE49-F238E27FC236}">
                <a16:creationId xmlns:a16="http://schemas.microsoft.com/office/drawing/2014/main" id="{F84DAF2B-BED8-4E08-913F-1BE669E015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8" t="15470" r="19207" b="3539"/>
          <a:stretch/>
        </p:blipFill>
        <p:spPr>
          <a:xfrm>
            <a:off x="395536" y="1426627"/>
            <a:ext cx="3312368" cy="4458947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0819DEA4-3F64-4CC2-A233-95B58534C2BF}"/>
              </a:ext>
            </a:extLst>
          </p:cNvPr>
          <p:cNvSpPr/>
          <p:nvPr/>
        </p:nvSpPr>
        <p:spPr>
          <a:xfrm>
            <a:off x="513631" y="2996952"/>
            <a:ext cx="2978249" cy="29672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AA0C043-3C05-4D05-900A-DAB6C2F74D78}"/>
              </a:ext>
            </a:extLst>
          </p:cNvPr>
          <p:cNvSpPr txBox="1"/>
          <p:nvPr/>
        </p:nvSpPr>
        <p:spPr>
          <a:xfrm>
            <a:off x="549946" y="2971134"/>
            <a:ext cx="28167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radar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K-LC5</a:t>
            </a:r>
          </a:p>
          <a:p>
            <a:pPr algn="ctr"/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3.3V power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supply</a:t>
            </a:r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amplifier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(60 dB) </a:t>
            </a:r>
            <a:b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I- and Q-output</a:t>
            </a:r>
            <a:b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highpass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VCO in (DAC)</a:t>
            </a:r>
            <a:b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LED?, switch?,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buzzer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ctr"/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analog 5V power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supply</a:t>
            </a:r>
            <a:endParaRPr lang="de-CH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USB power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supply</a:t>
            </a:r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45329DA-889F-4D91-858D-F212B6512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45242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CW-Doppler-Radar: Hardware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65E2AFC2-070C-4BBA-92B7-FFF4E8248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CBFF68C-C676-442B-B4C8-1D513031A516}"/>
              </a:ext>
            </a:extLst>
          </p:cNvPr>
          <p:cNvSpPr txBox="1"/>
          <p:nvPr/>
        </p:nvSpPr>
        <p:spPr>
          <a:xfrm>
            <a:off x="545113" y="6099044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PCB-template </a:t>
            </a:r>
            <a:r>
              <a:rPr lang="de-CH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endParaRPr lang="de-CH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BA1D0C3-8306-4D70-93C6-13582AC15EB5}"/>
              </a:ext>
            </a:extLst>
          </p:cNvPr>
          <p:cNvSpPr txBox="1"/>
          <p:nvPr/>
        </p:nvSpPr>
        <p:spPr>
          <a:xfrm>
            <a:off x="3535685" y="562562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 </a:t>
            </a:r>
            <a:r>
              <a:rPr lang="de-CH" sz="1600" dirty="0" err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</a:t>
            </a:r>
            <a:endParaRPr lang="de-CH" sz="16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Grafik 32" descr="Ein Bild, das Elektronik, Schaltkreis enthält.&#10;&#10;Automatisch generierte Beschreibung">
            <a:extLst>
              <a:ext uri="{FF2B5EF4-FFF2-40B4-BE49-F238E27FC236}">
                <a16:creationId xmlns:a16="http://schemas.microsoft.com/office/drawing/2014/main" id="{C08DC571-DF84-465B-BB2E-CA2E36ADB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8" y="1426627"/>
            <a:ext cx="3168030" cy="2271418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26313716-BFB0-4BB0-95D4-9AAFC588813E}"/>
              </a:ext>
            </a:extLst>
          </p:cNvPr>
          <p:cNvSpPr/>
          <p:nvPr/>
        </p:nvSpPr>
        <p:spPr>
          <a:xfrm>
            <a:off x="5554738" y="3685730"/>
            <a:ext cx="26677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altLang="de-DE" sz="1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STM32F4-Discovery-Board</a:t>
            </a:r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B96F74D-6E48-416D-9EA4-D123120CEA1E}"/>
              </a:ext>
            </a:extLst>
          </p:cNvPr>
          <p:cNvSpPr txBox="1"/>
          <p:nvPr/>
        </p:nvSpPr>
        <p:spPr>
          <a:xfrm>
            <a:off x="3535685" y="1556792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MCU </a:t>
            </a:r>
            <a:r>
              <a:rPr lang="de-CH" sz="1600" dirty="0" err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</a:t>
            </a:r>
            <a:endParaRPr lang="de-CH" sz="16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4232065-208E-4EBC-9C9B-A4984B1CA2E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96" b="30982"/>
          <a:stretch/>
        </p:blipFill>
        <p:spPr>
          <a:xfrm>
            <a:off x="5503044" y="4734665"/>
            <a:ext cx="3127325" cy="1150909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2E8024B5-7120-455E-B03D-4ED97AAE7B96}"/>
              </a:ext>
            </a:extLst>
          </p:cNvPr>
          <p:cNvSpPr/>
          <p:nvPr/>
        </p:nvSpPr>
        <p:spPr>
          <a:xfrm>
            <a:off x="5400270" y="4430546"/>
            <a:ext cx="35157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altLang="de-DE" sz="1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Option: 3D-printed </a:t>
            </a:r>
            <a:r>
              <a:rPr lang="de-CH" altLang="de-DE" sz="1600" dirty="0" err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lens</a:t>
            </a:r>
            <a:r>
              <a:rPr lang="de-CH" altLang="de-DE" sz="1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600" dirty="0" err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altLang="de-DE" sz="1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altLang="de-DE" sz="1600" dirty="0" err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focussing</a:t>
            </a:r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04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6FCC9B97-22BD-4EC6-9CB0-B6EA86C6C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40795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Subsystem Test Scenarios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14F32010-7EC0-4519-A5E8-62E9F12AA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FB3F48C-4F9B-4719-9824-4AF3639ED199}"/>
              </a:ext>
            </a:extLst>
          </p:cNvPr>
          <p:cNvSpPr txBox="1"/>
          <p:nvPr/>
        </p:nvSpPr>
        <p:spPr>
          <a:xfrm>
            <a:off x="297538" y="1196752"/>
            <a:ext cx="8552726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tabLst>
                <a:tab pos="265113" algn="l"/>
              </a:tabLst>
            </a:pP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	Sensor-Board </a:t>
            </a:r>
            <a:r>
              <a:rPr lang="de-CH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radar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K-LC5 and </a:t>
            </a:r>
            <a:r>
              <a:rPr lang="de-CH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MCU-board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Generator (sin, 100 Hz…4 kHz, 50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V…1 mV) at I-/Q-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connector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pins</a:t>
            </a:r>
            <a:endParaRPr lang="de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external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amplifier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outputs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oscilloscope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(in front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ADC)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check also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magnitude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265113" algn="l"/>
              </a:tabLst>
            </a:pP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	Sensor-Board </a:t>
            </a:r>
            <a:r>
              <a:rPr lang="de-CH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radar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K-LC5 and </a:t>
            </a:r>
            <a:r>
              <a:rPr lang="de-CH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MCU-board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put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Radar Doppler Target K-DT1 in front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radar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external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amplifier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outputs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oscilloscope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(in front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ADC)</a:t>
            </a:r>
          </a:p>
          <a:p>
            <a:pPr>
              <a:spcAft>
                <a:spcPts val="600"/>
              </a:spcAft>
            </a:pPr>
            <a:endParaRPr lang="de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265113" algn="l"/>
              </a:tabLst>
            </a:pP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	MCU-Board </a:t>
            </a:r>
            <a:r>
              <a:rPr lang="de-CH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FFT-firmware and </a:t>
            </a:r>
            <a:r>
              <a:rPr lang="de-CH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CH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radar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</a:t>
            </a:r>
            <a:endParaRPr lang="de-CH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FuGe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(sin, 100 Hz…4 kHz, 50 mV…1V, 1.5V DC-offset) at ADC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inputs</a:t>
            </a:r>
            <a:endParaRPr lang="de-C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show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dirty="0" err="1">
                <a:latin typeface="Arial" panose="020B0604020202020204" pitchFamily="34" charset="0"/>
                <a:cs typeface="Arial" panose="020B0604020202020204" pitchFamily="34" charset="0"/>
              </a:rPr>
              <a:t>display</a:t>
            </a:r>
            <a:endParaRPr lang="de-C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AC804E0-0E5C-43F8-9389-9520FF7E90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880" y="2528097"/>
            <a:ext cx="1023567" cy="102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4119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2309</Words>
  <Application>Microsoft Macintosh PowerPoint</Application>
  <PresentationFormat>Bildschirmpräsentation (4:3)</PresentationFormat>
  <Paragraphs>356</Paragraphs>
  <Slides>19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ZHAW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rumc</dc:creator>
  <cp:lastModifiedBy>Rennhard Patrick (renn)</cp:lastModifiedBy>
  <cp:revision>435</cp:revision>
  <dcterms:created xsi:type="dcterms:W3CDTF">2018-04-08T12:34:55Z</dcterms:created>
  <dcterms:modified xsi:type="dcterms:W3CDTF">2026-02-11T11:35:49Z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2022-02-09T09:12:07Z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6819009b-52c3-4628-87a8-afc885e1a79b</vt:lpwstr>
  </property>
  <property fmtid="{D5CDD505-2E9C-101B-9397-08002B2CF9AE}" pid="8" name="MSIP_Label_10d9bad3-6dac-4e9a-89a3-89f3b8d247b2_ContentBits">
    <vt:lpwstr>0</vt:lpwstr>
  </property>
</Properties>
</file>